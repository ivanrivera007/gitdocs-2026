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78" r:id="rId3"/>
    <p:sldId id="298" r:id="rId4"/>
    <p:sldId id="297" r:id="rId5"/>
    <p:sldId id="299" r:id="rId6"/>
    <p:sldId id="302" r:id="rId7"/>
    <p:sldId id="300" r:id="rId8"/>
    <p:sldId id="301" r:id="rId9"/>
    <p:sldId id="283" r:id="rId10"/>
    <p:sldId id="305" r:id="rId11"/>
    <p:sldId id="282" r:id="rId12"/>
    <p:sldId id="306" r:id="rId13"/>
    <p:sldId id="307" r:id="rId14"/>
    <p:sldId id="266" r:id="rId15"/>
  </p:sldIdLst>
  <p:sldSz cx="12192000" cy="6858000"/>
  <p:notesSz cx="6858000" cy="9144000"/>
  <p:embeddedFontLst>
    <p:embeddedFont>
      <p:font typeface="Cambria Math" panose="02040503050406030204" pitchFamily="18" charset="0"/>
      <p:regular r:id="rId17"/>
    </p:embeddedFont>
    <p:embeddedFont>
      <p:font typeface="Inter Medium" panose="020B0604020202020204" charset="0"/>
      <p:regular r:id="rId18"/>
      <p:bold r:id="rId19"/>
      <p:italic r:id="rId20"/>
      <p:boldItalic r:id="rId21"/>
    </p:embeddedFont>
    <p:embeddedFont>
      <p:font typeface="Montserrat" panose="00000500000000000000" pitchFamily="2" charset="0"/>
      <p:regular r:id="rId22"/>
      <p:bold r:id="rId23"/>
      <p:italic r:id="rId24"/>
      <p:boldItalic r:id="rId25"/>
    </p:embeddedFont>
    <p:embeddedFont>
      <p:font typeface="Montserrat ExtraBold" panose="00000900000000000000" pitchFamily="2" charset="0"/>
      <p:bold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795FF9F3-CFA4-77C5-92CA-640A8A77CA8B}"/>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F326E546-3FBA-D901-7073-1C6088473E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a:extLst>
              <a:ext uri="{FF2B5EF4-FFF2-40B4-BE49-F238E27FC236}">
                <a16:creationId xmlns:a16="http://schemas.microsoft.com/office/drawing/2014/main" id="{A231A662-64E2-E4C1-13AF-DD02856356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2726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FF3635E2-101F-35EA-00D7-D3C066FA084C}"/>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6D4CDCCB-BFA2-EFF6-6B1C-72D387EFC2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a:extLst>
              <a:ext uri="{FF2B5EF4-FFF2-40B4-BE49-F238E27FC236}">
                <a16:creationId xmlns:a16="http://schemas.microsoft.com/office/drawing/2014/main" id="{F7DCFF99-7456-08BF-CC67-C2D7838727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64111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273C8F19-15B9-8C29-F685-77A63022A8D3}"/>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F5F68115-3F7D-D381-1D16-AD1D54D207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a:extLst>
              <a:ext uri="{FF2B5EF4-FFF2-40B4-BE49-F238E27FC236}">
                <a16:creationId xmlns:a16="http://schemas.microsoft.com/office/drawing/2014/main" id="{B6FE9A6D-870C-F4A0-06BA-10EC6206C2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42080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B74F47B0-46B1-423A-1192-99FE79F32B0C}"/>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E98B8AE2-64A6-EF70-FEB3-0F1008FDC3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a:extLst>
              <a:ext uri="{FF2B5EF4-FFF2-40B4-BE49-F238E27FC236}">
                <a16:creationId xmlns:a16="http://schemas.microsoft.com/office/drawing/2014/main" id="{230C2371-3421-9AB5-E3E4-958539D1F5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5301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77EA6EA7-1202-1143-AE9F-C84B1E33A4B7}"/>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9AE0386B-F731-62A0-35E1-61C8516873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a:extLst>
              <a:ext uri="{FF2B5EF4-FFF2-40B4-BE49-F238E27FC236}">
                <a16:creationId xmlns:a16="http://schemas.microsoft.com/office/drawing/2014/main" id="{6FE57D9E-E424-59E7-24B6-E8A4D43FCA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7619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AA3EF7DE-765F-0990-408C-AA62C6E0505B}"/>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C0CC657A-98FD-15D8-406E-68E9A8D4F0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a:extLst>
              <a:ext uri="{FF2B5EF4-FFF2-40B4-BE49-F238E27FC236}">
                <a16:creationId xmlns:a16="http://schemas.microsoft.com/office/drawing/2014/main" id="{B0DA85D8-B4D4-B3C7-63B6-C45426D120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58951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5B65BA8A-5532-0179-8B44-32F6A15AA361}"/>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677E178F-E323-A4AC-D356-56A3C1D0B6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a:extLst>
              <a:ext uri="{FF2B5EF4-FFF2-40B4-BE49-F238E27FC236}">
                <a16:creationId xmlns:a16="http://schemas.microsoft.com/office/drawing/2014/main" id="{C05D0278-C01B-939F-BEAD-80CD231AE6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03486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4B0B0947-6FEA-23F5-F114-4A0CE9936EF6}"/>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C3A1ADCC-B023-704D-2333-654A75B18C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a:extLst>
              <a:ext uri="{FF2B5EF4-FFF2-40B4-BE49-F238E27FC236}">
                <a16:creationId xmlns:a16="http://schemas.microsoft.com/office/drawing/2014/main" id="{3F126B08-14BC-B9D2-32F7-ACB4B357A6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31310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8CD1C1A0-BF9F-8BAB-6998-730490DA3237}"/>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C30E6FC4-B54B-350E-E220-0B51E084D0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a:extLst>
              <a:ext uri="{FF2B5EF4-FFF2-40B4-BE49-F238E27FC236}">
                <a16:creationId xmlns:a16="http://schemas.microsoft.com/office/drawing/2014/main" id="{4C4A6F6E-76D2-C316-635C-C8EF4BCECD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688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FBAC31D7-9273-3573-E3EB-523A3F5F122B}"/>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D1413BEC-2879-E524-2711-5F5C23688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a:extLst>
              <a:ext uri="{FF2B5EF4-FFF2-40B4-BE49-F238E27FC236}">
                <a16:creationId xmlns:a16="http://schemas.microsoft.com/office/drawing/2014/main" id="{7C1B7C83-A5E8-F03C-B78F-CF325771AB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9350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78A1E9D5-1894-99A3-59AC-877B8A9F7442}"/>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53D8D911-692C-2CD6-CF63-8E976498A2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a:extLst>
              <a:ext uri="{FF2B5EF4-FFF2-40B4-BE49-F238E27FC236}">
                <a16:creationId xmlns:a16="http://schemas.microsoft.com/office/drawing/2014/main" id="{6C50416C-3F74-F18C-7882-93017C9492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20213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5E9251B5-AD8F-486B-86F3-BBAC228E9BB8}"/>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29855914-BB82-6A69-89E4-0FBEC5B676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a:extLst>
              <a:ext uri="{FF2B5EF4-FFF2-40B4-BE49-F238E27FC236}">
                <a16:creationId xmlns:a16="http://schemas.microsoft.com/office/drawing/2014/main" id="{3E7D4296-74E9-DB46-DA83-C84984FCAC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21942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5" name="Google Shape;24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6" name="Google Shape;86;p13"/>
          <p:cNvSpPr txBox="1"/>
          <p:nvPr/>
        </p:nvSpPr>
        <p:spPr>
          <a:xfrm>
            <a:off x="990600" y="2728020"/>
            <a:ext cx="11201400" cy="140196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4800" b="0" i="0" u="none" strike="noStrike" cap="none">
                <a:solidFill>
                  <a:srgbClr val="F8FAFC"/>
                </a:solidFill>
                <a:latin typeface="Montserrat ExtraBold"/>
                <a:ea typeface="Montserrat ExtraBold"/>
                <a:cs typeface="Montserrat ExtraBold"/>
                <a:sym typeface="Montserrat ExtraBold"/>
              </a:rPr>
              <a:t>Diseño Sismorresistente</a:t>
            </a:r>
            <a:br>
              <a:rPr lang="en-US" sz="1800" b="0" i="0" u="none" strike="noStrike" cap="none">
                <a:solidFill>
                  <a:schemeClr val="dk1"/>
                </a:solidFill>
                <a:latin typeface="Calibri"/>
                <a:ea typeface="Calibri"/>
                <a:cs typeface="Calibri"/>
                <a:sym typeface="Calibri"/>
              </a:rPr>
            </a:br>
            <a:r>
              <a:rPr lang="en-US" sz="4800" b="0" i="0" u="none" strike="noStrike" cap="none">
                <a:solidFill>
                  <a:srgbClr val="F8FAFC"/>
                </a:solidFill>
                <a:latin typeface="Montserrat ExtraBold"/>
                <a:ea typeface="Montserrat ExtraBold"/>
                <a:cs typeface="Montserrat ExtraBold"/>
                <a:sym typeface="Montserrat ExtraBold"/>
              </a:rPr>
              <a:t> de </a:t>
            </a:r>
            <a:r>
              <a:rPr lang="en-US" sz="4800" b="0" i="0" u="none" strike="noStrike" cap="none">
                <a:solidFill>
                  <a:srgbClr val="38BDF8"/>
                </a:solidFill>
                <a:latin typeface="Montserrat ExtraBold"/>
                <a:ea typeface="Montserrat ExtraBold"/>
                <a:cs typeface="Montserrat ExtraBold"/>
                <a:sym typeface="Montserrat ExtraBold"/>
              </a:rPr>
              <a:t>Puentes</a:t>
            </a:r>
            <a:endParaRPr/>
          </a:p>
        </p:txBody>
      </p:sp>
      <p:sp>
        <p:nvSpPr>
          <p:cNvPr id="87" name="Google Shape;87;p13"/>
          <p:cNvSpPr txBox="1"/>
          <p:nvPr/>
        </p:nvSpPr>
        <p:spPr>
          <a:xfrm>
            <a:off x="952500" y="4347120"/>
            <a:ext cx="10668000" cy="276999"/>
          </a:xfrm>
          <a:prstGeom prst="rect">
            <a:avLst/>
          </a:prstGeom>
          <a:noFill/>
          <a:ln>
            <a:noFill/>
          </a:ln>
        </p:spPr>
        <p:txBody>
          <a:bodyPr spcFirstLastPara="1" wrap="square" lIns="0" tIns="0" rIns="0" bIns="0" anchor="t" anchorCtr="0">
            <a:spAutoFit/>
          </a:bodyPr>
          <a:lstStyle/>
          <a:p>
            <a:pPr lvl="0"/>
            <a:r>
              <a:rPr lang="en-US" sz="1800" b="0" i="0" u="none" strike="noStrike" cap="none" dirty="0">
                <a:solidFill>
                  <a:schemeClr val="tx2">
                    <a:lumMod val="50000"/>
                  </a:schemeClr>
                </a:solidFill>
                <a:latin typeface="Inter Medium"/>
                <a:ea typeface="Inter Medium"/>
                <a:cs typeface="Inter Medium"/>
                <a:sym typeface="Inter Medium"/>
              </a:rPr>
              <a:t>Clase 5</a:t>
            </a:r>
            <a:r>
              <a:rPr lang="en-US" sz="1800" dirty="0">
                <a:solidFill>
                  <a:schemeClr val="tx2">
                    <a:lumMod val="50000"/>
                  </a:schemeClr>
                </a:solidFill>
                <a:latin typeface="Inter Medium"/>
                <a:ea typeface="Inter Medium"/>
                <a:cs typeface="Inter Medium"/>
                <a:sym typeface="Inter Medium"/>
              </a:rPr>
              <a:t>: </a:t>
            </a:r>
            <a:r>
              <a:rPr lang="es-GT" sz="1800" dirty="0">
                <a:solidFill>
                  <a:schemeClr val="tx2">
                    <a:lumMod val="50000"/>
                  </a:schemeClr>
                </a:solidFill>
              </a:rPr>
              <a:t>"Diseño por Capacidad II: Taller Analítico de </a:t>
            </a:r>
            <a:r>
              <a:rPr lang="es-GT" sz="1800" dirty="0" err="1">
                <a:solidFill>
                  <a:schemeClr val="tx2">
                    <a:lumMod val="50000"/>
                  </a:schemeClr>
                </a:solidFill>
              </a:rPr>
              <a:t>sobreresistencia</a:t>
            </a:r>
            <a:endParaRPr dirty="0">
              <a:solidFill>
                <a:schemeClr val="tx2">
                  <a:lumMod val="50000"/>
                </a:schemeClr>
              </a:solidFill>
            </a:endParaRPr>
          </a:p>
        </p:txBody>
      </p:sp>
      <p:sp>
        <p:nvSpPr>
          <p:cNvPr id="88" name="Google Shape;88;p13"/>
          <p:cNvSpPr txBox="1"/>
          <p:nvPr/>
        </p:nvSpPr>
        <p:spPr>
          <a:xfrm>
            <a:off x="1040350" y="5677470"/>
            <a:ext cx="10668000"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dirty="0" err="1">
                <a:solidFill>
                  <a:srgbClr val="94A3B8"/>
                </a:solidFill>
                <a:latin typeface="Inter Medium"/>
                <a:ea typeface="Inter Medium"/>
                <a:cs typeface="Inter Medium"/>
                <a:sym typeface="Inter Medium"/>
              </a:rPr>
              <a:t>Msc</a:t>
            </a:r>
            <a:r>
              <a:rPr lang="en-US" sz="1800" dirty="0">
                <a:solidFill>
                  <a:srgbClr val="94A3B8"/>
                </a:solidFill>
                <a:latin typeface="Inter Medium"/>
                <a:ea typeface="Inter Medium"/>
                <a:cs typeface="Inter Medium"/>
                <a:sym typeface="Inter Medium"/>
              </a:rPr>
              <a:t>. Cindy Carolina Colomo De León  						26/09/26</a:t>
            </a:r>
            <a:endParaRPr dirty="0"/>
          </a:p>
        </p:txBody>
      </p:sp>
      <p:sp>
        <p:nvSpPr>
          <p:cNvPr id="3" name="Google Shape;87;p13">
            <a:extLst>
              <a:ext uri="{FF2B5EF4-FFF2-40B4-BE49-F238E27FC236}">
                <a16:creationId xmlns:a16="http://schemas.microsoft.com/office/drawing/2014/main" id="{DC544CEF-DA07-7A1B-2E12-64AAD0F5B105}"/>
              </a:ext>
            </a:extLst>
          </p:cNvPr>
          <p:cNvSpPr txBox="1"/>
          <p:nvPr/>
        </p:nvSpPr>
        <p:spPr>
          <a:xfrm>
            <a:off x="952500" y="2012620"/>
            <a:ext cx="10668000"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solidFill>
                  <a:srgbClr val="0070C0"/>
                </a:solidFill>
                <a:latin typeface="Inter Medium"/>
                <a:ea typeface="Inter Medium"/>
                <a:cs typeface="Inter Medium"/>
                <a:sym typeface="Inter Medium"/>
              </a:rPr>
              <a:t>MAESTR</a:t>
            </a:r>
            <a:r>
              <a:rPr lang="es-GT" sz="1800" dirty="0">
                <a:solidFill>
                  <a:srgbClr val="0070C0"/>
                </a:solidFill>
                <a:latin typeface="Inter Medium"/>
                <a:ea typeface="Inter Medium"/>
                <a:cs typeface="Inter Medium"/>
                <a:sym typeface="Inter Medium"/>
              </a:rPr>
              <a:t>ÍA EN INGENIERÍA ESTRUCTURAL Y SISMORRESISTENTE - CUNOC</a:t>
            </a:r>
            <a:endParaRPr dirty="0">
              <a:solidFill>
                <a:srgbClr val="0070C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8BA6006E-8521-025F-026D-1E09CBB4A56E}"/>
            </a:ext>
          </a:extLst>
        </p:cNvPr>
        <p:cNvGrpSpPr/>
        <p:nvPr/>
      </p:nvGrpSpPr>
      <p:grpSpPr>
        <a:xfrm>
          <a:off x="0" y="0"/>
          <a:ext cx="0" cy="0"/>
          <a:chOff x="0" y="0"/>
          <a:chExt cx="0" cy="0"/>
        </a:xfrm>
      </p:grpSpPr>
      <p:pic>
        <p:nvPicPr>
          <p:cNvPr id="93" name="Google Shape;93;p14" descr="image.png">
            <a:extLst>
              <a:ext uri="{FF2B5EF4-FFF2-40B4-BE49-F238E27FC236}">
                <a16:creationId xmlns:a16="http://schemas.microsoft.com/office/drawing/2014/main" id="{701E4625-67E7-E8FC-D9F0-DB07C5D3BE16}"/>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4" name="Google Shape;94;p14">
            <a:extLst>
              <a:ext uri="{FF2B5EF4-FFF2-40B4-BE49-F238E27FC236}">
                <a16:creationId xmlns:a16="http://schemas.microsoft.com/office/drawing/2014/main" id="{786AD42A-5E14-7DDE-78CF-9BA00B13E720}"/>
              </a:ext>
            </a:extLst>
          </p:cNvPr>
          <p:cNvSpPr txBox="1"/>
          <p:nvPr/>
        </p:nvSpPr>
        <p:spPr>
          <a:xfrm>
            <a:off x="762000" y="170544"/>
            <a:ext cx="8844116" cy="1015663"/>
          </a:xfrm>
          <a:prstGeom prst="rect">
            <a:avLst/>
          </a:prstGeom>
          <a:noFill/>
          <a:ln>
            <a:noFill/>
          </a:ln>
        </p:spPr>
        <p:txBody>
          <a:bodyPr spcFirstLastPara="1" wrap="square" lIns="0" tIns="0" rIns="0" bIns="0" anchor="t" anchorCtr="0">
            <a:spAutoFit/>
          </a:bodyPr>
          <a:lstStyle/>
          <a:p>
            <a:r>
              <a:rPr lang="es-GT" sz="3300" b="1" dirty="0">
                <a:solidFill>
                  <a:srgbClr val="00B0F0"/>
                </a:solidFill>
                <a:latin typeface="Aptos" panose="020B0004020202020204" pitchFamily="34" charset="0"/>
              </a:rPr>
              <a:t>Teoría del Diseño por Capacidad </a:t>
            </a:r>
            <a:endParaRPr lang="es-GT" sz="3300" b="1" dirty="0">
              <a:solidFill>
                <a:srgbClr val="00B0F0"/>
              </a:solidFill>
              <a:latin typeface="Aptos" panose="020B0004020202020204" pitchFamily="34" charset="0"/>
              <a:ea typeface="Montserrat"/>
              <a:cs typeface="Montserrat"/>
              <a:sym typeface="Montserrat"/>
            </a:endParaRPr>
          </a:p>
          <a:p>
            <a:pPr lvl="0"/>
            <a:endParaRPr sz="3300" b="1" i="0" u="none" strike="noStrike" cap="none" dirty="0">
              <a:solidFill>
                <a:srgbClr val="00B0F0"/>
              </a:solidFill>
              <a:latin typeface="Montserrat"/>
              <a:ea typeface="Montserrat"/>
              <a:cs typeface="Montserrat"/>
              <a:sym typeface="Montserrat"/>
            </a:endParaRPr>
          </a:p>
        </p:txBody>
      </p:sp>
      <p:sp>
        <p:nvSpPr>
          <p:cNvPr id="95" name="Google Shape;95;p14">
            <a:extLst>
              <a:ext uri="{FF2B5EF4-FFF2-40B4-BE49-F238E27FC236}">
                <a16:creationId xmlns:a16="http://schemas.microsoft.com/office/drawing/2014/main" id="{F1FE204F-E2AD-66CA-7ECB-4BD7AA460D0C}"/>
              </a:ext>
            </a:extLst>
          </p:cNvPr>
          <p:cNvSpPr/>
          <p:nvPr/>
        </p:nvSpPr>
        <p:spPr>
          <a:xfrm>
            <a:off x="571499" y="163691"/>
            <a:ext cx="57150" cy="906684"/>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 name="Google Shape;108;p15" descr="image.png">
            <a:extLst>
              <a:ext uri="{FF2B5EF4-FFF2-40B4-BE49-F238E27FC236}">
                <a16:creationId xmlns:a16="http://schemas.microsoft.com/office/drawing/2014/main" id="{72BCAC53-AEB3-4A95-B778-795EF3F318A3}"/>
              </a:ext>
            </a:extLst>
          </p:cNvPr>
          <p:cNvPicPr preferRelativeResize="0"/>
          <p:nvPr/>
        </p:nvPicPr>
        <p:blipFill rotWithShape="1">
          <a:blip r:embed="rId4">
            <a:alphaModFix/>
          </a:blip>
          <a:srcRect/>
          <a:stretch/>
        </p:blipFill>
        <p:spPr>
          <a:xfrm>
            <a:off x="421327" y="1159577"/>
            <a:ext cx="11426544" cy="5443648"/>
          </a:xfrm>
          <a:prstGeom prst="rect">
            <a:avLst/>
          </a:prstGeom>
          <a:noFill/>
          <a:ln>
            <a:noFill/>
          </a:ln>
        </p:spPr>
      </p:pic>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06FED9E1-CD33-DFC9-7F4A-8572688F21F4}"/>
                  </a:ext>
                </a:extLst>
              </p:cNvPr>
              <p:cNvSpPr txBox="1"/>
              <p:nvPr/>
            </p:nvSpPr>
            <p:spPr>
              <a:xfrm>
                <a:off x="672962" y="1240919"/>
                <a:ext cx="10947539" cy="5292346"/>
              </a:xfrm>
              <a:prstGeom prst="rect">
                <a:avLst/>
              </a:prstGeom>
              <a:noFill/>
            </p:spPr>
            <p:txBody>
              <a:bodyPr wrap="square">
                <a:spAutoFit/>
              </a:bodyPr>
              <a:lstStyle/>
              <a:p>
                <a:r>
                  <a:rPr lang="es-GT" sz="2200" dirty="0">
                    <a:solidFill>
                      <a:srgbClr val="00B0F0"/>
                    </a:solidFill>
                    <a:latin typeface="Aptos" panose="020B0004020202020204" pitchFamily="34" charset="0"/>
                  </a:rPr>
                  <a:t> Paso 1: </a:t>
                </a:r>
                <a:r>
                  <a:rPr lang="es-GT" sz="2200" b="1" dirty="0">
                    <a:solidFill>
                      <a:schemeClr val="bg1"/>
                    </a:solidFill>
                    <a:latin typeface="Aptos" panose="020B0004020202020204" pitchFamily="34" charset="0"/>
                  </a:rPr>
                  <a:t>El Límite Físico a Flexión (</a:t>
                </a:r>
                <a14:m>
                  <m:oMath xmlns:m="http://schemas.openxmlformats.org/officeDocument/2006/math">
                    <m:sSub>
                      <m:sSubPr>
                        <m:ctrlPr>
                          <a:rPr lang="es-GT" sz="2200" b="1" i="1">
                            <a:solidFill>
                              <a:schemeClr val="bg1"/>
                            </a:solidFill>
                            <a:latin typeface="Cambria Math" panose="02040503050406030204" pitchFamily="18" charset="0"/>
                          </a:rPr>
                        </m:ctrlPr>
                      </m:sSubPr>
                      <m:e>
                        <m:r>
                          <a:rPr lang="es-GT" sz="2200" b="1" i="1">
                            <a:solidFill>
                              <a:schemeClr val="bg1"/>
                            </a:solidFill>
                            <a:latin typeface="Cambria Math" panose="02040503050406030204" pitchFamily="18" charset="0"/>
                          </a:rPr>
                          <m:t>𝑴</m:t>
                        </m:r>
                      </m:e>
                      <m:sub>
                        <m:r>
                          <a:rPr lang="es-GT" sz="2200" b="1" i="1">
                            <a:solidFill>
                              <a:schemeClr val="bg1"/>
                            </a:solidFill>
                            <a:latin typeface="Cambria Math" panose="02040503050406030204" pitchFamily="18" charset="0"/>
                          </a:rPr>
                          <m:t>𝒑𝒐</m:t>
                        </m:r>
                      </m:sub>
                    </m:sSub>
                  </m:oMath>
                </a14:m>
                <a:r>
                  <a:rPr lang="es-GT" sz="2200" b="1" dirty="0">
                    <a:solidFill>
                      <a:schemeClr val="bg1"/>
                    </a:solidFill>
                    <a:latin typeface="Aptos" panose="020B0004020202020204" pitchFamily="34" charset="0"/>
                  </a:rPr>
                  <a:t>)</a:t>
                </a:r>
                <a:endParaRPr lang="es-GT" sz="2200" dirty="0">
                  <a:solidFill>
                    <a:schemeClr val="bg1"/>
                  </a:solidFill>
                  <a:latin typeface="Aptos" panose="020B0004020202020204" pitchFamily="34" charset="0"/>
                </a:endParaRPr>
              </a:p>
              <a:p>
                <a:pPr algn="just"/>
                <a:r>
                  <a:rPr lang="es-GT" sz="2200" dirty="0">
                    <a:solidFill>
                      <a:schemeClr val="bg1"/>
                    </a:solidFill>
                    <a:latin typeface="Aptos" panose="020B0004020202020204" pitchFamily="34" charset="0"/>
                  </a:rPr>
                  <a:t>Recordando el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𝑀</m:t>
                        </m:r>
                      </m:e>
                      <m:sub>
                        <m:r>
                          <a:rPr lang="es-GT" sz="2200" i="1">
                            <a:solidFill>
                              <a:schemeClr val="bg1"/>
                            </a:solidFill>
                            <a:latin typeface="Cambria Math" panose="02040503050406030204" pitchFamily="18" charset="0"/>
                          </a:rPr>
                          <m:t>𝑝</m:t>
                        </m:r>
                      </m:sub>
                    </m:sSub>
                  </m:oMath>
                </a14:m>
                <a:r>
                  <a:rPr lang="es-GT" sz="2200" dirty="0">
                    <a:solidFill>
                      <a:schemeClr val="bg1"/>
                    </a:solidFill>
                    <a:latin typeface="Aptos" panose="020B0004020202020204" pitchFamily="34" charset="0"/>
                  </a:rPr>
                  <a:t> de </a:t>
                </a:r>
                <a14:m>
                  <m:oMath xmlns:m="http://schemas.openxmlformats.org/officeDocument/2006/math">
                    <m:r>
                      <a:rPr lang="es-GT" sz="2200" i="1">
                        <a:solidFill>
                          <a:schemeClr val="bg1"/>
                        </a:solidFill>
                        <a:latin typeface="Cambria Math" panose="02040503050406030204" pitchFamily="18" charset="0"/>
                      </a:rPr>
                      <m:t>14,906</m:t>
                    </m:r>
                  </m:oMath>
                </a14:m>
                <a:r>
                  <a:rPr lang="es-GT" sz="2200" dirty="0">
                    <a:solidFill>
                      <a:schemeClr val="bg1"/>
                    </a:solidFill>
                    <a:latin typeface="Aptos" panose="020B0004020202020204" pitchFamily="34" charset="0"/>
                  </a:rPr>
                  <a:t> extraído de Section </a:t>
                </a:r>
                <a:r>
                  <a:rPr lang="es-GT" sz="2200" dirty="0" err="1">
                    <a:solidFill>
                      <a:schemeClr val="bg1"/>
                    </a:solidFill>
                    <a:latin typeface="Aptos" panose="020B0004020202020204" pitchFamily="34" charset="0"/>
                  </a:rPr>
                  <a:t>Designer</a:t>
                </a:r>
                <a:r>
                  <a:rPr lang="es-GT" sz="2200" dirty="0">
                    <a:solidFill>
                      <a:schemeClr val="bg1"/>
                    </a:solidFill>
                    <a:latin typeface="Aptos" panose="020B0004020202020204" pitchFamily="34" charset="0"/>
                  </a:rPr>
                  <a:t>, se debe aplicar el factor de sobreesfuerzo de AASHTO para endurecimiento por deformación.</a:t>
                </a:r>
              </a:p>
              <a:p>
                <a:pPr algn="just"/>
                <a:endParaRPr lang="es-GT" sz="2200" dirty="0">
                  <a:solidFill>
                    <a:schemeClr val="bg1"/>
                  </a:solidFill>
                  <a:latin typeface="Aptos" panose="020B0004020202020204" pitchFamily="34" charset="0"/>
                </a:endParaRPr>
              </a:p>
              <a:p>
                <a:pPr algn="just"/>
                <a14:m>
                  <m:oMathPara xmlns:m="http://schemas.openxmlformats.org/officeDocument/2006/math">
                    <m:o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𝑀</m:t>
                          </m:r>
                        </m:e>
                        <m:sub>
                          <m:r>
                            <a:rPr lang="es-GT" sz="2200" i="1">
                              <a:solidFill>
                                <a:schemeClr val="bg1"/>
                              </a:solidFill>
                              <a:latin typeface="Cambria Math" panose="02040503050406030204" pitchFamily="18" charset="0"/>
                            </a:rPr>
                            <m:t>𝑝𝑜</m:t>
                          </m:r>
                        </m:sub>
                      </m:sSub>
                      <m:r>
                        <a:rPr lang="es-GT" sz="2200" i="1">
                          <a:solidFill>
                            <a:schemeClr val="bg1"/>
                          </a:solidFill>
                          <a:latin typeface="Cambria Math" panose="02040503050406030204" pitchFamily="18" charset="0"/>
                        </a:rPr>
                        <m:t>=1.20⋅14,906</m:t>
                      </m:r>
                      <m:r>
                        <m:rPr>
                          <m:nor/>
                        </m:rPr>
                        <a:rPr lang="es-GT" sz="2200" i="0">
                          <a:solidFill>
                            <a:schemeClr val="bg1"/>
                          </a:solidFill>
                          <a:latin typeface="Aptos" panose="020B0004020202020204" pitchFamily="34" charset="0"/>
                        </a:rPr>
                        <m:t> kip−ft</m:t>
                      </m:r>
                      <m:r>
                        <a:rPr lang="es-GT" sz="2200" i="1">
                          <a:solidFill>
                            <a:schemeClr val="bg1"/>
                          </a:solidFill>
                          <a:latin typeface="Cambria Math" panose="02040503050406030204" pitchFamily="18" charset="0"/>
                        </a:rPr>
                        <m:t>=17,887.2</m:t>
                      </m:r>
                      <m:r>
                        <m:rPr>
                          <m:nor/>
                        </m:rPr>
                        <a:rPr lang="es-GT" sz="2200" i="0">
                          <a:solidFill>
                            <a:schemeClr val="bg1"/>
                          </a:solidFill>
                          <a:latin typeface="Aptos" panose="020B0004020202020204" pitchFamily="34" charset="0"/>
                        </a:rPr>
                        <m:t> kip−ft</m:t>
                      </m:r>
                    </m:oMath>
                  </m:oMathPara>
                </a14:m>
                <a:endParaRPr lang="es-GT" sz="2200" dirty="0">
                  <a:solidFill>
                    <a:schemeClr val="bg1"/>
                  </a:solidFill>
                  <a:latin typeface="Aptos" panose="020B0004020202020204" pitchFamily="34" charset="0"/>
                </a:endParaRPr>
              </a:p>
              <a:p>
                <a:pPr algn="just"/>
                <a:endParaRPr lang="es-GT" sz="2200" dirty="0">
                  <a:solidFill>
                    <a:schemeClr val="bg1"/>
                  </a:solidFill>
                  <a:latin typeface="Aptos" panose="020B0004020202020204" pitchFamily="34" charset="0"/>
                </a:endParaRPr>
              </a:p>
              <a:p>
                <a:pPr algn="just"/>
                <a:r>
                  <a:rPr lang="es-GT" sz="2200" b="1" dirty="0">
                    <a:solidFill>
                      <a:schemeClr val="tx2">
                        <a:lumMod val="50000"/>
                      </a:schemeClr>
                    </a:solidFill>
                    <a:latin typeface="Aptos" panose="020B0004020202020204" pitchFamily="34" charset="0"/>
                  </a:rPr>
                  <a:t>Procedimiento de análisis sismorresistente</a:t>
                </a:r>
              </a:p>
              <a:p>
                <a:pPr algn="just"/>
                <a:r>
                  <a:rPr lang="es-GT" sz="2200" b="1" dirty="0">
                    <a:solidFill>
                      <a:srgbClr val="00B0F0"/>
                    </a:solidFill>
                    <a:latin typeface="Aptos" panose="020B0004020202020204" pitchFamily="34" charset="0"/>
                  </a:rPr>
                  <a:t>Transición al Rango Inelástico:</a:t>
                </a:r>
                <a:r>
                  <a:rPr lang="es-GT" sz="2200" dirty="0">
                    <a:solidFill>
                      <a:srgbClr val="00B0F0"/>
                    </a:solidFill>
                    <a:latin typeface="Aptos" panose="020B0004020202020204" pitchFamily="34" charset="0"/>
                  </a:rPr>
                  <a:t> </a:t>
                </a:r>
                <a:r>
                  <a:rPr lang="es-GT" sz="2200" dirty="0">
                    <a:solidFill>
                      <a:schemeClr val="bg1"/>
                    </a:solidFill>
                    <a:latin typeface="Aptos" panose="020B0004020202020204" pitchFamily="34" charset="0"/>
                  </a:rPr>
                  <a:t>Representa el momento exacto en el que el acero de refuerzo longitudinal en la sección crítica cede (alcanza el límite de fluencia,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𝑓</m:t>
                        </m:r>
                      </m:e>
                      <m:sub>
                        <m:r>
                          <a:rPr lang="es-GT" sz="2200" i="1">
                            <a:solidFill>
                              <a:schemeClr val="bg1"/>
                            </a:solidFill>
                            <a:latin typeface="Cambria Math" panose="02040503050406030204" pitchFamily="18" charset="0"/>
                          </a:rPr>
                          <m:t>𝑦</m:t>
                        </m:r>
                      </m:sub>
                    </m:sSub>
                  </m:oMath>
                </a14:m>
                <a:r>
                  <a:rPr lang="es-GT" sz="2200" dirty="0">
                    <a:solidFill>
                      <a:schemeClr val="bg1"/>
                    </a:solidFill>
                    <a:latin typeface="Aptos" panose="020B0004020202020204" pitchFamily="34" charset="0"/>
                  </a:rPr>
                  <a:t>). </a:t>
                </a:r>
              </a:p>
              <a:p>
                <a:pPr algn="just"/>
                <a:endParaRPr lang="es-GT" sz="2200" dirty="0">
                  <a:solidFill>
                    <a:schemeClr val="bg1"/>
                  </a:solidFill>
                  <a:latin typeface="Aptos" panose="020B0004020202020204" pitchFamily="34" charset="0"/>
                </a:endParaRPr>
              </a:p>
              <a:p>
                <a:pPr algn="just"/>
                <a:r>
                  <a:rPr lang="es-GT" sz="2200" b="1" dirty="0">
                    <a:solidFill>
                      <a:srgbClr val="00B0F0"/>
                    </a:solidFill>
                    <a:latin typeface="Aptos" panose="020B0004020202020204" pitchFamily="34" charset="0"/>
                  </a:rPr>
                  <a:t>Idealización Matemática:</a:t>
                </a:r>
                <a:r>
                  <a:rPr lang="es-GT" sz="2200" dirty="0">
                    <a:solidFill>
                      <a:srgbClr val="00B0F0"/>
                    </a:solidFill>
                    <a:latin typeface="Aptos" panose="020B0004020202020204" pitchFamily="34" charset="0"/>
                  </a:rPr>
                  <a:t> </a:t>
                </a:r>
                <a:r>
                  <a:rPr lang="es-GT" sz="2200" dirty="0">
                    <a:solidFill>
                      <a:schemeClr val="bg1"/>
                    </a:solidFill>
                    <a:latin typeface="Aptos" panose="020B0004020202020204" pitchFamily="34" charset="0"/>
                  </a:rPr>
                  <a:t>Dado que la curva real de capacidad de una sección de concreto reforzado es parabólica y compleja debido a la fisuración progresiva y la fluencia gradual del acero, la curva se "idealiza" geométricamente mediante dos líneas rectas que balancean el área bajo la curva real (energía de deformación).</a:t>
                </a:r>
              </a:p>
              <a:p>
                <a:pPr algn="just"/>
                <a:endParaRPr lang="es-GT" sz="2200" dirty="0">
                  <a:solidFill>
                    <a:schemeClr val="bg1"/>
                  </a:solidFill>
                  <a:latin typeface="Aptos" panose="020B0004020202020204" pitchFamily="34" charset="0"/>
                </a:endParaRPr>
              </a:p>
            </p:txBody>
          </p:sp>
        </mc:Choice>
        <mc:Fallback xmlns="">
          <p:sp>
            <p:nvSpPr>
              <p:cNvPr id="11" name="CuadroTexto 10">
                <a:extLst>
                  <a:ext uri="{FF2B5EF4-FFF2-40B4-BE49-F238E27FC236}">
                    <a16:creationId xmlns:a16="http://schemas.microsoft.com/office/drawing/2014/main" id="{06FED9E1-CD33-DFC9-7F4A-8572688F21F4}"/>
                  </a:ext>
                </a:extLst>
              </p:cNvPr>
              <p:cNvSpPr txBox="1">
                <a:spLocks noRot="1" noChangeAspect="1" noMove="1" noResize="1" noEditPoints="1" noAdjustHandles="1" noChangeArrowheads="1" noChangeShapeType="1" noTextEdit="1"/>
              </p:cNvSpPr>
              <p:nvPr/>
            </p:nvSpPr>
            <p:spPr>
              <a:xfrm>
                <a:off x="672962" y="1240919"/>
                <a:ext cx="10947539" cy="5292346"/>
              </a:xfrm>
              <a:prstGeom prst="rect">
                <a:avLst/>
              </a:prstGeom>
              <a:blipFill>
                <a:blip r:embed="rId5"/>
                <a:stretch>
                  <a:fillRect l="-724" t="-576" r="-724"/>
                </a:stretch>
              </a:blipFill>
            </p:spPr>
            <p:txBody>
              <a:bodyPr/>
              <a:lstStyle/>
              <a:p>
                <a:r>
                  <a:rPr lang="es-GT">
                    <a:noFill/>
                  </a:rPr>
                  <a:t> </a:t>
                </a:r>
              </a:p>
            </p:txBody>
          </p:sp>
        </mc:Fallback>
      </mc:AlternateContent>
      <p:sp>
        <p:nvSpPr>
          <p:cNvPr id="99" name="Google Shape;99;p14">
            <a:extLst>
              <a:ext uri="{FF2B5EF4-FFF2-40B4-BE49-F238E27FC236}">
                <a16:creationId xmlns:a16="http://schemas.microsoft.com/office/drawing/2014/main" id="{C512ED11-B520-049A-075C-E2305DC890A3}"/>
              </a:ext>
            </a:extLst>
          </p:cNvPr>
          <p:cNvSpPr/>
          <p:nvPr/>
        </p:nvSpPr>
        <p:spPr>
          <a:xfrm>
            <a:off x="571499" y="1457838"/>
            <a:ext cx="45719" cy="969390"/>
          </a:xfrm>
          <a:prstGeom prst="rect">
            <a:avLst/>
          </a:prstGeom>
          <a:solidFill>
            <a:srgbClr val="FCD3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CuadroTexto 2">
            <a:extLst>
              <a:ext uri="{FF2B5EF4-FFF2-40B4-BE49-F238E27FC236}">
                <a16:creationId xmlns:a16="http://schemas.microsoft.com/office/drawing/2014/main" id="{B3398EA5-B110-BC42-AB34-F84E703D50AF}"/>
              </a:ext>
            </a:extLst>
          </p:cNvPr>
          <p:cNvSpPr txBox="1"/>
          <p:nvPr/>
        </p:nvSpPr>
        <p:spPr>
          <a:xfrm>
            <a:off x="672963" y="697912"/>
            <a:ext cx="11097710" cy="461665"/>
          </a:xfrm>
          <a:prstGeom prst="rect">
            <a:avLst/>
          </a:prstGeom>
          <a:noFill/>
        </p:spPr>
        <p:txBody>
          <a:bodyPr wrap="square">
            <a:spAutoFit/>
          </a:bodyPr>
          <a:lstStyle/>
          <a:p>
            <a:pPr lvl="0"/>
            <a:r>
              <a:rPr lang="es-GT" sz="2400" dirty="0">
                <a:solidFill>
                  <a:schemeClr val="tx2">
                    <a:lumMod val="50000"/>
                  </a:schemeClr>
                </a:solidFill>
              </a:rPr>
              <a:t>Taller Analítico de </a:t>
            </a:r>
            <a:r>
              <a:rPr lang="es-GT" sz="2400" dirty="0" err="1">
                <a:solidFill>
                  <a:schemeClr val="tx2">
                    <a:lumMod val="50000"/>
                  </a:schemeClr>
                </a:solidFill>
              </a:rPr>
              <a:t>Sobrerresistencia</a:t>
            </a:r>
            <a:r>
              <a:rPr lang="es-GT" sz="2400" dirty="0">
                <a:solidFill>
                  <a:schemeClr val="tx2">
                    <a:lumMod val="50000"/>
                  </a:schemeClr>
                </a:solidFill>
              </a:rPr>
              <a:t> </a:t>
            </a:r>
            <a:endParaRPr lang="es-GT" sz="2300" dirty="0">
              <a:solidFill>
                <a:schemeClr val="tx2">
                  <a:lumMod val="50000"/>
                </a:schemeClr>
              </a:solidFill>
            </a:endParaRPr>
          </a:p>
        </p:txBody>
      </p:sp>
    </p:spTree>
    <p:extLst>
      <p:ext uri="{BB962C8B-B14F-4D97-AF65-F5344CB8AC3E}">
        <p14:creationId xmlns:p14="http://schemas.microsoft.com/office/powerpoint/2010/main" val="124380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8F277727-071F-5559-0811-630A1A819A08}"/>
            </a:ext>
          </a:extLst>
        </p:cNvPr>
        <p:cNvGrpSpPr/>
        <p:nvPr/>
      </p:nvGrpSpPr>
      <p:grpSpPr>
        <a:xfrm>
          <a:off x="0" y="0"/>
          <a:ext cx="0" cy="0"/>
          <a:chOff x="0" y="0"/>
          <a:chExt cx="0" cy="0"/>
        </a:xfrm>
      </p:grpSpPr>
      <p:pic>
        <p:nvPicPr>
          <p:cNvPr id="93" name="Google Shape;93;p14" descr="image.png">
            <a:extLst>
              <a:ext uri="{FF2B5EF4-FFF2-40B4-BE49-F238E27FC236}">
                <a16:creationId xmlns:a16="http://schemas.microsoft.com/office/drawing/2014/main" id="{C0A4BA5F-B459-9679-CB96-EE65912F0DC5}"/>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4" name="Google Shape;94;p14">
            <a:extLst>
              <a:ext uri="{FF2B5EF4-FFF2-40B4-BE49-F238E27FC236}">
                <a16:creationId xmlns:a16="http://schemas.microsoft.com/office/drawing/2014/main" id="{AE1C1E68-8EAE-0A9F-F82B-EF0B211D4E0C}"/>
              </a:ext>
            </a:extLst>
          </p:cNvPr>
          <p:cNvSpPr txBox="1"/>
          <p:nvPr/>
        </p:nvSpPr>
        <p:spPr>
          <a:xfrm>
            <a:off x="762000" y="170544"/>
            <a:ext cx="8844116" cy="1015663"/>
          </a:xfrm>
          <a:prstGeom prst="rect">
            <a:avLst/>
          </a:prstGeom>
          <a:noFill/>
          <a:ln>
            <a:noFill/>
          </a:ln>
        </p:spPr>
        <p:txBody>
          <a:bodyPr spcFirstLastPara="1" wrap="square" lIns="0" tIns="0" rIns="0" bIns="0" anchor="t" anchorCtr="0">
            <a:spAutoFit/>
          </a:bodyPr>
          <a:lstStyle/>
          <a:p>
            <a:r>
              <a:rPr lang="es-GT" sz="3300" b="1" dirty="0">
                <a:solidFill>
                  <a:srgbClr val="00B0F0"/>
                </a:solidFill>
                <a:latin typeface="Aptos" panose="020B0004020202020204" pitchFamily="34" charset="0"/>
              </a:rPr>
              <a:t>Teoría del Diseño por Capacidad </a:t>
            </a:r>
            <a:endParaRPr lang="es-GT" sz="3300" b="1" dirty="0">
              <a:solidFill>
                <a:srgbClr val="00B0F0"/>
              </a:solidFill>
              <a:latin typeface="Aptos" panose="020B0004020202020204" pitchFamily="34" charset="0"/>
              <a:ea typeface="Montserrat"/>
              <a:cs typeface="Montserrat"/>
              <a:sym typeface="Montserrat"/>
            </a:endParaRPr>
          </a:p>
          <a:p>
            <a:pPr lvl="0"/>
            <a:endParaRPr sz="3300" b="1" i="0" u="none" strike="noStrike" cap="none" dirty="0">
              <a:solidFill>
                <a:srgbClr val="00B0F0"/>
              </a:solidFill>
              <a:latin typeface="Montserrat"/>
              <a:ea typeface="Montserrat"/>
              <a:cs typeface="Montserrat"/>
              <a:sym typeface="Montserrat"/>
            </a:endParaRPr>
          </a:p>
        </p:txBody>
      </p:sp>
      <p:sp>
        <p:nvSpPr>
          <p:cNvPr id="95" name="Google Shape;95;p14">
            <a:extLst>
              <a:ext uri="{FF2B5EF4-FFF2-40B4-BE49-F238E27FC236}">
                <a16:creationId xmlns:a16="http://schemas.microsoft.com/office/drawing/2014/main" id="{6F9DE4D6-EA04-5293-E5F7-07C2F56999CB}"/>
              </a:ext>
            </a:extLst>
          </p:cNvPr>
          <p:cNvSpPr/>
          <p:nvPr/>
        </p:nvSpPr>
        <p:spPr>
          <a:xfrm>
            <a:off x="571499" y="163691"/>
            <a:ext cx="57150" cy="906684"/>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 name="Google Shape;108;p15" descr="image.png">
            <a:extLst>
              <a:ext uri="{FF2B5EF4-FFF2-40B4-BE49-F238E27FC236}">
                <a16:creationId xmlns:a16="http://schemas.microsoft.com/office/drawing/2014/main" id="{E9E8DB8D-4A80-5456-FB46-D4B8D78504AD}"/>
              </a:ext>
            </a:extLst>
          </p:cNvPr>
          <p:cNvPicPr preferRelativeResize="0"/>
          <p:nvPr/>
        </p:nvPicPr>
        <p:blipFill rotWithShape="1">
          <a:blip r:embed="rId4">
            <a:alphaModFix/>
          </a:blip>
          <a:srcRect/>
          <a:stretch/>
        </p:blipFill>
        <p:spPr>
          <a:xfrm>
            <a:off x="421327" y="1159577"/>
            <a:ext cx="11426544" cy="5443648"/>
          </a:xfrm>
          <a:prstGeom prst="rect">
            <a:avLst/>
          </a:prstGeom>
          <a:noFill/>
          <a:ln>
            <a:noFill/>
          </a:ln>
        </p:spPr>
      </p:pic>
      <p:sp>
        <p:nvSpPr>
          <p:cNvPr id="11" name="CuadroTexto 10">
            <a:extLst>
              <a:ext uri="{FF2B5EF4-FFF2-40B4-BE49-F238E27FC236}">
                <a16:creationId xmlns:a16="http://schemas.microsoft.com/office/drawing/2014/main" id="{0CE6E570-18B7-F4AD-494D-EFABE24AF23A}"/>
              </a:ext>
            </a:extLst>
          </p:cNvPr>
          <p:cNvSpPr txBox="1"/>
          <p:nvPr/>
        </p:nvSpPr>
        <p:spPr>
          <a:xfrm>
            <a:off x="748048" y="1248779"/>
            <a:ext cx="10947539" cy="3477875"/>
          </a:xfrm>
          <a:prstGeom prst="rect">
            <a:avLst/>
          </a:prstGeom>
          <a:noFill/>
        </p:spPr>
        <p:txBody>
          <a:bodyPr wrap="square">
            <a:spAutoFit/>
          </a:bodyPr>
          <a:lstStyle/>
          <a:p>
            <a:pPr algn="just"/>
            <a:r>
              <a:rPr lang="es-GT" sz="2200" b="1" dirty="0">
                <a:solidFill>
                  <a:srgbClr val="00B0F0"/>
                </a:solidFill>
                <a:latin typeface="Aptos" panose="020B0004020202020204" pitchFamily="34" charset="0"/>
              </a:rPr>
              <a:t>Formación de la Rótula Plástica:</a:t>
            </a:r>
            <a:r>
              <a:rPr lang="es-GT" sz="2200" dirty="0">
                <a:solidFill>
                  <a:srgbClr val="00B0F0"/>
                </a:solidFill>
                <a:latin typeface="Aptos" panose="020B0004020202020204" pitchFamily="34" charset="0"/>
              </a:rPr>
              <a:t> </a:t>
            </a:r>
            <a:r>
              <a:rPr lang="es-GT" sz="2200" dirty="0">
                <a:solidFill>
                  <a:schemeClr val="bg1"/>
                </a:solidFill>
                <a:latin typeface="Aptos" panose="020B0004020202020204" pitchFamily="34" charset="0"/>
              </a:rPr>
              <a:t>Alcanzar este punto marca el inicio de la concentración del daño en una región específica de la columna (por ejemplo, en la base de la pila de un puente).</a:t>
            </a:r>
          </a:p>
          <a:p>
            <a:pPr algn="just"/>
            <a:endParaRPr lang="es-GT" sz="2200" dirty="0">
              <a:solidFill>
                <a:schemeClr val="bg1"/>
              </a:solidFill>
              <a:latin typeface="Aptos" panose="020B0004020202020204" pitchFamily="34" charset="0"/>
            </a:endParaRPr>
          </a:p>
          <a:p>
            <a:pPr algn="just"/>
            <a:r>
              <a:rPr lang="es-GT" sz="2200" b="1" dirty="0">
                <a:solidFill>
                  <a:srgbClr val="00B0F0"/>
                </a:solidFill>
                <a:latin typeface="Aptos" panose="020B0004020202020204" pitchFamily="34" charset="0"/>
              </a:rPr>
              <a:t>Activación de la Demanda de Ductilidad:</a:t>
            </a:r>
            <a:r>
              <a:rPr lang="es-GT" sz="2200" dirty="0">
                <a:solidFill>
                  <a:srgbClr val="00B0F0"/>
                </a:solidFill>
                <a:latin typeface="Aptos" panose="020B0004020202020204" pitchFamily="34" charset="0"/>
              </a:rPr>
              <a:t> </a:t>
            </a:r>
            <a:r>
              <a:rPr lang="es-GT" sz="2200" dirty="0">
                <a:solidFill>
                  <a:schemeClr val="bg1"/>
                </a:solidFill>
                <a:latin typeface="Aptos" panose="020B0004020202020204" pitchFamily="34" charset="0"/>
              </a:rPr>
              <a:t>Una vez superada la fluencia idealizada, la integridad de la columna pasa a depender de su detallado estructural. Requiere un confinamiento estricto mediante estribos para mantener el núcleo de concreto intacto, evitar el pandeo del refuerzo longitudinal y permitir que la estructura incursione en grandes desplazamientos sin experimentar un colapso.</a:t>
            </a:r>
          </a:p>
          <a:p>
            <a:pPr algn="just"/>
            <a:endParaRPr lang="es-GT" sz="2200" dirty="0">
              <a:solidFill>
                <a:schemeClr val="bg1"/>
              </a:solidFill>
              <a:latin typeface="Aptos" panose="020B0004020202020204" pitchFamily="34" charset="0"/>
            </a:endParaRPr>
          </a:p>
        </p:txBody>
      </p:sp>
      <p:sp>
        <p:nvSpPr>
          <p:cNvPr id="99" name="Google Shape;99;p14">
            <a:extLst>
              <a:ext uri="{FF2B5EF4-FFF2-40B4-BE49-F238E27FC236}">
                <a16:creationId xmlns:a16="http://schemas.microsoft.com/office/drawing/2014/main" id="{A5BC1530-B1A4-C4F1-4AC9-F0E2B12B68A3}"/>
              </a:ext>
            </a:extLst>
          </p:cNvPr>
          <p:cNvSpPr/>
          <p:nvPr/>
        </p:nvSpPr>
        <p:spPr>
          <a:xfrm>
            <a:off x="571499" y="1457838"/>
            <a:ext cx="45719" cy="969390"/>
          </a:xfrm>
          <a:prstGeom prst="rect">
            <a:avLst/>
          </a:prstGeom>
          <a:solidFill>
            <a:srgbClr val="FCD3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CuadroTexto 2">
            <a:extLst>
              <a:ext uri="{FF2B5EF4-FFF2-40B4-BE49-F238E27FC236}">
                <a16:creationId xmlns:a16="http://schemas.microsoft.com/office/drawing/2014/main" id="{1C0A9F1F-A2CE-C1D0-1527-403E21454715}"/>
              </a:ext>
            </a:extLst>
          </p:cNvPr>
          <p:cNvSpPr txBox="1"/>
          <p:nvPr/>
        </p:nvSpPr>
        <p:spPr>
          <a:xfrm>
            <a:off x="672963" y="697912"/>
            <a:ext cx="11097710" cy="461665"/>
          </a:xfrm>
          <a:prstGeom prst="rect">
            <a:avLst/>
          </a:prstGeom>
          <a:noFill/>
        </p:spPr>
        <p:txBody>
          <a:bodyPr wrap="square">
            <a:spAutoFit/>
          </a:bodyPr>
          <a:lstStyle/>
          <a:p>
            <a:pPr lvl="0"/>
            <a:r>
              <a:rPr lang="es-GT" sz="2400" dirty="0">
                <a:solidFill>
                  <a:schemeClr val="tx2">
                    <a:lumMod val="50000"/>
                  </a:schemeClr>
                </a:solidFill>
              </a:rPr>
              <a:t>Taller Analítico de </a:t>
            </a:r>
            <a:r>
              <a:rPr lang="es-GT" sz="2400" dirty="0" err="1">
                <a:solidFill>
                  <a:schemeClr val="tx2">
                    <a:lumMod val="50000"/>
                  </a:schemeClr>
                </a:solidFill>
              </a:rPr>
              <a:t>Sobrerresistencia</a:t>
            </a:r>
            <a:r>
              <a:rPr lang="es-GT" sz="2400" dirty="0">
                <a:solidFill>
                  <a:schemeClr val="tx2">
                    <a:lumMod val="50000"/>
                  </a:schemeClr>
                </a:solidFill>
              </a:rPr>
              <a:t> </a:t>
            </a:r>
            <a:endParaRPr lang="es-GT" sz="2300" dirty="0">
              <a:solidFill>
                <a:schemeClr val="tx2">
                  <a:lumMod val="50000"/>
                </a:schemeClr>
              </a:solidFill>
            </a:endParaRPr>
          </a:p>
        </p:txBody>
      </p:sp>
    </p:spTree>
    <p:extLst>
      <p:ext uri="{BB962C8B-B14F-4D97-AF65-F5344CB8AC3E}">
        <p14:creationId xmlns:p14="http://schemas.microsoft.com/office/powerpoint/2010/main" val="3418166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D45ACBCD-AAE7-832D-B440-CF549D31AD7E}"/>
            </a:ext>
          </a:extLst>
        </p:cNvPr>
        <p:cNvGrpSpPr/>
        <p:nvPr/>
      </p:nvGrpSpPr>
      <p:grpSpPr>
        <a:xfrm>
          <a:off x="0" y="0"/>
          <a:ext cx="0" cy="0"/>
          <a:chOff x="0" y="0"/>
          <a:chExt cx="0" cy="0"/>
        </a:xfrm>
      </p:grpSpPr>
      <p:pic>
        <p:nvPicPr>
          <p:cNvPr id="93" name="Google Shape;93;p14" descr="image.png">
            <a:extLst>
              <a:ext uri="{FF2B5EF4-FFF2-40B4-BE49-F238E27FC236}">
                <a16:creationId xmlns:a16="http://schemas.microsoft.com/office/drawing/2014/main" id="{3F50177D-222F-9D0A-01E2-43611FCE4FBB}"/>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4" name="Google Shape;94;p14">
            <a:extLst>
              <a:ext uri="{FF2B5EF4-FFF2-40B4-BE49-F238E27FC236}">
                <a16:creationId xmlns:a16="http://schemas.microsoft.com/office/drawing/2014/main" id="{8B52DD95-10C7-C472-EF6A-84677563B279}"/>
              </a:ext>
            </a:extLst>
          </p:cNvPr>
          <p:cNvSpPr txBox="1"/>
          <p:nvPr/>
        </p:nvSpPr>
        <p:spPr>
          <a:xfrm>
            <a:off x="762000" y="170544"/>
            <a:ext cx="8844116" cy="1015663"/>
          </a:xfrm>
          <a:prstGeom prst="rect">
            <a:avLst/>
          </a:prstGeom>
          <a:noFill/>
          <a:ln>
            <a:noFill/>
          </a:ln>
        </p:spPr>
        <p:txBody>
          <a:bodyPr spcFirstLastPara="1" wrap="square" lIns="0" tIns="0" rIns="0" bIns="0" anchor="t" anchorCtr="0">
            <a:spAutoFit/>
          </a:bodyPr>
          <a:lstStyle/>
          <a:p>
            <a:r>
              <a:rPr lang="es-GT" sz="3300" b="1" dirty="0">
                <a:solidFill>
                  <a:srgbClr val="00B0F0"/>
                </a:solidFill>
                <a:latin typeface="Aptos" panose="020B0004020202020204" pitchFamily="34" charset="0"/>
              </a:rPr>
              <a:t>Teoría del Diseño por Capacidad </a:t>
            </a:r>
            <a:endParaRPr lang="es-GT" sz="3300" b="1" dirty="0">
              <a:solidFill>
                <a:srgbClr val="00B0F0"/>
              </a:solidFill>
              <a:latin typeface="Aptos" panose="020B0004020202020204" pitchFamily="34" charset="0"/>
              <a:ea typeface="Montserrat"/>
              <a:cs typeface="Montserrat"/>
              <a:sym typeface="Montserrat"/>
            </a:endParaRPr>
          </a:p>
          <a:p>
            <a:pPr lvl="0"/>
            <a:endParaRPr sz="3300" b="1" i="0" u="none" strike="noStrike" cap="none" dirty="0">
              <a:solidFill>
                <a:srgbClr val="00B0F0"/>
              </a:solidFill>
              <a:latin typeface="Montserrat"/>
              <a:ea typeface="Montserrat"/>
              <a:cs typeface="Montserrat"/>
              <a:sym typeface="Montserrat"/>
            </a:endParaRPr>
          </a:p>
        </p:txBody>
      </p:sp>
      <p:sp>
        <p:nvSpPr>
          <p:cNvPr id="95" name="Google Shape;95;p14">
            <a:extLst>
              <a:ext uri="{FF2B5EF4-FFF2-40B4-BE49-F238E27FC236}">
                <a16:creationId xmlns:a16="http://schemas.microsoft.com/office/drawing/2014/main" id="{558832A8-4726-8989-9249-7A4BE378B88F}"/>
              </a:ext>
            </a:extLst>
          </p:cNvPr>
          <p:cNvSpPr/>
          <p:nvPr/>
        </p:nvSpPr>
        <p:spPr>
          <a:xfrm>
            <a:off x="571499" y="163691"/>
            <a:ext cx="57150" cy="906684"/>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 name="Google Shape;108;p15" descr="image.png">
            <a:extLst>
              <a:ext uri="{FF2B5EF4-FFF2-40B4-BE49-F238E27FC236}">
                <a16:creationId xmlns:a16="http://schemas.microsoft.com/office/drawing/2014/main" id="{AB756274-C4B1-FC8D-FED6-E0F6CD60A358}"/>
              </a:ext>
            </a:extLst>
          </p:cNvPr>
          <p:cNvPicPr preferRelativeResize="0"/>
          <p:nvPr/>
        </p:nvPicPr>
        <p:blipFill rotWithShape="1">
          <a:blip r:embed="rId4">
            <a:alphaModFix/>
          </a:blip>
          <a:srcRect/>
          <a:stretch/>
        </p:blipFill>
        <p:spPr>
          <a:xfrm>
            <a:off x="421327" y="1159577"/>
            <a:ext cx="11426544" cy="5443648"/>
          </a:xfrm>
          <a:prstGeom prst="rect">
            <a:avLst/>
          </a:prstGeom>
          <a:noFill/>
          <a:ln>
            <a:noFill/>
          </a:ln>
        </p:spPr>
      </p:pic>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12052B2D-31C0-FCA7-7AC2-4C515CA662E3}"/>
                  </a:ext>
                </a:extLst>
              </p:cNvPr>
              <p:cNvSpPr txBox="1"/>
              <p:nvPr/>
            </p:nvSpPr>
            <p:spPr>
              <a:xfrm>
                <a:off x="762000" y="1356751"/>
                <a:ext cx="10858501" cy="5468100"/>
              </a:xfrm>
              <a:prstGeom prst="rect">
                <a:avLst/>
              </a:prstGeom>
              <a:noFill/>
            </p:spPr>
            <p:txBody>
              <a:bodyPr wrap="square">
                <a:spAutoFit/>
              </a:bodyPr>
              <a:lstStyle/>
              <a:p>
                <a:pPr lvl="0" algn="just"/>
                <a:r>
                  <a:rPr lang="es-GT" sz="2200" b="1" dirty="0">
                    <a:solidFill>
                      <a:srgbClr val="00B0F0"/>
                    </a:solidFill>
                    <a:latin typeface="Aptos" panose="020B0004020202020204" pitchFamily="34" charset="0"/>
                  </a:rPr>
                  <a:t>Paso 2: </a:t>
                </a:r>
                <a:r>
                  <a:rPr lang="es-GT" sz="2200" b="1" dirty="0">
                    <a:solidFill>
                      <a:schemeClr val="bg1"/>
                    </a:solidFill>
                    <a:latin typeface="Aptos" panose="020B0004020202020204" pitchFamily="34" charset="0"/>
                  </a:rPr>
                  <a:t>La Estática del Colapso (</a:t>
                </a:r>
                <a14:m>
                  <m:oMath xmlns:m="http://schemas.openxmlformats.org/officeDocument/2006/math">
                    <m:sSub>
                      <m:sSubPr>
                        <m:ctrlPr>
                          <a:rPr lang="es-GT" sz="2200" b="1" i="1">
                            <a:solidFill>
                              <a:schemeClr val="bg1"/>
                            </a:solidFill>
                            <a:latin typeface="Cambria Math" panose="02040503050406030204" pitchFamily="18" charset="0"/>
                          </a:rPr>
                        </m:ctrlPr>
                      </m:sSubPr>
                      <m:e>
                        <m:r>
                          <a:rPr lang="es-GT" sz="2200" b="1" i="1">
                            <a:solidFill>
                              <a:schemeClr val="bg1"/>
                            </a:solidFill>
                            <a:latin typeface="Cambria Math" panose="02040503050406030204" pitchFamily="18" charset="0"/>
                          </a:rPr>
                          <m:t>𝑽</m:t>
                        </m:r>
                      </m:e>
                      <m:sub>
                        <m:r>
                          <a:rPr lang="es-GT" sz="2200" b="1" i="1">
                            <a:solidFill>
                              <a:schemeClr val="bg1"/>
                            </a:solidFill>
                            <a:latin typeface="Cambria Math" panose="02040503050406030204" pitchFamily="18" charset="0"/>
                          </a:rPr>
                          <m:t>𝟎</m:t>
                        </m:r>
                      </m:sub>
                    </m:sSub>
                  </m:oMath>
                </a14:m>
                <a:r>
                  <a:rPr lang="es-GT" sz="2200" b="1" dirty="0">
                    <a:solidFill>
                      <a:schemeClr val="bg1"/>
                    </a:solidFill>
                    <a:latin typeface="Aptos" panose="020B0004020202020204" pitchFamily="34" charset="0"/>
                  </a:rPr>
                  <a:t>)</a:t>
                </a:r>
              </a:p>
              <a:p>
                <a:pPr algn="just"/>
                <a:r>
                  <a:rPr lang="es-GT" sz="2200" dirty="0">
                    <a:solidFill>
                      <a:schemeClr val="bg1"/>
                    </a:solidFill>
                    <a:latin typeface="Aptos" panose="020B0004020202020204" pitchFamily="34" charset="0"/>
                  </a:rPr>
                  <a:t>Asumiendo una columna de marco rígido que plastifica arriba y abajo (doble curvatura) con una altura libre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𝐿</m:t>
                        </m:r>
                      </m:e>
                      <m:sub>
                        <m:r>
                          <a:rPr lang="es-GT" sz="2200" i="1">
                            <a:solidFill>
                              <a:schemeClr val="bg1"/>
                            </a:solidFill>
                            <a:latin typeface="Cambria Math" panose="02040503050406030204" pitchFamily="18" charset="0"/>
                          </a:rPr>
                          <m:t>𝑐</m:t>
                        </m:r>
                      </m:sub>
                    </m:sSub>
                    <m:r>
                      <a:rPr lang="es-GT" sz="2200" i="1">
                        <a:solidFill>
                          <a:schemeClr val="bg1"/>
                        </a:solidFill>
                        <a:latin typeface="Cambria Math" panose="02040503050406030204" pitchFamily="18" charset="0"/>
                      </a:rPr>
                      <m:t>=20</m:t>
                    </m:r>
                  </m:oMath>
                </a14:m>
                <a:r>
                  <a:rPr lang="es-GT" sz="2200" dirty="0">
                    <a:solidFill>
                      <a:schemeClr val="bg1"/>
                    </a:solidFill>
                    <a:latin typeface="Aptos" panose="020B0004020202020204" pitchFamily="34" charset="0"/>
                  </a:rPr>
                  <a:t>, el cortante plástico absoluto es:</a:t>
                </a:r>
              </a:p>
              <a:p>
                <a:pPr algn="just"/>
                <a:endParaRPr lang="es-GT" sz="2200" dirty="0">
                  <a:solidFill>
                    <a:schemeClr val="bg1"/>
                  </a:solidFill>
                  <a:latin typeface="Aptos" panose="020B0004020202020204" pitchFamily="34" charset="0"/>
                </a:endParaRPr>
              </a:p>
              <a:p>
                <a:pPr algn="just"/>
                <a14:m>
                  <m:oMathPara xmlns:m="http://schemas.openxmlformats.org/officeDocument/2006/math">
                    <m:o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𝑉</m:t>
                          </m:r>
                        </m:e>
                        <m:sub>
                          <m:r>
                            <a:rPr lang="es-GT" sz="2200" i="1">
                              <a:solidFill>
                                <a:schemeClr val="bg1"/>
                              </a:solidFill>
                              <a:latin typeface="Cambria Math" panose="02040503050406030204" pitchFamily="18" charset="0"/>
                            </a:rPr>
                            <m:t>0</m:t>
                          </m:r>
                        </m:sub>
                      </m:sSub>
                      <m:r>
                        <a:rPr lang="es-GT" sz="2200" i="1">
                          <a:solidFill>
                            <a:schemeClr val="bg1"/>
                          </a:solidFill>
                          <a:latin typeface="Cambria Math" panose="02040503050406030204" pitchFamily="18" charset="0"/>
                        </a:rPr>
                        <m:t>=</m:t>
                      </m:r>
                      <m:f>
                        <m:fPr>
                          <m:ctrlPr>
                            <a:rPr lang="es-GT" sz="2200" i="1">
                              <a:solidFill>
                                <a:schemeClr val="bg1"/>
                              </a:solidFill>
                              <a:latin typeface="Cambria Math" panose="02040503050406030204" pitchFamily="18" charset="0"/>
                            </a:rPr>
                          </m:ctrlPr>
                        </m:fPr>
                        <m:num>
                          <m:r>
                            <a:rPr lang="es-GT" sz="2200" i="1">
                              <a:solidFill>
                                <a:schemeClr val="bg1"/>
                              </a:solidFill>
                              <a:latin typeface="Cambria Math" panose="02040503050406030204" pitchFamily="18" charset="0"/>
                            </a:rPr>
                            <m:t>17,887.2</m:t>
                          </m:r>
                          <m:r>
                            <m:rPr>
                              <m:nor/>
                            </m:rPr>
                            <a:rPr lang="es-GT" sz="2200" i="0">
                              <a:solidFill>
                                <a:schemeClr val="bg1"/>
                              </a:solidFill>
                              <a:latin typeface="Aptos" panose="020B0004020202020204" pitchFamily="34" charset="0"/>
                            </a:rPr>
                            <m:t> kip−ft</m:t>
                          </m:r>
                          <m:r>
                            <a:rPr lang="es-GT" sz="2200" i="1">
                              <a:solidFill>
                                <a:schemeClr val="bg1"/>
                              </a:solidFill>
                              <a:latin typeface="Cambria Math" panose="02040503050406030204" pitchFamily="18" charset="0"/>
                            </a:rPr>
                            <m:t>+17,887.2</m:t>
                          </m:r>
                          <m:r>
                            <m:rPr>
                              <m:nor/>
                            </m:rPr>
                            <a:rPr lang="es-GT" sz="2200" i="0">
                              <a:solidFill>
                                <a:schemeClr val="bg1"/>
                              </a:solidFill>
                              <a:latin typeface="Aptos" panose="020B0004020202020204" pitchFamily="34" charset="0"/>
                            </a:rPr>
                            <m:t> kip−ft</m:t>
                          </m:r>
                        </m:num>
                        <m:den>
                          <m:r>
                            <a:rPr lang="es-GT" sz="2200" i="1">
                              <a:solidFill>
                                <a:schemeClr val="bg1"/>
                              </a:solidFill>
                              <a:latin typeface="Cambria Math" panose="02040503050406030204" pitchFamily="18" charset="0"/>
                            </a:rPr>
                            <m:t>20</m:t>
                          </m:r>
                          <m:r>
                            <m:rPr>
                              <m:nor/>
                            </m:rPr>
                            <a:rPr lang="es-GT" sz="2200" i="0">
                              <a:solidFill>
                                <a:schemeClr val="bg1"/>
                              </a:solidFill>
                              <a:latin typeface="Aptos" panose="020B0004020202020204" pitchFamily="34" charset="0"/>
                            </a:rPr>
                            <m:t> ft</m:t>
                          </m:r>
                        </m:den>
                      </m:f>
                      <m:r>
                        <a:rPr lang="es-GT" sz="2200" i="1">
                          <a:solidFill>
                            <a:schemeClr val="bg1"/>
                          </a:solidFill>
                          <a:latin typeface="Cambria Math" panose="02040503050406030204" pitchFamily="18" charset="0"/>
                        </a:rPr>
                        <m:t>=1,788.72</m:t>
                      </m:r>
                      <m:r>
                        <m:rPr>
                          <m:nor/>
                        </m:rPr>
                        <a:rPr lang="es-GT" sz="2200" i="0">
                          <a:solidFill>
                            <a:schemeClr val="bg1"/>
                          </a:solidFill>
                          <a:latin typeface="Aptos" panose="020B0004020202020204" pitchFamily="34" charset="0"/>
                        </a:rPr>
                        <m:t> kips</m:t>
                      </m:r>
                    </m:oMath>
                  </m:oMathPara>
                </a14:m>
                <a:endParaRPr lang="es-GT" sz="2200" dirty="0">
                  <a:solidFill>
                    <a:schemeClr val="bg1"/>
                  </a:solidFill>
                  <a:latin typeface="Aptos" panose="020B0004020202020204" pitchFamily="34" charset="0"/>
                </a:endParaRPr>
              </a:p>
              <a:p>
                <a:pPr algn="just"/>
                <a:endParaRPr lang="es-GT" sz="2200" dirty="0">
                  <a:solidFill>
                    <a:schemeClr val="bg1"/>
                  </a:solidFill>
                  <a:latin typeface="Aptos" panose="020B0004020202020204" pitchFamily="34" charset="0"/>
                </a:endParaRPr>
              </a:p>
              <a:p>
                <a:pPr algn="just"/>
                <a:r>
                  <a:rPr lang="es-GT" sz="2200" dirty="0">
                    <a:solidFill>
                      <a:schemeClr val="bg1"/>
                    </a:solidFill>
                    <a:latin typeface="Aptos" panose="020B0004020202020204" pitchFamily="34" charset="0"/>
                  </a:rPr>
                  <a:t>Cuando las cargas laterales sísmicas inducen grandes desplazamientos, una columna restringida en ambos extremos comenzará a ceder hasta formar rótulas plásticas simultáneamente en la base y en el capitel. En el momento exacto en que ambas rótulas alcanzan su capacidad máxima probable de momento, considerando el esfuerzo de fluencia real del acero y su endurecimiento por deformación, el elemento estructural se convierte en un mecanismo. Físicamente, es imposible que la columna experimente un cortante mayor a este valor máximo transferido por las rótulas.</a:t>
                </a:r>
              </a:p>
              <a:p>
                <a:pPr algn="just"/>
                <a:endParaRPr lang="es-GT" sz="2200" dirty="0">
                  <a:solidFill>
                    <a:schemeClr val="bg1"/>
                  </a:solidFill>
                  <a:latin typeface="Aptos" panose="020B0004020202020204" pitchFamily="34" charset="0"/>
                </a:endParaRPr>
              </a:p>
              <a:p>
                <a:pPr algn="just"/>
                <a:endParaRPr lang="es-GT" sz="2200" dirty="0">
                  <a:solidFill>
                    <a:srgbClr val="00B0F0"/>
                  </a:solidFill>
                </a:endParaRPr>
              </a:p>
            </p:txBody>
          </p:sp>
        </mc:Choice>
        <mc:Fallback xmlns="">
          <p:sp>
            <p:nvSpPr>
              <p:cNvPr id="11" name="CuadroTexto 10">
                <a:extLst>
                  <a:ext uri="{FF2B5EF4-FFF2-40B4-BE49-F238E27FC236}">
                    <a16:creationId xmlns:a16="http://schemas.microsoft.com/office/drawing/2014/main" id="{12052B2D-31C0-FCA7-7AC2-4C515CA662E3}"/>
                  </a:ext>
                </a:extLst>
              </p:cNvPr>
              <p:cNvSpPr txBox="1">
                <a:spLocks noRot="1" noChangeAspect="1" noMove="1" noResize="1" noEditPoints="1" noAdjustHandles="1" noChangeArrowheads="1" noChangeShapeType="1" noTextEdit="1"/>
              </p:cNvSpPr>
              <p:nvPr/>
            </p:nvSpPr>
            <p:spPr>
              <a:xfrm>
                <a:off x="762000" y="1356751"/>
                <a:ext cx="10858501" cy="5468100"/>
              </a:xfrm>
              <a:prstGeom prst="rect">
                <a:avLst/>
              </a:prstGeom>
              <a:blipFill>
                <a:blip r:embed="rId5"/>
                <a:stretch>
                  <a:fillRect l="-730" t="-669" r="-730"/>
                </a:stretch>
              </a:blipFill>
            </p:spPr>
            <p:txBody>
              <a:bodyPr/>
              <a:lstStyle/>
              <a:p>
                <a:r>
                  <a:rPr lang="es-GT">
                    <a:noFill/>
                  </a:rPr>
                  <a:t> </a:t>
                </a:r>
              </a:p>
            </p:txBody>
          </p:sp>
        </mc:Fallback>
      </mc:AlternateContent>
      <p:sp>
        <p:nvSpPr>
          <p:cNvPr id="99" name="Google Shape;99;p14">
            <a:extLst>
              <a:ext uri="{FF2B5EF4-FFF2-40B4-BE49-F238E27FC236}">
                <a16:creationId xmlns:a16="http://schemas.microsoft.com/office/drawing/2014/main" id="{53D9A7F3-E2D8-1854-1F57-336F3280FAC7}"/>
              </a:ext>
            </a:extLst>
          </p:cNvPr>
          <p:cNvSpPr/>
          <p:nvPr/>
        </p:nvSpPr>
        <p:spPr>
          <a:xfrm>
            <a:off x="571499" y="1457838"/>
            <a:ext cx="45719" cy="969390"/>
          </a:xfrm>
          <a:prstGeom prst="rect">
            <a:avLst/>
          </a:prstGeom>
          <a:solidFill>
            <a:srgbClr val="FCD3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CuadroTexto 2">
            <a:extLst>
              <a:ext uri="{FF2B5EF4-FFF2-40B4-BE49-F238E27FC236}">
                <a16:creationId xmlns:a16="http://schemas.microsoft.com/office/drawing/2014/main" id="{6B803F4F-FD21-BA69-1607-84A2F3B288F8}"/>
              </a:ext>
            </a:extLst>
          </p:cNvPr>
          <p:cNvSpPr txBox="1"/>
          <p:nvPr/>
        </p:nvSpPr>
        <p:spPr>
          <a:xfrm>
            <a:off x="672963" y="697912"/>
            <a:ext cx="11097710" cy="461665"/>
          </a:xfrm>
          <a:prstGeom prst="rect">
            <a:avLst/>
          </a:prstGeom>
          <a:noFill/>
        </p:spPr>
        <p:txBody>
          <a:bodyPr wrap="square">
            <a:spAutoFit/>
          </a:bodyPr>
          <a:lstStyle/>
          <a:p>
            <a:pPr lvl="0"/>
            <a:r>
              <a:rPr lang="es-GT" sz="2400" dirty="0">
                <a:solidFill>
                  <a:schemeClr val="tx2">
                    <a:lumMod val="50000"/>
                  </a:schemeClr>
                </a:solidFill>
              </a:rPr>
              <a:t>Taller Analítico de </a:t>
            </a:r>
            <a:r>
              <a:rPr lang="es-GT" sz="2400" dirty="0" err="1">
                <a:solidFill>
                  <a:schemeClr val="tx2">
                    <a:lumMod val="50000"/>
                  </a:schemeClr>
                </a:solidFill>
              </a:rPr>
              <a:t>Sobrerresistencia</a:t>
            </a:r>
            <a:r>
              <a:rPr lang="es-GT" sz="2400" dirty="0">
                <a:solidFill>
                  <a:schemeClr val="tx2">
                    <a:lumMod val="50000"/>
                  </a:schemeClr>
                </a:solidFill>
              </a:rPr>
              <a:t> </a:t>
            </a:r>
            <a:endParaRPr lang="es-GT" sz="2300" dirty="0">
              <a:solidFill>
                <a:schemeClr val="tx2">
                  <a:lumMod val="50000"/>
                </a:schemeClr>
              </a:solidFill>
            </a:endParaRPr>
          </a:p>
        </p:txBody>
      </p:sp>
    </p:spTree>
    <p:extLst>
      <p:ext uri="{BB962C8B-B14F-4D97-AF65-F5344CB8AC3E}">
        <p14:creationId xmlns:p14="http://schemas.microsoft.com/office/powerpoint/2010/main" val="329596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0D3996EA-6DC1-E28D-FB32-9F9F9962139D}"/>
            </a:ext>
          </a:extLst>
        </p:cNvPr>
        <p:cNvGrpSpPr/>
        <p:nvPr/>
      </p:nvGrpSpPr>
      <p:grpSpPr>
        <a:xfrm>
          <a:off x="0" y="0"/>
          <a:ext cx="0" cy="0"/>
          <a:chOff x="0" y="0"/>
          <a:chExt cx="0" cy="0"/>
        </a:xfrm>
      </p:grpSpPr>
      <p:pic>
        <p:nvPicPr>
          <p:cNvPr id="93" name="Google Shape;93;p14" descr="image.png">
            <a:extLst>
              <a:ext uri="{FF2B5EF4-FFF2-40B4-BE49-F238E27FC236}">
                <a16:creationId xmlns:a16="http://schemas.microsoft.com/office/drawing/2014/main" id="{6F30AEF2-67AB-2F62-03D7-A6ACB7633635}"/>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4" name="Google Shape;94;p14">
            <a:extLst>
              <a:ext uri="{FF2B5EF4-FFF2-40B4-BE49-F238E27FC236}">
                <a16:creationId xmlns:a16="http://schemas.microsoft.com/office/drawing/2014/main" id="{EFD46A42-9277-210B-C8BE-3D02F922BE69}"/>
              </a:ext>
            </a:extLst>
          </p:cNvPr>
          <p:cNvSpPr txBox="1"/>
          <p:nvPr/>
        </p:nvSpPr>
        <p:spPr>
          <a:xfrm>
            <a:off x="762000" y="170544"/>
            <a:ext cx="8844116" cy="1015663"/>
          </a:xfrm>
          <a:prstGeom prst="rect">
            <a:avLst/>
          </a:prstGeom>
          <a:noFill/>
          <a:ln>
            <a:noFill/>
          </a:ln>
        </p:spPr>
        <p:txBody>
          <a:bodyPr spcFirstLastPara="1" wrap="square" lIns="0" tIns="0" rIns="0" bIns="0" anchor="t" anchorCtr="0">
            <a:spAutoFit/>
          </a:bodyPr>
          <a:lstStyle/>
          <a:p>
            <a:r>
              <a:rPr lang="es-GT" sz="3300" b="1" dirty="0">
                <a:solidFill>
                  <a:srgbClr val="00B0F0"/>
                </a:solidFill>
                <a:latin typeface="Aptos" panose="020B0004020202020204" pitchFamily="34" charset="0"/>
              </a:rPr>
              <a:t>Teoría del Diseño por Capacidad </a:t>
            </a:r>
            <a:endParaRPr lang="es-GT" sz="3300" b="1" dirty="0">
              <a:solidFill>
                <a:srgbClr val="00B0F0"/>
              </a:solidFill>
              <a:latin typeface="Aptos" panose="020B0004020202020204" pitchFamily="34" charset="0"/>
              <a:ea typeface="Montserrat"/>
              <a:cs typeface="Montserrat"/>
              <a:sym typeface="Montserrat"/>
            </a:endParaRPr>
          </a:p>
          <a:p>
            <a:pPr lvl="0"/>
            <a:endParaRPr sz="3300" b="1" i="0" u="none" strike="noStrike" cap="none" dirty="0">
              <a:solidFill>
                <a:srgbClr val="00B0F0"/>
              </a:solidFill>
              <a:latin typeface="Montserrat"/>
              <a:ea typeface="Montserrat"/>
              <a:cs typeface="Montserrat"/>
              <a:sym typeface="Montserrat"/>
            </a:endParaRPr>
          </a:p>
        </p:txBody>
      </p:sp>
      <p:sp>
        <p:nvSpPr>
          <p:cNvPr id="95" name="Google Shape;95;p14">
            <a:extLst>
              <a:ext uri="{FF2B5EF4-FFF2-40B4-BE49-F238E27FC236}">
                <a16:creationId xmlns:a16="http://schemas.microsoft.com/office/drawing/2014/main" id="{5B31B35A-95E4-6ED4-8479-6374BCADDEA1}"/>
              </a:ext>
            </a:extLst>
          </p:cNvPr>
          <p:cNvSpPr/>
          <p:nvPr/>
        </p:nvSpPr>
        <p:spPr>
          <a:xfrm>
            <a:off x="571499" y="163691"/>
            <a:ext cx="57150" cy="906684"/>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 name="Google Shape;108;p15" descr="image.png">
            <a:extLst>
              <a:ext uri="{FF2B5EF4-FFF2-40B4-BE49-F238E27FC236}">
                <a16:creationId xmlns:a16="http://schemas.microsoft.com/office/drawing/2014/main" id="{ED2532BE-801A-A352-757E-7F47EFB734BD}"/>
              </a:ext>
            </a:extLst>
          </p:cNvPr>
          <p:cNvPicPr preferRelativeResize="0"/>
          <p:nvPr/>
        </p:nvPicPr>
        <p:blipFill rotWithShape="1">
          <a:blip r:embed="rId4">
            <a:alphaModFix/>
          </a:blip>
          <a:srcRect/>
          <a:stretch/>
        </p:blipFill>
        <p:spPr>
          <a:xfrm>
            <a:off x="382728" y="1159577"/>
            <a:ext cx="11426544" cy="5443648"/>
          </a:xfrm>
          <a:prstGeom prst="rect">
            <a:avLst/>
          </a:prstGeom>
          <a:noFill/>
          <a:ln>
            <a:noFill/>
          </a:ln>
        </p:spPr>
      </p:pic>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20F636A0-8AA0-44D3-E947-99DB40B54608}"/>
                  </a:ext>
                </a:extLst>
              </p:cNvPr>
              <p:cNvSpPr txBox="1"/>
              <p:nvPr/>
            </p:nvSpPr>
            <p:spPr>
              <a:xfrm>
                <a:off x="762000" y="1356751"/>
                <a:ext cx="10858501" cy="5292346"/>
              </a:xfrm>
              <a:prstGeom prst="rect">
                <a:avLst/>
              </a:prstGeom>
              <a:noFill/>
            </p:spPr>
            <p:txBody>
              <a:bodyPr wrap="square">
                <a:spAutoFit/>
              </a:bodyPr>
              <a:lstStyle/>
              <a:p>
                <a:pPr lvl="0"/>
                <a:r>
                  <a:rPr lang="es-GT" sz="2200" b="1" dirty="0">
                    <a:solidFill>
                      <a:srgbClr val="00B0F0"/>
                    </a:solidFill>
                    <a:latin typeface="Aptos" panose="020B0004020202020204" pitchFamily="34" charset="0"/>
                  </a:rPr>
                  <a:t>Paso 3: </a:t>
                </a:r>
                <a:r>
                  <a:rPr lang="es-GT" sz="2200" b="1" dirty="0">
                    <a:solidFill>
                      <a:schemeClr val="bg1"/>
                    </a:solidFill>
                    <a:latin typeface="Aptos" panose="020B0004020202020204" pitchFamily="34" charset="0"/>
                  </a:rPr>
                  <a:t>Localización del Daño (</a:t>
                </a:r>
                <a14:m>
                  <m:oMath xmlns:m="http://schemas.openxmlformats.org/officeDocument/2006/math">
                    <m:sSub>
                      <m:sSubPr>
                        <m:ctrlPr>
                          <a:rPr lang="es-GT" sz="2200" b="1" i="1">
                            <a:solidFill>
                              <a:schemeClr val="bg1"/>
                            </a:solidFill>
                            <a:latin typeface="Cambria Math" panose="02040503050406030204" pitchFamily="18" charset="0"/>
                          </a:rPr>
                        </m:ctrlPr>
                      </m:sSubPr>
                      <m:e>
                        <m:r>
                          <a:rPr lang="es-GT" sz="2200" b="1" i="1">
                            <a:solidFill>
                              <a:schemeClr val="bg1"/>
                            </a:solidFill>
                            <a:latin typeface="Cambria Math" panose="02040503050406030204" pitchFamily="18" charset="0"/>
                          </a:rPr>
                          <m:t>𝑳</m:t>
                        </m:r>
                      </m:e>
                      <m:sub>
                        <m:r>
                          <a:rPr lang="es-GT" sz="2200" b="1" i="1">
                            <a:solidFill>
                              <a:schemeClr val="bg1"/>
                            </a:solidFill>
                            <a:latin typeface="Cambria Math" panose="02040503050406030204" pitchFamily="18" charset="0"/>
                          </a:rPr>
                          <m:t>𝒑</m:t>
                        </m:r>
                      </m:sub>
                    </m:sSub>
                  </m:oMath>
                </a14:m>
                <a:r>
                  <a:rPr lang="es-GT" sz="2200" b="1" dirty="0">
                    <a:solidFill>
                      <a:schemeClr val="bg1"/>
                    </a:solidFill>
                    <a:latin typeface="Aptos" panose="020B0004020202020204" pitchFamily="34" charset="0"/>
                  </a:rPr>
                  <a:t>)</a:t>
                </a:r>
              </a:p>
              <a:p>
                <a:pPr algn="just"/>
                <a:r>
                  <a:rPr lang="es-GT" sz="2200" dirty="0">
                    <a:solidFill>
                      <a:schemeClr val="bg1"/>
                    </a:solidFill>
                    <a:latin typeface="Aptos" panose="020B0004020202020204" pitchFamily="34" charset="0"/>
                  </a:rPr>
                  <a:t>El cálculo de la longitud de la rótula plástica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𝐿</m:t>
                        </m:r>
                      </m:e>
                      <m:sub>
                        <m:r>
                          <a:rPr lang="es-GT" sz="2200" i="1">
                            <a:solidFill>
                              <a:schemeClr val="bg1"/>
                            </a:solidFill>
                            <a:latin typeface="Cambria Math" panose="02040503050406030204" pitchFamily="18" charset="0"/>
                          </a:rPr>
                          <m:t>𝑝</m:t>
                        </m:r>
                      </m:sub>
                    </m:sSub>
                  </m:oMath>
                </a14:m>
                <a:r>
                  <a:rPr lang="es-GT" sz="2200" dirty="0">
                    <a:solidFill>
                      <a:schemeClr val="bg1"/>
                    </a:solidFill>
                    <a:latin typeface="Aptos" panose="020B0004020202020204" pitchFamily="34" charset="0"/>
                  </a:rPr>
                  <a:t>) es el momento exacto en que la teoría de Mander se convierte en un plano de construcción real y optimizado. Este paso responde a la pregunta constructiva fundamental: </a:t>
                </a:r>
                <a:r>
                  <a:rPr lang="es-GT" sz="2200" i="1" dirty="0">
                    <a:solidFill>
                      <a:schemeClr val="bg1"/>
                    </a:solidFill>
                    <a:latin typeface="Aptos" panose="020B0004020202020204" pitchFamily="34" charset="0"/>
                  </a:rPr>
                  <a:t>¿Dónde debemos concentrar exactamente nuestro acero de confinamiento extremo?</a:t>
                </a:r>
              </a:p>
              <a:p>
                <a:pPr algn="just"/>
                <a:endParaRPr lang="es-GT" sz="2200" i="1" dirty="0">
                  <a:solidFill>
                    <a:schemeClr val="bg1"/>
                  </a:solidFill>
                  <a:latin typeface="Aptos" panose="020B0004020202020204" pitchFamily="34" charset="0"/>
                </a:endParaRPr>
              </a:p>
              <a:p>
                <a:pPr algn="just"/>
                <a:r>
                  <a:rPr lang="es-GT" sz="2200" dirty="0">
                    <a:solidFill>
                      <a:schemeClr val="bg1"/>
                    </a:solidFill>
                    <a:latin typeface="Aptos" panose="020B0004020202020204" pitchFamily="34" charset="0"/>
                  </a:rPr>
                  <a:t>La fórmula empírica de AASHTO LRFD y </a:t>
                </a:r>
                <a:r>
                  <a:rPr lang="es-GT" sz="2200" dirty="0" err="1">
                    <a:solidFill>
                      <a:schemeClr val="bg1"/>
                    </a:solidFill>
                    <a:latin typeface="Aptos" panose="020B0004020202020204" pitchFamily="34" charset="0"/>
                  </a:rPr>
                  <a:t>Caltrans</a:t>
                </a:r>
                <a:r>
                  <a:rPr lang="es-GT" sz="2200" dirty="0">
                    <a:solidFill>
                      <a:schemeClr val="bg1"/>
                    </a:solidFill>
                    <a:latin typeface="Aptos" panose="020B0004020202020204" pitchFamily="34" charset="0"/>
                  </a:rPr>
                  <a:t> para determinar la longitud de la rótula plástica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𝐿</m:t>
                        </m:r>
                      </m:e>
                      <m:sub>
                        <m:r>
                          <a:rPr lang="es-GT" sz="2200" i="1">
                            <a:solidFill>
                              <a:schemeClr val="bg1"/>
                            </a:solidFill>
                            <a:latin typeface="Cambria Math" panose="02040503050406030204" pitchFamily="18" charset="0"/>
                          </a:rPr>
                          <m:t>𝑝</m:t>
                        </m:r>
                      </m:sub>
                    </m:sSub>
                  </m:oMath>
                </a14:m>
                <a:r>
                  <a:rPr lang="es-GT" sz="2200" dirty="0">
                    <a:solidFill>
                      <a:schemeClr val="bg1"/>
                    </a:solidFill>
                    <a:latin typeface="Aptos" panose="020B0004020202020204" pitchFamily="34" charset="0"/>
                  </a:rPr>
                  <a:t>) en unidades inglesas se divide en la ecuación principal y un chequeo de límite mínimo.</a:t>
                </a:r>
              </a:p>
              <a:p>
                <a:pPr algn="just"/>
                <a:endParaRPr lang="es-GT" sz="2200" dirty="0">
                  <a:solidFill>
                    <a:schemeClr val="bg1"/>
                  </a:solidFill>
                  <a:latin typeface="Aptos" panose="020B0004020202020204" pitchFamily="34" charset="0"/>
                </a:endParaRPr>
              </a:p>
              <a:p>
                <a:pPr algn="just"/>
                <a:r>
                  <a:rPr lang="es-GT" sz="2200" b="1" dirty="0">
                    <a:solidFill>
                      <a:srgbClr val="00B0F0"/>
                    </a:solidFill>
                    <a:latin typeface="Aptos" panose="020B0004020202020204" pitchFamily="34" charset="0"/>
                  </a:rPr>
                  <a:t>a). Ecuación Principal:</a:t>
                </a:r>
              </a:p>
              <a:p>
                <a:pPr algn="just"/>
                <a:endParaRPr lang="es-GT" sz="2200" dirty="0">
                  <a:solidFill>
                    <a:srgbClr val="00B0F0"/>
                  </a:solidFill>
                  <a:latin typeface="Aptos" panose="020B0004020202020204" pitchFamily="34" charset="0"/>
                </a:endParaRPr>
              </a:p>
              <a:p>
                <a:pPr algn="just"/>
                <a14:m>
                  <m:oMathPara xmlns:m="http://schemas.openxmlformats.org/officeDocument/2006/math">
                    <m:o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𝐿</m:t>
                          </m:r>
                        </m:e>
                        <m:sub>
                          <m:r>
                            <a:rPr lang="es-GT" sz="2200" i="1">
                              <a:solidFill>
                                <a:schemeClr val="bg1"/>
                              </a:solidFill>
                              <a:latin typeface="Cambria Math" panose="02040503050406030204" pitchFamily="18" charset="0"/>
                            </a:rPr>
                            <m:t>𝑝</m:t>
                          </m:r>
                        </m:sub>
                      </m:sSub>
                      <m:r>
                        <a:rPr lang="es-GT" sz="2200">
                          <a:solidFill>
                            <a:schemeClr val="bg1"/>
                          </a:solidFill>
                          <a:latin typeface="Cambria Math" panose="02040503050406030204" pitchFamily="18" charset="0"/>
                        </a:rPr>
                        <m:t>=0.08</m:t>
                      </m:r>
                      <m:r>
                        <a:rPr lang="es-GT" sz="2200" i="1">
                          <a:solidFill>
                            <a:schemeClr val="bg1"/>
                          </a:solidFill>
                          <a:latin typeface="Cambria Math" panose="02040503050406030204" pitchFamily="18" charset="0"/>
                        </a:rPr>
                        <m:t>𝐿</m:t>
                      </m:r>
                      <m:r>
                        <a:rPr lang="es-GT" sz="2200">
                          <a:solidFill>
                            <a:schemeClr val="bg1"/>
                          </a:solidFill>
                          <a:latin typeface="Cambria Math" panose="02040503050406030204" pitchFamily="18" charset="0"/>
                        </a:rPr>
                        <m:t>+0.15</m:t>
                      </m:r>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𝑓</m:t>
                          </m:r>
                        </m:e>
                        <m:sub>
                          <m:r>
                            <a:rPr lang="es-GT" sz="2200" i="1">
                              <a:solidFill>
                                <a:schemeClr val="bg1"/>
                              </a:solidFill>
                              <a:latin typeface="Cambria Math" panose="02040503050406030204" pitchFamily="18" charset="0"/>
                            </a:rPr>
                            <m:t>𝑦𝑒</m:t>
                          </m:r>
                        </m:sub>
                      </m:sSub>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𝑑</m:t>
                          </m:r>
                        </m:e>
                        <m:sub>
                          <m:r>
                            <a:rPr lang="es-GT" sz="2200" i="1">
                              <a:solidFill>
                                <a:schemeClr val="bg1"/>
                              </a:solidFill>
                              <a:latin typeface="Cambria Math" panose="02040503050406030204" pitchFamily="18" charset="0"/>
                            </a:rPr>
                            <m:t>𝑏𝑙</m:t>
                          </m:r>
                        </m:sub>
                      </m:sSub>
                    </m:oMath>
                  </m:oMathPara>
                </a14:m>
                <a:endParaRPr lang="es-GT" sz="2200" dirty="0">
                  <a:solidFill>
                    <a:schemeClr val="bg1"/>
                  </a:solidFill>
                  <a:latin typeface="Aptos" panose="020B0004020202020204" pitchFamily="34" charset="0"/>
                </a:endParaRPr>
              </a:p>
              <a:p>
                <a:pPr algn="just"/>
                <a:endParaRPr lang="es-GT" sz="2200" i="1" dirty="0">
                  <a:solidFill>
                    <a:schemeClr val="bg1"/>
                  </a:solidFill>
                  <a:latin typeface="Aptos" panose="020B0004020202020204" pitchFamily="34" charset="0"/>
                </a:endParaRPr>
              </a:p>
              <a:p>
                <a:pPr algn="just"/>
                <a:endParaRPr lang="es-GT" sz="2200" dirty="0">
                  <a:solidFill>
                    <a:schemeClr val="bg1"/>
                  </a:solidFill>
                  <a:latin typeface="Aptos" panose="020B0004020202020204" pitchFamily="34" charset="0"/>
                </a:endParaRPr>
              </a:p>
            </p:txBody>
          </p:sp>
        </mc:Choice>
        <mc:Fallback xmlns="">
          <p:sp>
            <p:nvSpPr>
              <p:cNvPr id="11" name="CuadroTexto 10">
                <a:extLst>
                  <a:ext uri="{FF2B5EF4-FFF2-40B4-BE49-F238E27FC236}">
                    <a16:creationId xmlns:a16="http://schemas.microsoft.com/office/drawing/2014/main" id="{20F636A0-8AA0-44D3-E947-99DB40B54608}"/>
                  </a:ext>
                </a:extLst>
              </p:cNvPr>
              <p:cNvSpPr txBox="1">
                <a:spLocks noRot="1" noChangeAspect="1" noMove="1" noResize="1" noEditPoints="1" noAdjustHandles="1" noChangeArrowheads="1" noChangeShapeType="1" noTextEdit="1"/>
              </p:cNvSpPr>
              <p:nvPr/>
            </p:nvSpPr>
            <p:spPr>
              <a:xfrm>
                <a:off x="762000" y="1356751"/>
                <a:ext cx="10858501" cy="5292346"/>
              </a:xfrm>
              <a:prstGeom prst="rect">
                <a:avLst/>
              </a:prstGeom>
              <a:blipFill>
                <a:blip r:embed="rId5"/>
                <a:stretch>
                  <a:fillRect l="-730" t="-576" r="-730"/>
                </a:stretch>
              </a:blipFill>
            </p:spPr>
            <p:txBody>
              <a:bodyPr/>
              <a:lstStyle/>
              <a:p>
                <a:r>
                  <a:rPr lang="es-GT">
                    <a:noFill/>
                  </a:rPr>
                  <a:t> </a:t>
                </a:r>
              </a:p>
            </p:txBody>
          </p:sp>
        </mc:Fallback>
      </mc:AlternateContent>
      <p:sp>
        <p:nvSpPr>
          <p:cNvPr id="99" name="Google Shape;99;p14">
            <a:extLst>
              <a:ext uri="{FF2B5EF4-FFF2-40B4-BE49-F238E27FC236}">
                <a16:creationId xmlns:a16="http://schemas.microsoft.com/office/drawing/2014/main" id="{BB775138-5CD0-68B2-CEAD-3D7B87B367B1}"/>
              </a:ext>
            </a:extLst>
          </p:cNvPr>
          <p:cNvSpPr/>
          <p:nvPr/>
        </p:nvSpPr>
        <p:spPr>
          <a:xfrm>
            <a:off x="571499" y="1457838"/>
            <a:ext cx="45719" cy="969390"/>
          </a:xfrm>
          <a:prstGeom prst="rect">
            <a:avLst/>
          </a:prstGeom>
          <a:solidFill>
            <a:srgbClr val="FCD3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CuadroTexto 2">
            <a:extLst>
              <a:ext uri="{FF2B5EF4-FFF2-40B4-BE49-F238E27FC236}">
                <a16:creationId xmlns:a16="http://schemas.microsoft.com/office/drawing/2014/main" id="{257834BD-90CA-FC6C-5345-2A9F0E109C42}"/>
              </a:ext>
            </a:extLst>
          </p:cNvPr>
          <p:cNvSpPr txBox="1"/>
          <p:nvPr/>
        </p:nvSpPr>
        <p:spPr>
          <a:xfrm>
            <a:off x="672963" y="697912"/>
            <a:ext cx="11097710" cy="461665"/>
          </a:xfrm>
          <a:prstGeom prst="rect">
            <a:avLst/>
          </a:prstGeom>
          <a:noFill/>
        </p:spPr>
        <p:txBody>
          <a:bodyPr wrap="square">
            <a:spAutoFit/>
          </a:bodyPr>
          <a:lstStyle/>
          <a:p>
            <a:pPr lvl="0"/>
            <a:r>
              <a:rPr lang="es-GT" sz="2400" dirty="0">
                <a:solidFill>
                  <a:schemeClr val="tx2">
                    <a:lumMod val="50000"/>
                  </a:schemeClr>
                </a:solidFill>
              </a:rPr>
              <a:t>Taller Analítico de </a:t>
            </a:r>
            <a:r>
              <a:rPr lang="es-GT" sz="2400" dirty="0" err="1">
                <a:solidFill>
                  <a:schemeClr val="tx2">
                    <a:lumMod val="50000"/>
                  </a:schemeClr>
                </a:solidFill>
              </a:rPr>
              <a:t>Sobrerresistencia</a:t>
            </a:r>
            <a:r>
              <a:rPr lang="es-GT" sz="2400" dirty="0">
                <a:solidFill>
                  <a:schemeClr val="tx2">
                    <a:lumMod val="50000"/>
                  </a:schemeClr>
                </a:solidFill>
              </a:rPr>
              <a:t> </a:t>
            </a:r>
            <a:endParaRPr lang="es-GT" sz="2300" dirty="0">
              <a:solidFill>
                <a:schemeClr val="tx2">
                  <a:lumMod val="50000"/>
                </a:schemeClr>
              </a:solidFill>
            </a:endParaRPr>
          </a:p>
        </p:txBody>
      </p:sp>
    </p:spTree>
    <p:extLst>
      <p:ext uri="{BB962C8B-B14F-4D97-AF65-F5344CB8AC3E}">
        <p14:creationId xmlns:p14="http://schemas.microsoft.com/office/powerpoint/2010/main" val="4085411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12185E77-0EE8-1D16-3182-38F6B0ABD302}"/>
            </a:ext>
          </a:extLst>
        </p:cNvPr>
        <p:cNvGrpSpPr/>
        <p:nvPr/>
      </p:nvGrpSpPr>
      <p:grpSpPr>
        <a:xfrm>
          <a:off x="0" y="0"/>
          <a:ext cx="0" cy="0"/>
          <a:chOff x="0" y="0"/>
          <a:chExt cx="0" cy="0"/>
        </a:xfrm>
      </p:grpSpPr>
      <p:pic>
        <p:nvPicPr>
          <p:cNvPr id="93" name="Google Shape;93;p14" descr="image.png">
            <a:extLst>
              <a:ext uri="{FF2B5EF4-FFF2-40B4-BE49-F238E27FC236}">
                <a16:creationId xmlns:a16="http://schemas.microsoft.com/office/drawing/2014/main" id="{30A1679C-3D53-0700-AB20-4CF641E440E9}"/>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4" name="Google Shape;94;p14">
            <a:extLst>
              <a:ext uri="{FF2B5EF4-FFF2-40B4-BE49-F238E27FC236}">
                <a16:creationId xmlns:a16="http://schemas.microsoft.com/office/drawing/2014/main" id="{4AE93C80-33A6-4BEE-CD95-B27247C43FC6}"/>
              </a:ext>
            </a:extLst>
          </p:cNvPr>
          <p:cNvSpPr txBox="1"/>
          <p:nvPr/>
        </p:nvSpPr>
        <p:spPr>
          <a:xfrm>
            <a:off x="762000" y="170544"/>
            <a:ext cx="8844116" cy="1015663"/>
          </a:xfrm>
          <a:prstGeom prst="rect">
            <a:avLst/>
          </a:prstGeom>
          <a:noFill/>
          <a:ln>
            <a:noFill/>
          </a:ln>
        </p:spPr>
        <p:txBody>
          <a:bodyPr spcFirstLastPara="1" wrap="square" lIns="0" tIns="0" rIns="0" bIns="0" anchor="t" anchorCtr="0">
            <a:spAutoFit/>
          </a:bodyPr>
          <a:lstStyle/>
          <a:p>
            <a:r>
              <a:rPr lang="es-GT" sz="3300" b="1" dirty="0">
                <a:solidFill>
                  <a:srgbClr val="00B0F0"/>
                </a:solidFill>
                <a:latin typeface="Aptos" panose="020B0004020202020204" pitchFamily="34" charset="0"/>
              </a:rPr>
              <a:t>Teoría del Diseño por Capacidad </a:t>
            </a:r>
            <a:endParaRPr lang="es-GT" sz="3300" b="1" dirty="0">
              <a:solidFill>
                <a:srgbClr val="00B0F0"/>
              </a:solidFill>
              <a:latin typeface="Aptos" panose="020B0004020202020204" pitchFamily="34" charset="0"/>
              <a:ea typeface="Montserrat"/>
              <a:cs typeface="Montserrat"/>
              <a:sym typeface="Montserrat"/>
            </a:endParaRPr>
          </a:p>
          <a:p>
            <a:pPr lvl="0"/>
            <a:endParaRPr sz="3300" b="1" i="0" u="none" strike="noStrike" cap="none" dirty="0">
              <a:solidFill>
                <a:srgbClr val="00B0F0"/>
              </a:solidFill>
              <a:latin typeface="Montserrat"/>
              <a:ea typeface="Montserrat"/>
              <a:cs typeface="Montserrat"/>
              <a:sym typeface="Montserrat"/>
            </a:endParaRPr>
          </a:p>
        </p:txBody>
      </p:sp>
      <p:sp>
        <p:nvSpPr>
          <p:cNvPr id="95" name="Google Shape;95;p14">
            <a:extLst>
              <a:ext uri="{FF2B5EF4-FFF2-40B4-BE49-F238E27FC236}">
                <a16:creationId xmlns:a16="http://schemas.microsoft.com/office/drawing/2014/main" id="{56EDA870-E800-631E-0897-C20DF44820E7}"/>
              </a:ext>
            </a:extLst>
          </p:cNvPr>
          <p:cNvSpPr/>
          <p:nvPr/>
        </p:nvSpPr>
        <p:spPr>
          <a:xfrm>
            <a:off x="571499" y="163691"/>
            <a:ext cx="57150" cy="906684"/>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 name="Google Shape;108;p15" descr="image.png">
            <a:extLst>
              <a:ext uri="{FF2B5EF4-FFF2-40B4-BE49-F238E27FC236}">
                <a16:creationId xmlns:a16="http://schemas.microsoft.com/office/drawing/2014/main" id="{DBB8DD57-B7BE-B90E-2018-64B6FE97A7BB}"/>
              </a:ext>
            </a:extLst>
          </p:cNvPr>
          <p:cNvPicPr preferRelativeResize="0"/>
          <p:nvPr/>
        </p:nvPicPr>
        <p:blipFill rotWithShape="1">
          <a:blip r:embed="rId4">
            <a:alphaModFix/>
          </a:blip>
          <a:srcRect/>
          <a:stretch/>
        </p:blipFill>
        <p:spPr>
          <a:xfrm>
            <a:off x="382728" y="1159577"/>
            <a:ext cx="11426544" cy="5443648"/>
          </a:xfrm>
          <a:prstGeom prst="rect">
            <a:avLst/>
          </a:prstGeom>
          <a:noFill/>
          <a:ln>
            <a:noFill/>
          </a:ln>
        </p:spPr>
      </p:pic>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D3514BC5-0002-97F1-92D5-C66781198316}"/>
                  </a:ext>
                </a:extLst>
              </p:cNvPr>
              <p:cNvSpPr txBox="1"/>
              <p:nvPr/>
            </p:nvSpPr>
            <p:spPr>
              <a:xfrm>
                <a:off x="762000" y="1356751"/>
                <a:ext cx="10858501" cy="5280869"/>
              </a:xfrm>
              <a:prstGeom prst="rect">
                <a:avLst/>
              </a:prstGeom>
              <a:noFill/>
            </p:spPr>
            <p:txBody>
              <a:bodyPr wrap="square">
                <a:spAutoFit/>
              </a:bodyPr>
              <a:lstStyle/>
              <a:p>
                <a:pPr algn="just"/>
                <a14:m>
                  <m:oMath xmlns:m="http://schemas.openxmlformats.org/officeDocument/2006/math">
                    <m:r>
                      <a:rPr lang="es-GT" sz="2200" i="1" smtClean="0">
                        <a:solidFill>
                          <a:schemeClr val="bg1"/>
                        </a:solidFill>
                        <a:latin typeface="Cambria Math" panose="02040503050406030204" pitchFamily="18" charset="0"/>
                      </a:rPr>
                      <m:t>𝐿</m:t>
                    </m:r>
                    <m:r>
                      <a:rPr lang="es-GT" sz="2200" i="1" smtClean="0">
                        <a:solidFill>
                          <a:schemeClr val="bg1"/>
                        </a:solidFill>
                        <a:latin typeface="Cambria Math" panose="02040503050406030204" pitchFamily="18" charset="0"/>
                      </a:rPr>
                      <m:t>: </m:t>
                    </m:r>
                  </m:oMath>
                </a14:m>
                <a:r>
                  <a:rPr lang="es-GT" sz="2200" dirty="0">
                    <a:solidFill>
                      <a:schemeClr val="bg1"/>
                    </a:solidFill>
                    <a:latin typeface="Aptos" panose="020B0004020202020204" pitchFamily="34" charset="0"/>
                  </a:rPr>
                  <a:t>La </a:t>
                </a:r>
                <a:r>
                  <a:rPr lang="es-GT" sz="2200" b="1" dirty="0">
                    <a:solidFill>
                      <a:schemeClr val="bg1"/>
                    </a:solidFill>
                    <a:latin typeface="Aptos" panose="020B0004020202020204" pitchFamily="34" charset="0"/>
                  </a:rPr>
                  <a:t>distancia desde la sección de momento máximo hasta el punto de </a:t>
                </a:r>
                <a:r>
                  <a:rPr lang="es-GT" sz="2200" b="1" dirty="0" err="1">
                    <a:solidFill>
                      <a:schemeClr val="bg1"/>
                    </a:solidFill>
                    <a:latin typeface="Aptos" panose="020B0004020202020204" pitchFamily="34" charset="0"/>
                  </a:rPr>
                  <a:t>contraflexión</a:t>
                </a:r>
                <a:r>
                  <a:rPr lang="es-GT" sz="2200" b="1" dirty="0">
                    <a:solidFill>
                      <a:schemeClr val="bg1"/>
                    </a:solidFill>
                    <a:latin typeface="Aptos" panose="020B0004020202020204" pitchFamily="34" charset="0"/>
                  </a:rPr>
                  <a:t> (momento nulo)</a:t>
                </a:r>
                <a:r>
                  <a:rPr lang="es-GT" sz="2200" dirty="0">
                    <a:solidFill>
                      <a:schemeClr val="bg1"/>
                    </a:solidFill>
                    <a:latin typeface="Aptos" panose="020B0004020202020204" pitchFamily="34" charset="0"/>
                  </a:rPr>
                  <a:t>.</a:t>
                </a:r>
              </a:p>
              <a:p>
                <a:pPr algn="just"/>
                <a:endParaRPr lang="es-GT" sz="2200" b="1" dirty="0">
                  <a:solidFill>
                    <a:schemeClr val="bg1"/>
                  </a:solidFill>
                  <a:latin typeface="Aptos" panose="020B0004020202020204" pitchFamily="34" charset="0"/>
                </a:endParaRPr>
              </a:p>
              <a:p>
                <a:pPr algn="just"/>
                <a:r>
                  <a:rPr lang="es-GT" sz="2200" b="1" dirty="0">
                    <a:solidFill>
                      <a:srgbClr val="00B0F0"/>
                    </a:solidFill>
                    <a:latin typeface="Aptos" panose="020B0004020202020204" pitchFamily="34" charset="0"/>
                  </a:rPr>
                  <a:t>La Física detrás de la Ecuación</a:t>
                </a:r>
                <a:r>
                  <a:rPr lang="es-GT" sz="2200" dirty="0">
                    <a:solidFill>
                      <a:srgbClr val="00B0F0"/>
                    </a:solidFill>
                    <a:latin typeface="Aptos" panose="020B0004020202020204" pitchFamily="34" charset="0"/>
                  </a:rPr>
                  <a:t>: </a:t>
                </a:r>
                <a:r>
                  <a:rPr lang="es-GT" sz="2200" dirty="0">
                    <a:solidFill>
                      <a:schemeClr val="bg1"/>
                    </a:solidFill>
                    <a:latin typeface="Aptos" panose="020B0004020202020204" pitchFamily="34" charset="0"/>
                  </a:rPr>
                  <a:t>El confinamiento extremo no se coloca en toda la columna, solo donde se formará la rótula plástica. Usando la varilla No. 14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𝑑</m:t>
                        </m:r>
                      </m:e>
                      <m:sub>
                        <m:r>
                          <a:rPr lang="es-GT" sz="2200" i="1">
                            <a:solidFill>
                              <a:schemeClr val="bg1"/>
                            </a:solidFill>
                            <a:latin typeface="Cambria Math" panose="02040503050406030204" pitchFamily="18" charset="0"/>
                          </a:rPr>
                          <m:t>𝑏𝑙</m:t>
                        </m:r>
                      </m:sub>
                    </m:sSub>
                    <m:r>
                      <a:rPr lang="es-GT" sz="2200" i="1">
                        <a:solidFill>
                          <a:schemeClr val="bg1"/>
                        </a:solidFill>
                        <a:latin typeface="Cambria Math" panose="02040503050406030204" pitchFamily="18" charset="0"/>
                      </a:rPr>
                      <m:t>=1.693</m:t>
                    </m:r>
                  </m:oMath>
                </a14:m>
                <a:r>
                  <a:rPr lang="es-GT" sz="2200" dirty="0">
                    <a:solidFill>
                      <a:schemeClr val="bg1"/>
                    </a:solidFill>
                    <a:latin typeface="Aptos" panose="020B0004020202020204" pitchFamily="34" charset="0"/>
                  </a:rPr>
                  <a:t>) y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𝑓</m:t>
                        </m:r>
                      </m:e>
                      <m:sub>
                        <m:r>
                          <a:rPr lang="es-GT" sz="2200" i="1">
                            <a:solidFill>
                              <a:schemeClr val="bg1"/>
                            </a:solidFill>
                            <a:latin typeface="Cambria Math" panose="02040503050406030204" pitchFamily="18" charset="0"/>
                          </a:rPr>
                          <m:t>𝑦𝑒</m:t>
                        </m:r>
                      </m:sub>
                    </m:sSub>
                    <m:r>
                      <a:rPr lang="es-GT" sz="2200" i="1">
                        <a:solidFill>
                          <a:schemeClr val="bg1"/>
                        </a:solidFill>
                        <a:latin typeface="Cambria Math" panose="02040503050406030204" pitchFamily="18" charset="0"/>
                      </a:rPr>
                      <m:t>=66</m:t>
                    </m:r>
                  </m:oMath>
                </a14:m>
                <a:endParaRPr lang="es-GT" sz="2200" dirty="0">
                  <a:solidFill>
                    <a:schemeClr val="bg1"/>
                  </a:solidFill>
                  <a:latin typeface="Aptos" panose="020B0004020202020204" pitchFamily="34" charset="0"/>
                </a:endParaRPr>
              </a:p>
              <a:p>
                <a:pPr algn="just"/>
                <a:r>
                  <a:rPr lang="es-GT" sz="2400" dirty="0"/>
                  <a:t> </a:t>
                </a:r>
                <a14:m>
                  <m:oMath xmlns:m="http://schemas.openxmlformats.org/officeDocument/2006/math">
                    <m:r>
                      <a:rPr lang="es-GT" sz="2200" i="1">
                        <a:solidFill>
                          <a:schemeClr val="bg1"/>
                        </a:solidFill>
                        <a:latin typeface="Cambria Math" panose="02040503050406030204" pitchFamily="18" charset="0"/>
                      </a:rPr>
                      <m:t>𝐿</m:t>
                    </m:r>
                    <m:r>
                      <a:rPr lang="es-GT" sz="2200" i="1">
                        <a:solidFill>
                          <a:schemeClr val="bg1"/>
                        </a:solidFill>
                        <a:latin typeface="Cambria Math" panose="02040503050406030204" pitchFamily="18" charset="0"/>
                      </a:rPr>
                      <m:t>=240</m:t>
                    </m:r>
                    <m:r>
                      <m:rPr>
                        <m:nor/>
                      </m:rPr>
                      <a:rPr lang="es-GT" sz="2200" i="0">
                        <a:solidFill>
                          <a:schemeClr val="bg1"/>
                        </a:solidFill>
                        <a:latin typeface="Aptos" panose="020B0004020202020204" pitchFamily="34" charset="0"/>
                      </a:rPr>
                      <m:t> in</m:t>
                    </m:r>
                    <m:r>
                      <a:rPr lang="es-GT" sz="2200" i="1">
                        <a:solidFill>
                          <a:schemeClr val="bg1"/>
                        </a:solidFill>
                        <a:latin typeface="Cambria Math" panose="02040503050406030204" pitchFamily="18" charset="0"/>
                      </a:rPr>
                      <m:t>/2=120</m:t>
                    </m:r>
                    <m:r>
                      <m:rPr>
                        <m:nor/>
                      </m:rPr>
                      <a:rPr lang="es-GT" sz="2200" i="0">
                        <a:solidFill>
                          <a:schemeClr val="bg1"/>
                        </a:solidFill>
                        <a:latin typeface="Aptos" panose="020B0004020202020204" pitchFamily="34" charset="0"/>
                      </a:rPr>
                      <m:t> in</m:t>
                    </m:r>
                  </m:oMath>
                </a14:m>
                <a:r>
                  <a:rPr lang="es-GT" sz="2200" dirty="0">
                    <a:solidFill>
                      <a:schemeClr val="bg1"/>
                    </a:solidFill>
                    <a:latin typeface="Aptos" panose="020B0004020202020204" pitchFamily="34" charset="0"/>
                  </a:rPr>
                  <a:t>.</a:t>
                </a:r>
                <a:endParaRPr lang="es-GT" sz="2200" b="1" dirty="0">
                  <a:solidFill>
                    <a:schemeClr val="bg1"/>
                  </a:solidFill>
                  <a:latin typeface="Aptos" panose="020B0004020202020204" pitchFamily="34" charset="0"/>
                </a:endParaRPr>
              </a:p>
              <a:p>
                <a:endParaRPr lang="es-GT" sz="2200" dirty="0">
                  <a:solidFill>
                    <a:schemeClr val="bg1"/>
                  </a:solidFill>
                  <a:latin typeface="Aptos" panose="020B0004020202020204" pitchFamily="34" charset="0"/>
                </a:endParaRPr>
              </a:p>
              <a:p>
                <a:pPr/>
                <a14:m>
                  <m:oMathPara xmlns:m="http://schemas.openxmlformats.org/officeDocument/2006/math">
                    <m:o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𝐿</m:t>
                          </m:r>
                        </m:e>
                        <m:sub>
                          <m:r>
                            <a:rPr lang="es-GT" sz="2200" i="1">
                              <a:solidFill>
                                <a:schemeClr val="bg1"/>
                              </a:solidFill>
                              <a:latin typeface="Cambria Math" panose="02040503050406030204" pitchFamily="18" charset="0"/>
                            </a:rPr>
                            <m:t>𝑝</m:t>
                          </m:r>
                        </m:sub>
                      </m:sSub>
                      <m:r>
                        <a:rPr lang="es-GT" sz="2200" i="1">
                          <a:solidFill>
                            <a:schemeClr val="bg1"/>
                          </a:solidFill>
                          <a:latin typeface="Cambria Math" panose="02040503050406030204" pitchFamily="18" charset="0"/>
                        </a:rPr>
                        <m:t>=0.08</m:t>
                      </m:r>
                      <m:d>
                        <m:dPr>
                          <m:ctrlPr>
                            <a:rPr lang="es-ES" sz="2200" b="0" i="1" smtClean="0">
                              <a:solidFill>
                                <a:schemeClr val="bg1"/>
                              </a:solidFill>
                              <a:latin typeface="Cambria Math" panose="02040503050406030204" pitchFamily="18" charset="0"/>
                            </a:rPr>
                          </m:ctrlPr>
                        </m:dPr>
                        <m:e>
                          <m:r>
                            <a:rPr lang="es-ES" sz="2200" b="0" i="1" smtClean="0">
                              <a:solidFill>
                                <a:schemeClr val="bg1"/>
                              </a:solidFill>
                              <a:latin typeface="Cambria Math" panose="02040503050406030204" pitchFamily="18" charset="0"/>
                            </a:rPr>
                            <m:t>12</m:t>
                          </m:r>
                          <m:r>
                            <a:rPr lang="es-GT" sz="2200" i="1">
                              <a:solidFill>
                                <a:schemeClr val="bg1"/>
                              </a:solidFill>
                              <a:latin typeface="Cambria Math" panose="02040503050406030204" pitchFamily="18" charset="0"/>
                            </a:rPr>
                            <m:t>0</m:t>
                          </m:r>
                          <m:r>
                            <m:rPr>
                              <m:nor/>
                            </m:rPr>
                            <a:rPr lang="es-GT" sz="2200" i="0">
                              <a:solidFill>
                                <a:schemeClr val="bg1"/>
                              </a:solidFill>
                              <a:latin typeface="Aptos" panose="020B0004020202020204" pitchFamily="34" charset="0"/>
                            </a:rPr>
                            <m:t> in</m:t>
                          </m:r>
                        </m:e>
                      </m:d>
                      <m:r>
                        <a:rPr lang="es-GT" sz="2200" i="1">
                          <a:solidFill>
                            <a:schemeClr val="bg1"/>
                          </a:solidFill>
                          <a:latin typeface="Cambria Math" panose="02040503050406030204" pitchFamily="18" charset="0"/>
                        </a:rPr>
                        <m:t>+0.15</m:t>
                      </m:r>
                      <m:d>
                        <m:dPr>
                          <m:ctrlPr>
                            <a:rPr lang="es-GT" sz="2200" i="1">
                              <a:solidFill>
                                <a:schemeClr val="bg1"/>
                              </a:solidFill>
                              <a:latin typeface="Cambria Math" panose="02040503050406030204" pitchFamily="18" charset="0"/>
                            </a:rPr>
                          </m:ctrlPr>
                        </m:dPr>
                        <m:e>
                          <m:r>
                            <a:rPr lang="es-GT" sz="2200" i="1">
                              <a:solidFill>
                                <a:schemeClr val="bg1"/>
                              </a:solidFill>
                              <a:latin typeface="Cambria Math" panose="02040503050406030204" pitchFamily="18" charset="0"/>
                            </a:rPr>
                            <m:t>66</m:t>
                          </m:r>
                          <m:r>
                            <m:rPr>
                              <m:nor/>
                            </m:rPr>
                            <a:rPr lang="es-GT" sz="2200" i="0">
                              <a:solidFill>
                                <a:schemeClr val="bg1"/>
                              </a:solidFill>
                              <a:latin typeface="Aptos" panose="020B0004020202020204" pitchFamily="34" charset="0"/>
                            </a:rPr>
                            <m:t> ksi</m:t>
                          </m:r>
                        </m:e>
                      </m:d>
                      <m:d>
                        <m:dPr>
                          <m:ctrlPr>
                            <a:rPr lang="es-GT" sz="2200" i="1">
                              <a:solidFill>
                                <a:schemeClr val="bg1"/>
                              </a:solidFill>
                              <a:latin typeface="Cambria Math" panose="02040503050406030204" pitchFamily="18" charset="0"/>
                            </a:rPr>
                          </m:ctrlPr>
                        </m:dPr>
                        <m:e>
                          <m:r>
                            <a:rPr lang="es-GT" sz="2200" i="1">
                              <a:solidFill>
                                <a:schemeClr val="bg1"/>
                              </a:solidFill>
                              <a:latin typeface="Cambria Math" panose="02040503050406030204" pitchFamily="18" charset="0"/>
                            </a:rPr>
                            <m:t>1.693</m:t>
                          </m:r>
                          <m:r>
                            <m:rPr>
                              <m:nor/>
                            </m:rPr>
                            <a:rPr lang="es-GT" sz="2200" i="0">
                              <a:solidFill>
                                <a:schemeClr val="bg1"/>
                              </a:solidFill>
                              <a:latin typeface="Aptos" panose="020B0004020202020204" pitchFamily="34" charset="0"/>
                            </a:rPr>
                            <m:t> in</m:t>
                          </m:r>
                        </m:e>
                      </m:d>
                      <m:r>
                        <a:rPr lang="es-GT" sz="2200" i="1">
                          <a:solidFill>
                            <a:schemeClr val="bg1"/>
                          </a:solidFill>
                          <a:latin typeface="Cambria Math" panose="02040503050406030204" pitchFamily="18" charset="0"/>
                        </a:rPr>
                        <m:t>=</m:t>
                      </m:r>
                      <m:r>
                        <m:rPr>
                          <m:nor/>
                        </m:rPr>
                        <a:rPr lang="es-ES" sz="2200" b="0" i="0" smtClean="0">
                          <a:solidFill>
                            <a:schemeClr val="bg1"/>
                          </a:solidFill>
                          <a:latin typeface="Cambria Math" panose="02040503050406030204" pitchFamily="18" charset="0"/>
                        </a:rPr>
                        <m:t>26.36</m:t>
                      </m:r>
                      <m:r>
                        <m:rPr>
                          <m:nor/>
                        </m:rPr>
                        <a:rPr lang="es-GT" sz="2200" i="0">
                          <a:solidFill>
                            <a:schemeClr val="bg1"/>
                          </a:solidFill>
                          <a:latin typeface="Aptos" panose="020B0004020202020204" pitchFamily="34" charset="0"/>
                        </a:rPr>
                        <m:t> in</m:t>
                      </m:r>
                    </m:oMath>
                  </m:oMathPara>
                </a14:m>
                <a:endParaRPr lang="es-GT" sz="2200" dirty="0">
                  <a:solidFill>
                    <a:schemeClr val="bg1"/>
                  </a:solidFill>
                  <a:latin typeface="Aptos" panose="020B0004020202020204" pitchFamily="34" charset="0"/>
                </a:endParaRPr>
              </a:p>
              <a:p>
                <a:pPr algn="just"/>
                <a:endParaRPr lang="es-GT" sz="2200" dirty="0">
                  <a:solidFill>
                    <a:schemeClr val="bg1"/>
                  </a:solidFill>
                  <a:latin typeface="Aptos" panose="020B0004020202020204" pitchFamily="34" charset="0"/>
                </a:endParaRPr>
              </a:p>
              <a:p>
                <a:pPr algn="just"/>
                <a:r>
                  <a:rPr lang="es-GT" sz="2200" b="1" dirty="0">
                    <a:solidFill>
                      <a:schemeClr val="bg1"/>
                    </a:solidFill>
                    <a:latin typeface="Aptos" panose="020B0004020202020204" pitchFamily="34" charset="0"/>
                  </a:rPr>
                  <a:t>El Efecto de Flexión Global (</a:t>
                </a:r>
                <a14:m>
                  <m:oMath xmlns:m="http://schemas.openxmlformats.org/officeDocument/2006/math">
                    <m:r>
                      <a:rPr lang="es-GT" sz="2200" i="1">
                        <a:solidFill>
                          <a:schemeClr val="bg1"/>
                        </a:solidFill>
                        <a:latin typeface="Cambria Math" panose="02040503050406030204" pitchFamily="18" charset="0"/>
                      </a:rPr>
                      <m:t>0.08⋅</m:t>
                    </m:r>
                    <m:r>
                      <a:rPr lang="es-ES" sz="2200" b="0" i="1" smtClean="0">
                        <a:solidFill>
                          <a:schemeClr val="bg1"/>
                        </a:solidFill>
                        <a:latin typeface="Cambria Math" panose="02040503050406030204" pitchFamily="18" charset="0"/>
                      </a:rPr>
                      <m:t>12</m:t>
                    </m:r>
                    <m:r>
                      <a:rPr lang="es-GT" sz="2200" i="1">
                        <a:solidFill>
                          <a:schemeClr val="bg1"/>
                        </a:solidFill>
                        <a:latin typeface="Cambria Math" panose="02040503050406030204" pitchFamily="18" charset="0"/>
                      </a:rPr>
                      <m:t>0</m:t>
                    </m:r>
                    <m:r>
                      <m:rPr>
                        <m:nor/>
                      </m:rPr>
                      <a:rPr lang="es-GT" sz="2200" i="0">
                        <a:solidFill>
                          <a:schemeClr val="bg1"/>
                        </a:solidFill>
                        <a:latin typeface="Aptos" panose="020B0004020202020204" pitchFamily="34" charset="0"/>
                      </a:rPr>
                      <m:t> in</m:t>
                    </m:r>
                  </m:oMath>
                </a14:m>
                <a:r>
                  <a:rPr lang="es-GT" sz="2200" b="1" dirty="0">
                    <a:solidFill>
                      <a:schemeClr val="bg1"/>
                    </a:solidFill>
                    <a:latin typeface="Aptos" panose="020B0004020202020204" pitchFamily="34" charset="0"/>
                  </a:rPr>
                  <a:t>):</a:t>
                </a:r>
              </a:p>
              <a:p>
                <a:pPr algn="just"/>
                <a:r>
                  <a:rPr lang="es-GT" sz="2200" b="1" dirty="0">
                    <a:solidFill>
                      <a:schemeClr val="bg1"/>
                    </a:solidFill>
                    <a:latin typeface="Aptos" panose="020B0004020202020204" pitchFamily="34" charset="0"/>
                  </a:rPr>
                  <a:t>La Penetración de Fluencia (</a:t>
                </a:r>
                <a14:m>
                  <m:oMath xmlns:m="http://schemas.openxmlformats.org/officeDocument/2006/math">
                    <m:r>
                      <a:rPr lang="es-GT" sz="2200" i="1">
                        <a:solidFill>
                          <a:schemeClr val="bg1"/>
                        </a:solidFill>
                        <a:latin typeface="Cambria Math" panose="02040503050406030204" pitchFamily="18" charset="0"/>
                      </a:rPr>
                      <m:t>0.15⋅</m:t>
                    </m:r>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𝑓</m:t>
                        </m:r>
                      </m:e>
                      <m:sub>
                        <m:r>
                          <a:rPr lang="es-GT" sz="2200" i="1">
                            <a:solidFill>
                              <a:schemeClr val="bg1"/>
                            </a:solidFill>
                            <a:latin typeface="Cambria Math" panose="02040503050406030204" pitchFamily="18" charset="0"/>
                          </a:rPr>
                          <m:t>𝑦𝑒</m:t>
                        </m:r>
                      </m:sub>
                    </m:sSub>
                    <m:r>
                      <a:rPr lang="es-GT" sz="2200" i="1">
                        <a:solidFill>
                          <a:schemeClr val="bg1"/>
                        </a:solidFill>
                        <a:latin typeface="Cambria Math" panose="02040503050406030204" pitchFamily="18" charset="0"/>
                      </a:rPr>
                      <m:t>⋅</m:t>
                    </m:r>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𝑑</m:t>
                        </m:r>
                      </m:e>
                      <m:sub>
                        <m:r>
                          <a:rPr lang="es-GT" sz="2200" i="1">
                            <a:solidFill>
                              <a:schemeClr val="bg1"/>
                            </a:solidFill>
                            <a:latin typeface="Cambria Math" panose="02040503050406030204" pitchFamily="18" charset="0"/>
                          </a:rPr>
                          <m:t>𝑏𝑙</m:t>
                        </m:r>
                      </m:sub>
                    </m:sSub>
                  </m:oMath>
                </a14:m>
                <a:r>
                  <a:rPr lang="es-GT" sz="2200" b="1" dirty="0">
                    <a:solidFill>
                      <a:schemeClr val="bg1"/>
                    </a:solidFill>
                    <a:latin typeface="Aptos" panose="020B0004020202020204" pitchFamily="34" charset="0"/>
                  </a:rPr>
                  <a:t>): </a:t>
                </a:r>
              </a:p>
              <a:p>
                <a:pPr algn="just"/>
                <a:endParaRPr lang="es-GT" sz="2200" i="1" dirty="0">
                  <a:solidFill>
                    <a:schemeClr val="bg1"/>
                  </a:solidFill>
                  <a:latin typeface="Aptos" panose="020B0004020202020204" pitchFamily="34" charset="0"/>
                </a:endParaRPr>
              </a:p>
              <a:p>
                <a:pPr algn="just"/>
                <a:endParaRPr lang="es-GT" sz="2200" dirty="0">
                  <a:solidFill>
                    <a:schemeClr val="bg1"/>
                  </a:solidFill>
                  <a:latin typeface="Aptos" panose="020B0004020202020204" pitchFamily="34" charset="0"/>
                </a:endParaRPr>
              </a:p>
              <a:p>
                <a:pPr algn="just"/>
                <a:endParaRPr lang="es-GT" sz="2200" dirty="0">
                  <a:solidFill>
                    <a:schemeClr val="bg1"/>
                  </a:solidFill>
                  <a:latin typeface="Aptos" panose="020B0004020202020204" pitchFamily="34" charset="0"/>
                </a:endParaRPr>
              </a:p>
            </p:txBody>
          </p:sp>
        </mc:Choice>
        <mc:Fallback xmlns="">
          <p:sp>
            <p:nvSpPr>
              <p:cNvPr id="11" name="CuadroTexto 10">
                <a:extLst>
                  <a:ext uri="{FF2B5EF4-FFF2-40B4-BE49-F238E27FC236}">
                    <a16:creationId xmlns:a16="http://schemas.microsoft.com/office/drawing/2014/main" id="{D3514BC5-0002-97F1-92D5-C66781198316}"/>
                  </a:ext>
                </a:extLst>
              </p:cNvPr>
              <p:cNvSpPr txBox="1">
                <a:spLocks noRot="1" noChangeAspect="1" noMove="1" noResize="1" noEditPoints="1" noAdjustHandles="1" noChangeArrowheads="1" noChangeShapeType="1" noTextEdit="1"/>
              </p:cNvSpPr>
              <p:nvPr/>
            </p:nvSpPr>
            <p:spPr>
              <a:xfrm>
                <a:off x="762000" y="1356751"/>
                <a:ext cx="10858501" cy="5280869"/>
              </a:xfrm>
              <a:prstGeom prst="rect">
                <a:avLst/>
              </a:prstGeom>
              <a:blipFill>
                <a:blip r:embed="rId5"/>
                <a:stretch>
                  <a:fillRect l="-730" t="-693" r="-730"/>
                </a:stretch>
              </a:blipFill>
            </p:spPr>
            <p:txBody>
              <a:bodyPr/>
              <a:lstStyle/>
              <a:p>
                <a:r>
                  <a:rPr lang="es-GT">
                    <a:noFill/>
                  </a:rPr>
                  <a:t> </a:t>
                </a:r>
              </a:p>
            </p:txBody>
          </p:sp>
        </mc:Fallback>
      </mc:AlternateContent>
      <p:sp>
        <p:nvSpPr>
          <p:cNvPr id="99" name="Google Shape;99;p14">
            <a:extLst>
              <a:ext uri="{FF2B5EF4-FFF2-40B4-BE49-F238E27FC236}">
                <a16:creationId xmlns:a16="http://schemas.microsoft.com/office/drawing/2014/main" id="{512CDCE9-8B3F-DD66-FFB5-531BE163F442}"/>
              </a:ext>
            </a:extLst>
          </p:cNvPr>
          <p:cNvSpPr/>
          <p:nvPr/>
        </p:nvSpPr>
        <p:spPr>
          <a:xfrm>
            <a:off x="571499" y="1457838"/>
            <a:ext cx="45719" cy="969390"/>
          </a:xfrm>
          <a:prstGeom prst="rect">
            <a:avLst/>
          </a:prstGeom>
          <a:solidFill>
            <a:srgbClr val="FCD3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CuadroTexto 2">
            <a:extLst>
              <a:ext uri="{FF2B5EF4-FFF2-40B4-BE49-F238E27FC236}">
                <a16:creationId xmlns:a16="http://schemas.microsoft.com/office/drawing/2014/main" id="{562420C5-48CB-7FA1-F2CC-706DF8BCC743}"/>
              </a:ext>
            </a:extLst>
          </p:cNvPr>
          <p:cNvSpPr txBox="1"/>
          <p:nvPr/>
        </p:nvSpPr>
        <p:spPr>
          <a:xfrm>
            <a:off x="672963" y="697912"/>
            <a:ext cx="11097710" cy="461665"/>
          </a:xfrm>
          <a:prstGeom prst="rect">
            <a:avLst/>
          </a:prstGeom>
          <a:noFill/>
        </p:spPr>
        <p:txBody>
          <a:bodyPr wrap="square">
            <a:spAutoFit/>
          </a:bodyPr>
          <a:lstStyle/>
          <a:p>
            <a:pPr lvl="0"/>
            <a:r>
              <a:rPr lang="es-GT" sz="2400" dirty="0">
                <a:solidFill>
                  <a:schemeClr val="tx2">
                    <a:lumMod val="50000"/>
                  </a:schemeClr>
                </a:solidFill>
              </a:rPr>
              <a:t>Taller Analítico de </a:t>
            </a:r>
            <a:r>
              <a:rPr lang="es-GT" sz="2400" dirty="0" err="1">
                <a:solidFill>
                  <a:schemeClr val="tx2">
                    <a:lumMod val="50000"/>
                  </a:schemeClr>
                </a:solidFill>
              </a:rPr>
              <a:t>Sobrerresistencia</a:t>
            </a:r>
            <a:r>
              <a:rPr lang="es-GT" sz="2400" dirty="0">
                <a:solidFill>
                  <a:schemeClr val="tx2">
                    <a:lumMod val="50000"/>
                  </a:schemeClr>
                </a:solidFill>
              </a:rPr>
              <a:t> </a:t>
            </a:r>
            <a:endParaRPr lang="es-GT" sz="2300" dirty="0">
              <a:solidFill>
                <a:schemeClr val="tx2">
                  <a:lumMod val="50000"/>
                </a:schemeClr>
              </a:solidFill>
            </a:endParaRPr>
          </a:p>
        </p:txBody>
      </p:sp>
    </p:spTree>
    <p:extLst>
      <p:ext uri="{BB962C8B-B14F-4D97-AF65-F5344CB8AC3E}">
        <p14:creationId xmlns:p14="http://schemas.microsoft.com/office/powerpoint/2010/main" val="1987984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29588773-44EC-5D5A-A7D8-8E90C4229DC4}"/>
            </a:ext>
          </a:extLst>
        </p:cNvPr>
        <p:cNvGrpSpPr/>
        <p:nvPr/>
      </p:nvGrpSpPr>
      <p:grpSpPr>
        <a:xfrm>
          <a:off x="0" y="0"/>
          <a:ext cx="0" cy="0"/>
          <a:chOff x="0" y="0"/>
          <a:chExt cx="0" cy="0"/>
        </a:xfrm>
      </p:grpSpPr>
      <p:pic>
        <p:nvPicPr>
          <p:cNvPr id="93" name="Google Shape;93;p14" descr="image.png">
            <a:extLst>
              <a:ext uri="{FF2B5EF4-FFF2-40B4-BE49-F238E27FC236}">
                <a16:creationId xmlns:a16="http://schemas.microsoft.com/office/drawing/2014/main" id="{C9C984B1-87BB-360C-FDE5-5134FAA84FAB}"/>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4" name="Google Shape;94;p14">
            <a:extLst>
              <a:ext uri="{FF2B5EF4-FFF2-40B4-BE49-F238E27FC236}">
                <a16:creationId xmlns:a16="http://schemas.microsoft.com/office/drawing/2014/main" id="{2BD183AC-0617-70A4-EE6B-2784640249C7}"/>
              </a:ext>
            </a:extLst>
          </p:cNvPr>
          <p:cNvSpPr txBox="1"/>
          <p:nvPr/>
        </p:nvSpPr>
        <p:spPr>
          <a:xfrm>
            <a:off x="762000" y="170544"/>
            <a:ext cx="8844116" cy="1015663"/>
          </a:xfrm>
          <a:prstGeom prst="rect">
            <a:avLst/>
          </a:prstGeom>
          <a:noFill/>
          <a:ln>
            <a:noFill/>
          </a:ln>
        </p:spPr>
        <p:txBody>
          <a:bodyPr spcFirstLastPara="1" wrap="square" lIns="0" tIns="0" rIns="0" bIns="0" anchor="t" anchorCtr="0">
            <a:spAutoFit/>
          </a:bodyPr>
          <a:lstStyle/>
          <a:p>
            <a:r>
              <a:rPr lang="es-GT" sz="3300" b="1" dirty="0">
                <a:solidFill>
                  <a:srgbClr val="00B0F0"/>
                </a:solidFill>
                <a:latin typeface="Aptos" panose="020B0004020202020204" pitchFamily="34" charset="0"/>
              </a:rPr>
              <a:t>Teoría del Diseño por Capacidad </a:t>
            </a:r>
            <a:endParaRPr lang="es-GT" sz="3300" b="1" dirty="0">
              <a:solidFill>
                <a:srgbClr val="00B0F0"/>
              </a:solidFill>
              <a:latin typeface="Aptos" panose="020B0004020202020204" pitchFamily="34" charset="0"/>
              <a:ea typeface="Montserrat"/>
              <a:cs typeface="Montserrat"/>
              <a:sym typeface="Montserrat"/>
            </a:endParaRPr>
          </a:p>
          <a:p>
            <a:pPr lvl="0"/>
            <a:endParaRPr sz="3300" b="1" i="0" u="none" strike="noStrike" cap="none" dirty="0">
              <a:solidFill>
                <a:srgbClr val="00B0F0"/>
              </a:solidFill>
              <a:latin typeface="Montserrat"/>
              <a:ea typeface="Montserrat"/>
              <a:cs typeface="Montserrat"/>
              <a:sym typeface="Montserrat"/>
            </a:endParaRPr>
          </a:p>
        </p:txBody>
      </p:sp>
      <p:sp>
        <p:nvSpPr>
          <p:cNvPr id="95" name="Google Shape;95;p14">
            <a:extLst>
              <a:ext uri="{FF2B5EF4-FFF2-40B4-BE49-F238E27FC236}">
                <a16:creationId xmlns:a16="http://schemas.microsoft.com/office/drawing/2014/main" id="{875DBF11-0E33-D268-936C-8F67FD7FB08A}"/>
              </a:ext>
            </a:extLst>
          </p:cNvPr>
          <p:cNvSpPr/>
          <p:nvPr/>
        </p:nvSpPr>
        <p:spPr>
          <a:xfrm>
            <a:off x="571499" y="163691"/>
            <a:ext cx="57150" cy="906684"/>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 name="Google Shape;108;p15" descr="image.png">
            <a:extLst>
              <a:ext uri="{FF2B5EF4-FFF2-40B4-BE49-F238E27FC236}">
                <a16:creationId xmlns:a16="http://schemas.microsoft.com/office/drawing/2014/main" id="{FF0571B5-FCC6-A94A-DC21-57B8BCB4FA07}"/>
              </a:ext>
            </a:extLst>
          </p:cNvPr>
          <p:cNvPicPr preferRelativeResize="0"/>
          <p:nvPr/>
        </p:nvPicPr>
        <p:blipFill rotWithShape="1">
          <a:blip r:embed="rId4">
            <a:alphaModFix/>
          </a:blip>
          <a:srcRect/>
          <a:stretch/>
        </p:blipFill>
        <p:spPr>
          <a:xfrm>
            <a:off x="421327" y="1159577"/>
            <a:ext cx="11426544" cy="5443648"/>
          </a:xfrm>
          <a:prstGeom prst="rect">
            <a:avLst/>
          </a:prstGeom>
          <a:noFill/>
          <a:ln>
            <a:noFill/>
          </a:ln>
        </p:spPr>
      </p:pic>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FC29F826-1AE4-B037-3233-C3A80C01CC06}"/>
                  </a:ext>
                </a:extLst>
              </p:cNvPr>
              <p:cNvSpPr txBox="1"/>
              <p:nvPr/>
            </p:nvSpPr>
            <p:spPr>
              <a:xfrm>
                <a:off x="762000" y="1356751"/>
                <a:ext cx="10858501" cy="4924169"/>
              </a:xfrm>
              <a:prstGeom prst="rect">
                <a:avLst/>
              </a:prstGeom>
              <a:noFill/>
            </p:spPr>
            <p:txBody>
              <a:bodyPr wrap="square">
                <a:spAutoFit/>
              </a:bodyPr>
              <a:lstStyle/>
              <a:p>
                <a:pPr algn="just"/>
                <a:r>
                  <a:rPr lang="es-GT" sz="2200" b="1" dirty="0">
                    <a:solidFill>
                      <a:srgbClr val="00B0F0"/>
                    </a:solidFill>
                    <a:latin typeface="Aptos" panose="020B0004020202020204" pitchFamily="34" charset="0"/>
                  </a:rPr>
                  <a:t>b). El Chequeo de Seguridad Normativo:</a:t>
                </a:r>
                <a:r>
                  <a:rPr lang="es-GT" sz="2200" dirty="0">
                    <a:solidFill>
                      <a:srgbClr val="00B0F0"/>
                    </a:solidFill>
                    <a:latin typeface="Aptos" panose="020B0004020202020204" pitchFamily="34" charset="0"/>
                  </a:rPr>
                  <a:t> </a:t>
                </a:r>
                <a:r>
                  <a:rPr lang="es-GT" sz="2200" dirty="0">
                    <a:solidFill>
                      <a:schemeClr val="bg1"/>
                    </a:solidFill>
                    <a:latin typeface="Aptos" panose="020B0004020202020204" pitchFamily="34" charset="0"/>
                  </a:rPr>
                  <a:t>La fórmula empírica dictada por AASHTO para el chequeo de mínimo normativo de la longitud de la rótula plástica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𝐿</m:t>
                        </m:r>
                      </m:e>
                      <m:sub>
                        <m:r>
                          <a:rPr lang="es-GT" sz="2200" i="1">
                            <a:solidFill>
                              <a:schemeClr val="bg1"/>
                            </a:solidFill>
                            <a:latin typeface="Cambria Math" panose="02040503050406030204" pitchFamily="18" charset="0"/>
                          </a:rPr>
                          <m:t>𝑝</m:t>
                        </m:r>
                      </m:sub>
                    </m:sSub>
                  </m:oMath>
                </a14:m>
                <a:r>
                  <a:rPr lang="es-GT" sz="2200" dirty="0">
                    <a:solidFill>
                      <a:schemeClr val="bg1"/>
                    </a:solidFill>
                    <a:latin typeface="Aptos" panose="020B0004020202020204" pitchFamily="34" charset="0"/>
                  </a:rPr>
                  <a:t>) en unidades inglesas es:</a:t>
                </a:r>
              </a:p>
              <a:p>
                <a:pPr/>
                <a14:m>
                  <m:oMathPara xmlns:m="http://schemas.openxmlformats.org/officeDocument/2006/math">
                    <m:o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𝐿</m:t>
                          </m:r>
                        </m:e>
                        <m:sub>
                          <m:r>
                            <a:rPr lang="es-GT" sz="2200" i="1">
                              <a:solidFill>
                                <a:schemeClr val="bg1"/>
                              </a:solidFill>
                              <a:latin typeface="Cambria Math" panose="02040503050406030204" pitchFamily="18" charset="0"/>
                            </a:rPr>
                            <m:t>𝑝</m:t>
                          </m:r>
                          <m:r>
                            <a:rPr lang="es-GT" sz="2200">
                              <a:solidFill>
                                <a:schemeClr val="bg1"/>
                              </a:solidFill>
                              <a:latin typeface="Cambria Math" panose="02040503050406030204" pitchFamily="18" charset="0"/>
                            </a:rPr>
                            <m:t>,</m:t>
                          </m:r>
                          <m:r>
                            <a:rPr lang="es-GT" sz="2200" i="1">
                              <a:solidFill>
                                <a:schemeClr val="bg1"/>
                              </a:solidFill>
                              <a:latin typeface="Cambria Math" panose="02040503050406030204" pitchFamily="18" charset="0"/>
                            </a:rPr>
                            <m:t>𝑚𝑖𝑛</m:t>
                          </m:r>
                        </m:sub>
                      </m:sSub>
                      <m:r>
                        <a:rPr lang="es-GT" sz="2200">
                          <a:solidFill>
                            <a:schemeClr val="bg1"/>
                          </a:solidFill>
                          <a:latin typeface="Cambria Math" panose="02040503050406030204" pitchFamily="18" charset="0"/>
                        </a:rPr>
                        <m:t>=0.3</m:t>
                      </m:r>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𝑓</m:t>
                          </m:r>
                        </m:e>
                        <m:sub>
                          <m:r>
                            <a:rPr lang="es-GT" sz="2200" i="1">
                              <a:solidFill>
                                <a:schemeClr val="bg1"/>
                              </a:solidFill>
                              <a:latin typeface="Cambria Math" panose="02040503050406030204" pitchFamily="18" charset="0"/>
                            </a:rPr>
                            <m:t>𝑦𝑒</m:t>
                          </m:r>
                        </m:sub>
                      </m:sSub>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𝑑</m:t>
                          </m:r>
                        </m:e>
                        <m:sub>
                          <m:r>
                            <a:rPr lang="es-GT" sz="2200" i="1">
                              <a:solidFill>
                                <a:schemeClr val="bg1"/>
                              </a:solidFill>
                              <a:latin typeface="Cambria Math" panose="02040503050406030204" pitchFamily="18" charset="0"/>
                            </a:rPr>
                            <m:t>𝑏𝑙</m:t>
                          </m:r>
                        </m:sub>
                      </m:sSub>
                    </m:oMath>
                  </m:oMathPara>
                </a14:m>
                <a:endParaRPr lang="es-GT" sz="2200" dirty="0">
                  <a:solidFill>
                    <a:schemeClr val="bg1"/>
                  </a:solidFill>
                  <a:latin typeface="Aptos" panose="020B0004020202020204" pitchFamily="34" charset="0"/>
                </a:endParaRPr>
              </a:p>
              <a:p>
                <a:endParaRPr lang="es-GT" sz="2200" dirty="0">
                  <a:solidFill>
                    <a:schemeClr val="bg1"/>
                  </a:solidFill>
                  <a:latin typeface="Aptos" panose="020B0004020202020204" pitchFamily="34" charset="0"/>
                </a:endParaRPr>
              </a:p>
              <a:p>
                <a:pPr lvl="0"/>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𝑓</m:t>
                        </m:r>
                      </m:e>
                      <m:sub>
                        <m:r>
                          <a:rPr lang="es-GT" sz="2200" i="1">
                            <a:solidFill>
                              <a:schemeClr val="bg1"/>
                            </a:solidFill>
                            <a:latin typeface="Cambria Math" panose="02040503050406030204" pitchFamily="18" charset="0"/>
                          </a:rPr>
                          <m:t>𝑦𝑒</m:t>
                        </m:r>
                      </m:sub>
                    </m:sSub>
                  </m:oMath>
                </a14:m>
                <a:r>
                  <a:rPr lang="es-GT" sz="2200" dirty="0">
                    <a:solidFill>
                      <a:schemeClr val="bg1"/>
                    </a:solidFill>
                    <a:latin typeface="Aptos" panose="020B0004020202020204" pitchFamily="34" charset="0"/>
                  </a:rPr>
                  <a:t>: Esfuerzo de fluencia esperado del acero de refuerzo longitudinal (expresado en </a:t>
                </a:r>
                <a:r>
                  <a:rPr lang="es-GT" sz="2200" dirty="0" err="1">
                    <a:solidFill>
                      <a:schemeClr val="bg1"/>
                    </a:solidFill>
                    <a:latin typeface="Aptos" panose="020B0004020202020204" pitchFamily="34" charset="0"/>
                  </a:rPr>
                  <a:t>ksi</a:t>
                </a:r>
                <a:r>
                  <a:rPr lang="es-GT" sz="2200" dirty="0">
                    <a:solidFill>
                      <a:schemeClr val="bg1"/>
                    </a:solidFill>
                    <a:latin typeface="Aptos" panose="020B0004020202020204" pitchFamily="34" charset="0"/>
                  </a:rPr>
                  <a:t>).</a:t>
                </a:r>
              </a:p>
              <a:p>
                <a:pPr lvl="0"/>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𝑑</m:t>
                        </m:r>
                      </m:e>
                      <m:sub>
                        <m:r>
                          <a:rPr lang="es-GT" sz="2200" i="1">
                            <a:solidFill>
                              <a:schemeClr val="bg1"/>
                            </a:solidFill>
                            <a:latin typeface="Cambria Math" panose="02040503050406030204" pitchFamily="18" charset="0"/>
                          </a:rPr>
                          <m:t>𝑏𝑙</m:t>
                        </m:r>
                      </m:sub>
                    </m:sSub>
                  </m:oMath>
                </a14:m>
                <a:r>
                  <a:rPr lang="es-GT" sz="2200" dirty="0">
                    <a:solidFill>
                      <a:schemeClr val="bg1"/>
                    </a:solidFill>
                    <a:latin typeface="Aptos" panose="020B0004020202020204" pitchFamily="34" charset="0"/>
                  </a:rPr>
                  <a:t>: Diámetro nominal de la varilla longitudinal (expresado en pulgadas).</a:t>
                </a:r>
              </a:p>
              <a:p>
                <a:pPr lvl="0"/>
                <a:endParaRPr lang="es-GT" sz="2200" dirty="0">
                  <a:solidFill>
                    <a:schemeClr val="bg1"/>
                  </a:solidFill>
                  <a:latin typeface="Aptos" panose="020B0004020202020204" pitchFamily="34" charset="0"/>
                </a:endParaRPr>
              </a:p>
              <a:p>
                <a:pPr lvl="0" algn="just"/>
                <a:r>
                  <a:rPr lang="es-GT" sz="2200" dirty="0">
                    <a:solidFill>
                      <a:schemeClr val="bg1"/>
                    </a:solidFill>
                    <a:latin typeface="Aptos" panose="020B0004020202020204" pitchFamily="34" charset="0"/>
                  </a:rPr>
                  <a:t>La norma impone un límite inferior estricto para evitar que, en puentes con columnas muy cortas o rígidas, la longitud confinada quede peligrosamente reducida. El chequeo normativo mínimo exige calcular:</a:t>
                </a:r>
                <a:endParaRPr lang="es-GT" sz="2200" dirty="0">
                  <a:solidFill>
                    <a:schemeClr val="bg1"/>
                  </a:solidFill>
                </a:endParaRPr>
              </a:p>
              <a:p>
                <a:pPr lvl="0" algn="just"/>
                <a:endParaRPr lang="es-GT" sz="2200" dirty="0">
                  <a:solidFill>
                    <a:schemeClr val="bg1"/>
                  </a:solidFill>
                </a:endParaRPr>
              </a:p>
              <a:p>
                <a:pPr lvl="0" algn="ctr"/>
                <a14:m>
                  <m:oMathPara xmlns:m="http://schemas.openxmlformats.org/officeDocument/2006/math">
                    <m:oMath>
                      <m:r>
                        <a:rPr lang="es-GT" sz="2200">
                          <a:solidFill>
                            <a:schemeClr val="bg1"/>
                          </a:solidFill>
                          <a:latin typeface="Cambria Math" panose="02040503050406030204" pitchFamily="18" charset="0"/>
                        </a:rPr>
                        <m:t>0.3</m:t>
                      </m:r>
                      <m:d>
                        <m:dPr>
                          <m:ctrlPr>
                            <a:rPr lang="es-GT" sz="2200">
                              <a:solidFill>
                                <a:schemeClr val="bg1"/>
                              </a:solidFill>
                              <a:latin typeface="Cambria Math" panose="02040503050406030204" pitchFamily="18" charset="0"/>
                            </a:rPr>
                          </m:ctrlPr>
                        </m:dPr>
                        <m:e>
                          <m:r>
                            <a:rPr lang="es-GT" sz="2200">
                              <a:solidFill>
                                <a:schemeClr val="bg1"/>
                              </a:solidFill>
                              <a:latin typeface="Cambria Math" panose="02040503050406030204" pitchFamily="18" charset="0"/>
                            </a:rPr>
                            <m:t>66</m:t>
                          </m:r>
                          <m:r>
                            <m:rPr>
                              <m:nor/>
                            </m:rPr>
                            <a:rPr lang="es-GT" sz="2200" i="0">
                              <a:solidFill>
                                <a:schemeClr val="bg1"/>
                              </a:solidFill>
                              <a:latin typeface="Aptos" panose="020B0004020202020204" pitchFamily="34" charset="0"/>
                            </a:rPr>
                            <m:t> ksi</m:t>
                          </m:r>
                        </m:e>
                      </m:d>
                      <m:d>
                        <m:dPr>
                          <m:ctrlPr>
                            <a:rPr lang="es-GT" sz="2200">
                              <a:solidFill>
                                <a:schemeClr val="bg1"/>
                              </a:solidFill>
                              <a:latin typeface="Cambria Math" panose="02040503050406030204" pitchFamily="18" charset="0"/>
                            </a:rPr>
                          </m:ctrlPr>
                        </m:dPr>
                        <m:e>
                          <m:r>
                            <a:rPr lang="es-GT" sz="2200">
                              <a:solidFill>
                                <a:schemeClr val="bg1"/>
                              </a:solidFill>
                              <a:latin typeface="Cambria Math" panose="02040503050406030204" pitchFamily="18" charset="0"/>
                            </a:rPr>
                            <m:t>1.693</m:t>
                          </m:r>
                          <m:r>
                            <m:rPr>
                              <m:nor/>
                            </m:rPr>
                            <a:rPr lang="es-GT" sz="2200" i="0">
                              <a:solidFill>
                                <a:schemeClr val="bg1"/>
                              </a:solidFill>
                              <a:latin typeface="Aptos" panose="020B0004020202020204" pitchFamily="34" charset="0"/>
                            </a:rPr>
                            <m:t> in</m:t>
                          </m:r>
                        </m:e>
                      </m:d>
                      <m:r>
                        <a:rPr lang="es-GT" sz="2200">
                          <a:solidFill>
                            <a:schemeClr val="bg1"/>
                          </a:solidFill>
                          <a:latin typeface="Cambria Math" panose="02040503050406030204" pitchFamily="18" charset="0"/>
                        </a:rPr>
                        <m:t>=33.52</m:t>
                      </m:r>
                      <m:r>
                        <m:rPr>
                          <m:nor/>
                        </m:rPr>
                        <a:rPr lang="es-GT" sz="2200" i="0">
                          <a:solidFill>
                            <a:schemeClr val="bg1"/>
                          </a:solidFill>
                          <a:latin typeface="Aptos" panose="020B0004020202020204" pitchFamily="34" charset="0"/>
                        </a:rPr>
                        <m:t> in</m:t>
                      </m:r>
                    </m:oMath>
                  </m:oMathPara>
                </a14:m>
                <a:endParaRPr lang="es-GT" sz="2200" dirty="0">
                  <a:solidFill>
                    <a:schemeClr val="bg1"/>
                  </a:solidFill>
                  <a:latin typeface="Aptos" panose="020B0004020202020204" pitchFamily="34" charset="0"/>
                </a:endParaRPr>
              </a:p>
              <a:p>
                <a:pPr lvl="0"/>
                <a:endParaRPr lang="es-GT" sz="2200" dirty="0">
                  <a:solidFill>
                    <a:schemeClr val="bg1"/>
                  </a:solidFill>
                  <a:latin typeface="Aptos" panose="020B0004020202020204" pitchFamily="34" charset="0"/>
                </a:endParaRPr>
              </a:p>
            </p:txBody>
          </p:sp>
        </mc:Choice>
        <mc:Fallback xmlns="">
          <p:sp>
            <p:nvSpPr>
              <p:cNvPr id="11" name="CuadroTexto 10">
                <a:extLst>
                  <a:ext uri="{FF2B5EF4-FFF2-40B4-BE49-F238E27FC236}">
                    <a16:creationId xmlns:a16="http://schemas.microsoft.com/office/drawing/2014/main" id="{FC29F826-1AE4-B037-3233-C3A80C01CC06}"/>
                  </a:ext>
                </a:extLst>
              </p:cNvPr>
              <p:cNvSpPr txBox="1">
                <a:spLocks noRot="1" noChangeAspect="1" noMove="1" noResize="1" noEditPoints="1" noAdjustHandles="1" noChangeArrowheads="1" noChangeShapeType="1" noTextEdit="1"/>
              </p:cNvSpPr>
              <p:nvPr/>
            </p:nvSpPr>
            <p:spPr>
              <a:xfrm>
                <a:off x="762000" y="1356751"/>
                <a:ext cx="10858501" cy="4924169"/>
              </a:xfrm>
              <a:prstGeom prst="rect">
                <a:avLst/>
              </a:prstGeom>
              <a:blipFill>
                <a:blip r:embed="rId5"/>
                <a:stretch>
                  <a:fillRect l="-730" t="-867" r="-730"/>
                </a:stretch>
              </a:blipFill>
            </p:spPr>
            <p:txBody>
              <a:bodyPr/>
              <a:lstStyle/>
              <a:p>
                <a:r>
                  <a:rPr lang="es-GT">
                    <a:noFill/>
                  </a:rPr>
                  <a:t> </a:t>
                </a:r>
              </a:p>
            </p:txBody>
          </p:sp>
        </mc:Fallback>
      </mc:AlternateContent>
      <p:sp>
        <p:nvSpPr>
          <p:cNvPr id="99" name="Google Shape;99;p14">
            <a:extLst>
              <a:ext uri="{FF2B5EF4-FFF2-40B4-BE49-F238E27FC236}">
                <a16:creationId xmlns:a16="http://schemas.microsoft.com/office/drawing/2014/main" id="{93586B3A-D523-E24C-1449-9241126EB60F}"/>
              </a:ext>
            </a:extLst>
          </p:cNvPr>
          <p:cNvSpPr/>
          <p:nvPr/>
        </p:nvSpPr>
        <p:spPr>
          <a:xfrm>
            <a:off x="571499" y="1457838"/>
            <a:ext cx="45719" cy="969390"/>
          </a:xfrm>
          <a:prstGeom prst="rect">
            <a:avLst/>
          </a:prstGeom>
          <a:solidFill>
            <a:srgbClr val="FCD3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CuadroTexto 2">
            <a:extLst>
              <a:ext uri="{FF2B5EF4-FFF2-40B4-BE49-F238E27FC236}">
                <a16:creationId xmlns:a16="http://schemas.microsoft.com/office/drawing/2014/main" id="{80ACA20B-65F0-2F70-56D1-A13C180692B7}"/>
              </a:ext>
            </a:extLst>
          </p:cNvPr>
          <p:cNvSpPr txBox="1"/>
          <p:nvPr/>
        </p:nvSpPr>
        <p:spPr>
          <a:xfrm>
            <a:off x="672963" y="697912"/>
            <a:ext cx="11097710" cy="461665"/>
          </a:xfrm>
          <a:prstGeom prst="rect">
            <a:avLst/>
          </a:prstGeom>
          <a:noFill/>
        </p:spPr>
        <p:txBody>
          <a:bodyPr wrap="square">
            <a:spAutoFit/>
          </a:bodyPr>
          <a:lstStyle/>
          <a:p>
            <a:pPr lvl="0"/>
            <a:r>
              <a:rPr lang="es-GT" sz="2400" dirty="0">
                <a:solidFill>
                  <a:schemeClr val="tx2">
                    <a:lumMod val="50000"/>
                  </a:schemeClr>
                </a:solidFill>
              </a:rPr>
              <a:t>Taller Analítico de </a:t>
            </a:r>
            <a:r>
              <a:rPr lang="es-GT" sz="2400" dirty="0" err="1">
                <a:solidFill>
                  <a:schemeClr val="tx2">
                    <a:lumMod val="50000"/>
                  </a:schemeClr>
                </a:solidFill>
              </a:rPr>
              <a:t>Sobrerresistencia</a:t>
            </a:r>
            <a:r>
              <a:rPr lang="es-GT" sz="2400" dirty="0">
                <a:solidFill>
                  <a:schemeClr val="tx2">
                    <a:lumMod val="50000"/>
                  </a:schemeClr>
                </a:solidFill>
              </a:rPr>
              <a:t> </a:t>
            </a:r>
            <a:endParaRPr lang="es-GT" sz="2300" dirty="0">
              <a:solidFill>
                <a:schemeClr val="tx2">
                  <a:lumMod val="50000"/>
                </a:schemeClr>
              </a:solidFill>
            </a:endParaRPr>
          </a:p>
        </p:txBody>
      </p:sp>
    </p:spTree>
    <p:extLst>
      <p:ext uri="{BB962C8B-B14F-4D97-AF65-F5344CB8AC3E}">
        <p14:creationId xmlns:p14="http://schemas.microsoft.com/office/powerpoint/2010/main" val="3313918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B2397721-7897-E5F1-0827-434151101AC4}"/>
            </a:ext>
          </a:extLst>
        </p:cNvPr>
        <p:cNvGrpSpPr/>
        <p:nvPr/>
      </p:nvGrpSpPr>
      <p:grpSpPr>
        <a:xfrm>
          <a:off x="0" y="0"/>
          <a:ext cx="0" cy="0"/>
          <a:chOff x="0" y="0"/>
          <a:chExt cx="0" cy="0"/>
        </a:xfrm>
      </p:grpSpPr>
      <p:pic>
        <p:nvPicPr>
          <p:cNvPr id="93" name="Google Shape;93;p14" descr="image.png">
            <a:extLst>
              <a:ext uri="{FF2B5EF4-FFF2-40B4-BE49-F238E27FC236}">
                <a16:creationId xmlns:a16="http://schemas.microsoft.com/office/drawing/2014/main" id="{C788A75D-DF3A-0795-3C44-4DDD4522D0C5}"/>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4" name="Google Shape;94;p14">
            <a:extLst>
              <a:ext uri="{FF2B5EF4-FFF2-40B4-BE49-F238E27FC236}">
                <a16:creationId xmlns:a16="http://schemas.microsoft.com/office/drawing/2014/main" id="{66ADE340-772E-5412-988E-8A3E492D2186}"/>
              </a:ext>
            </a:extLst>
          </p:cNvPr>
          <p:cNvSpPr txBox="1"/>
          <p:nvPr/>
        </p:nvSpPr>
        <p:spPr>
          <a:xfrm>
            <a:off x="762000" y="170544"/>
            <a:ext cx="8844116" cy="1015663"/>
          </a:xfrm>
          <a:prstGeom prst="rect">
            <a:avLst/>
          </a:prstGeom>
          <a:noFill/>
          <a:ln>
            <a:noFill/>
          </a:ln>
        </p:spPr>
        <p:txBody>
          <a:bodyPr spcFirstLastPara="1" wrap="square" lIns="0" tIns="0" rIns="0" bIns="0" anchor="t" anchorCtr="0">
            <a:spAutoFit/>
          </a:bodyPr>
          <a:lstStyle/>
          <a:p>
            <a:r>
              <a:rPr lang="es-GT" sz="3300" b="1" dirty="0">
                <a:solidFill>
                  <a:srgbClr val="00B0F0"/>
                </a:solidFill>
                <a:latin typeface="Aptos" panose="020B0004020202020204" pitchFamily="34" charset="0"/>
              </a:rPr>
              <a:t>Teoría del Diseño por Capacidad </a:t>
            </a:r>
            <a:endParaRPr lang="es-GT" sz="3300" b="1" dirty="0">
              <a:solidFill>
                <a:srgbClr val="00B0F0"/>
              </a:solidFill>
              <a:latin typeface="Aptos" panose="020B0004020202020204" pitchFamily="34" charset="0"/>
              <a:ea typeface="Montserrat"/>
              <a:cs typeface="Montserrat"/>
              <a:sym typeface="Montserrat"/>
            </a:endParaRPr>
          </a:p>
          <a:p>
            <a:pPr lvl="0"/>
            <a:endParaRPr sz="3300" b="1" i="0" u="none" strike="noStrike" cap="none" dirty="0">
              <a:solidFill>
                <a:srgbClr val="00B0F0"/>
              </a:solidFill>
              <a:latin typeface="Montserrat"/>
              <a:ea typeface="Montserrat"/>
              <a:cs typeface="Montserrat"/>
              <a:sym typeface="Montserrat"/>
            </a:endParaRPr>
          </a:p>
        </p:txBody>
      </p:sp>
      <p:sp>
        <p:nvSpPr>
          <p:cNvPr id="95" name="Google Shape;95;p14">
            <a:extLst>
              <a:ext uri="{FF2B5EF4-FFF2-40B4-BE49-F238E27FC236}">
                <a16:creationId xmlns:a16="http://schemas.microsoft.com/office/drawing/2014/main" id="{5FB119AD-F9B8-FD0C-03DC-65236C74642A}"/>
              </a:ext>
            </a:extLst>
          </p:cNvPr>
          <p:cNvSpPr/>
          <p:nvPr/>
        </p:nvSpPr>
        <p:spPr>
          <a:xfrm>
            <a:off x="571499" y="163691"/>
            <a:ext cx="57150" cy="906684"/>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 name="Google Shape;108;p15" descr="image.png">
            <a:extLst>
              <a:ext uri="{FF2B5EF4-FFF2-40B4-BE49-F238E27FC236}">
                <a16:creationId xmlns:a16="http://schemas.microsoft.com/office/drawing/2014/main" id="{73994BB3-61A2-3306-272F-D9CD14727F37}"/>
              </a:ext>
            </a:extLst>
          </p:cNvPr>
          <p:cNvPicPr preferRelativeResize="0"/>
          <p:nvPr/>
        </p:nvPicPr>
        <p:blipFill rotWithShape="1">
          <a:blip r:embed="rId4">
            <a:alphaModFix/>
          </a:blip>
          <a:srcRect/>
          <a:stretch/>
        </p:blipFill>
        <p:spPr>
          <a:xfrm>
            <a:off x="421327" y="1159577"/>
            <a:ext cx="11426544" cy="5443648"/>
          </a:xfrm>
          <a:prstGeom prst="rect">
            <a:avLst/>
          </a:prstGeom>
          <a:noFill/>
          <a:ln>
            <a:noFill/>
          </a:ln>
        </p:spPr>
      </p:pic>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1852B80A-FCC5-D8C3-AEC7-1B982553D97F}"/>
                  </a:ext>
                </a:extLst>
              </p:cNvPr>
              <p:cNvSpPr txBox="1"/>
              <p:nvPr/>
            </p:nvSpPr>
            <p:spPr>
              <a:xfrm>
                <a:off x="762000" y="1356751"/>
                <a:ext cx="10858501" cy="5535298"/>
              </a:xfrm>
              <a:prstGeom prst="rect">
                <a:avLst/>
              </a:prstGeom>
              <a:noFill/>
            </p:spPr>
            <p:txBody>
              <a:bodyPr wrap="square">
                <a:spAutoFit/>
              </a:bodyPr>
              <a:lstStyle/>
              <a:p>
                <a:r>
                  <a:rPr lang="es-GT" sz="2200" b="1" dirty="0">
                    <a:solidFill>
                      <a:srgbClr val="00B0F0"/>
                    </a:solidFill>
                    <a:latin typeface="Aptos" panose="020B0004020202020204" pitchFamily="34" charset="0"/>
                  </a:rPr>
                  <a:t>El Chequeo de Seguridad Normativo:</a:t>
                </a:r>
                <a:r>
                  <a:rPr lang="es-GT" sz="2200" dirty="0">
                    <a:solidFill>
                      <a:srgbClr val="00B0F0"/>
                    </a:solidFill>
                    <a:latin typeface="Aptos" panose="020B0004020202020204" pitchFamily="34" charset="0"/>
                  </a:rPr>
                  <a:t> </a:t>
                </a:r>
                <a:endParaRPr lang="es-GT" sz="2200" dirty="0">
                  <a:solidFill>
                    <a:schemeClr val="bg1"/>
                  </a:solidFill>
                  <a:latin typeface="Aptos" panose="020B0004020202020204" pitchFamily="34" charset="0"/>
                </a:endParaRPr>
              </a:p>
              <a:p>
                <a:pPr/>
                <a14:m>
                  <m:oMathPara xmlns:m="http://schemas.openxmlformats.org/officeDocument/2006/math">
                    <m:o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𝐿</m:t>
                          </m:r>
                        </m:e>
                        <m:sub>
                          <m:r>
                            <a:rPr lang="es-GT" sz="2200" i="1">
                              <a:solidFill>
                                <a:schemeClr val="bg1"/>
                              </a:solidFill>
                              <a:latin typeface="Cambria Math" panose="02040503050406030204" pitchFamily="18" charset="0"/>
                            </a:rPr>
                            <m:t>𝑝</m:t>
                          </m:r>
                        </m:sub>
                      </m:sSub>
                      <m:r>
                        <a:rPr lang="es-GT" sz="2200" i="1">
                          <a:solidFill>
                            <a:schemeClr val="bg1"/>
                          </a:solidFill>
                          <a:latin typeface="Cambria Math" panose="02040503050406030204" pitchFamily="18" charset="0"/>
                        </a:rPr>
                        <m:t>=0.08</m:t>
                      </m:r>
                      <m:d>
                        <m:dPr>
                          <m:ctrlPr>
                            <a:rPr lang="es-ES" sz="2200" i="1">
                              <a:solidFill>
                                <a:schemeClr val="bg1"/>
                              </a:solidFill>
                              <a:latin typeface="Cambria Math" panose="02040503050406030204" pitchFamily="18" charset="0"/>
                            </a:rPr>
                          </m:ctrlPr>
                        </m:dPr>
                        <m:e>
                          <m:r>
                            <a:rPr lang="es-ES" sz="2200" i="1">
                              <a:solidFill>
                                <a:schemeClr val="bg1"/>
                              </a:solidFill>
                              <a:latin typeface="Cambria Math" panose="02040503050406030204" pitchFamily="18" charset="0"/>
                            </a:rPr>
                            <m:t>12</m:t>
                          </m:r>
                          <m:r>
                            <a:rPr lang="es-GT" sz="2200" i="1">
                              <a:solidFill>
                                <a:schemeClr val="bg1"/>
                              </a:solidFill>
                              <a:latin typeface="Cambria Math" panose="02040503050406030204" pitchFamily="18" charset="0"/>
                            </a:rPr>
                            <m:t>0</m:t>
                          </m:r>
                          <m:r>
                            <m:rPr>
                              <m:nor/>
                            </m:rPr>
                            <a:rPr lang="es-GT" sz="2200" i="0">
                              <a:solidFill>
                                <a:schemeClr val="bg1"/>
                              </a:solidFill>
                              <a:latin typeface="Aptos" panose="020B0004020202020204" pitchFamily="34" charset="0"/>
                            </a:rPr>
                            <m:t> in</m:t>
                          </m:r>
                        </m:e>
                      </m:d>
                      <m:r>
                        <a:rPr lang="es-GT" sz="2200" i="1">
                          <a:solidFill>
                            <a:schemeClr val="bg1"/>
                          </a:solidFill>
                          <a:latin typeface="Cambria Math" panose="02040503050406030204" pitchFamily="18" charset="0"/>
                        </a:rPr>
                        <m:t>+0.15</m:t>
                      </m:r>
                      <m:d>
                        <m:dPr>
                          <m:ctrlPr>
                            <a:rPr lang="es-GT" sz="2200" i="1">
                              <a:solidFill>
                                <a:schemeClr val="bg1"/>
                              </a:solidFill>
                              <a:latin typeface="Cambria Math" panose="02040503050406030204" pitchFamily="18" charset="0"/>
                            </a:rPr>
                          </m:ctrlPr>
                        </m:dPr>
                        <m:e>
                          <m:r>
                            <a:rPr lang="es-GT" sz="2200" i="1">
                              <a:solidFill>
                                <a:schemeClr val="bg1"/>
                              </a:solidFill>
                              <a:latin typeface="Cambria Math" panose="02040503050406030204" pitchFamily="18" charset="0"/>
                            </a:rPr>
                            <m:t>66</m:t>
                          </m:r>
                          <m:r>
                            <m:rPr>
                              <m:nor/>
                            </m:rPr>
                            <a:rPr lang="es-GT" sz="2200" i="0">
                              <a:solidFill>
                                <a:schemeClr val="bg1"/>
                              </a:solidFill>
                              <a:latin typeface="Aptos" panose="020B0004020202020204" pitchFamily="34" charset="0"/>
                            </a:rPr>
                            <m:t> ksi</m:t>
                          </m:r>
                        </m:e>
                      </m:d>
                      <m:d>
                        <m:dPr>
                          <m:ctrlPr>
                            <a:rPr lang="es-GT" sz="2200" i="1">
                              <a:solidFill>
                                <a:schemeClr val="bg1"/>
                              </a:solidFill>
                              <a:latin typeface="Cambria Math" panose="02040503050406030204" pitchFamily="18" charset="0"/>
                            </a:rPr>
                          </m:ctrlPr>
                        </m:dPr>
                        <m:e>
                          <m:r>
                            <a:rPr lang="es-GT" sz="2200" i="1">
                              <a:solidFill>
                                <a:schemeClr val="bg1"/>
                              </a:solidFill>
                              <a:latin typeface="Cambria Math" panose="02040503050406030204" pitchFamily="18" charset="0"/>
                            </a:rPr>
                            <m:t>1.693</m:t>
                          </m:r>
                          <m:r>
                            <m:rPr>
                              <m:nor/>
                            </m:rPr>
                            <a:rPr lang="es-GT" sz="2200" i="0">
                              <a:solidFill>
                                <a:schemeClr val="bg1"/>
                              </a:solidFill>
                              <a:latin typeface="Aptos" panose="020B0004020202020204" pitchFamily="34" charset="0"/>
                            </a:rPr>
                            <m:t> in</m:t>
                          </m:r>
                        </m:e>
                      </m:d>
                      <m:r>
                        <a:rPr lang="es-GT" sz="2200" i="1">
                          <a:solidFill>
                            <a:schemeClr val="bg1"/>
                          </a:solidFill>
                          <a:latin typeface="Cambria Math" panose="02040503050406030204" pitchFamily="18" charset="0"/>
                        </a:rPr>
                        <m:t>=</m:t>
                      </m:r>
                      <m:r>
                        <m:rPr>
                          <m:nor/>
                        </m:rPr>
                        <a:rPr lang="es-ES" sz="2200" i="0" smtClean="0">
                          <a:solidFill>
                            <a:schemeClr val="tx2">
                              <a:lumMod val="50000"/>
                            </a:schemeClr>
                          </a:solidFill>
                          <a:latin typeface="Cambria Math" panose="02040503050406030204" pitchFamily="18" charset="0"/>
                        </a:rPr>
                        <m:t>26.36</m:t>
                      </m:r>
                      <m:r>
                        <m:rPr>
                          <m:nor/>
                        </m:rPr>
                        <a:rPr lang="es-GT" sz="2200" i="0" smtClean="0">
                          <a:solidFill>
                            <a:schemeClr val="tx2">
                              <a:lumMod val="50000"/>
                            </a:schemeClr>
                          </a:solidFill>
                          <a:latin typeface="Aptos" panose="020B0004020202020204" pitchFamily="34" charset="0"/>
                        </a:rPr>
                        <m:t> in</m:t>
                      </m:r>
                    </m:oMath>
                  </m:oMathPara>
                </a14:m>
                <a:endParaRPr lang="es-GT" sz="2200" dirty="0">
                  <a:solidFill>
                    <a:schemeClr val="tx2">
                      <a:lumMod val="50000"/>
                    </a:schemeClr>
                  </a:solidFill>
                  <a:latin typeface="Aptos" panose="020B0004020202020204" pitchFamily="34" charset="0"/>
                </a:endParaRPr>
              </a:p>
              <a:p>
                <a:pPr/>
                <a14:m>
                  <m:oMathPara xmlns:m="http://schemas.openxmlformats.org/officeDocument/2006/math">
                    <m:oMath>
                      <m:r>
                        <a:rPr lang="es-GT" sz="2200">
                          <a:solidFill>
                            <a:schemeClr val="bg1"/>
                          </a:solidFill>
                          <a:latin typeface="Cambria Math" panose="02040503050406030204" pitchFamily="18" charset="0"/>
                        </a:rPr>
                        <m:t>0.3</m:t>
                      </m:r>
                      <m:d>
                        <m:dPr>
                          <m:ctrlPr>
                            <a:rPr lang="es-GT" sz="2200">
                              <a:solidFill>
                                <a:schemeClr val="bg1"/>
                              </a:solidFill>
                              <a:latin typeface="Cambria Math" panose="02040503050406030204" pitchFamily="18" charset="0"/>
                            </a:rPr>
                          </m:ctrlPr>
                        </m:dPr>
                        <m:e>
                          <m:r>
                            <a:rPr lang="es-GT" sz="2200">
                              <a:solidFill>
                                <a:schemeClr val="bg1"/>
                              </a:solidFill>
                              <a:latin typeface="Cambria Math" panose="02040503050406030204" pitchFamily="18" charset="0"/>
                            </a:rPr>
                            <m:t>66</m:t>
                          </m:r>
                          <m:r>
                            <m:rPr>
                              <m:nor/>
                            </m:rPr>
                            <a:rPr lang="es-GT" sz="2200" i="0">
                              <a:solidFill>
                                <a:schemeClr val="bg1"/>
                              </a:solidFill>
                              <a:latin typeface="Aptos" panose="020B0004020202020204" pitchFamily="34" charset="0"/>
                            </a:rPr>
                            <m:t> ksi</m:t>
                          </m:r>
                        </m:e>
                      </m:d>
                      <m:d>
                        <m:dPr>
                          <m:ctrlPr>
                            <a:rPr lang="es-GT" sz="2200">
                              <a:solidFill>
                                <a:schemeClr val="bg1"/>
                              </a:solidFill>
                              <a:latin typeface="Cambria Math" panose="02040503050406030204" pitchFamily="18" charset="0"/>
                            </a:rPr>
                          </m:ctrlPr>
                        </m:dPr>
                        <m:e>
                          <m:r>
                            <a:rPr lang="es-GT" sz="2200">
                              <a:solidFill>
                                <a:schemeClr val="bg1"/>
                              </a:solidFill>
                              <a:latin typeface="Cambria Math" panose="02040503050406030204" pitchFamily="18" charset="0"/>
                            </a:rPr>
                            <m:t>1.693</m:t>
                          </m:r>
                          <m:r>
                            <m:rPr>
                              <m:nor/>
                            </m:rPr>
                            <a:rPr lang="es-GT" sz="2200" i="0">
                              <a:solidFill>
                                <a:schemeClr val="bg1"/>
                              </a:solidFill>
                              <a:latin typeface="Aptos" panose="020B0004020202020204" pitchFamily="34" charset="0"/>
                            </a:rPr>
                            <m:t> in</m:t>
                          </m:r>
                        </m:e>
                      </m:d>
                      <m:r>
                        <a:rPr lang="es-GT" sz="2200">
                          <a:solidFill>
                            <a:schemeClr val="bg1"/>
                          </a:solidFill>
                          <a:latin typeface="Cambria Math" panose="02040503050406030204" pitchFamily="18" charset="0"/>
                        </a:rPr>
                        <m:t>=</m:t>
                      </m:r>
                      <m:r>
                        <a:rPr lang="es-GT" sz="2200" smtClean="0">
                          <a:solidFill>
                            <a:schemeClr val="tx2">
                              <a:lumMod val="50000"/>
                            </a:schemeClr>
                          </a:solidFill>
                          <a:latin typeface="Cambria Math" panose="02040503050406030204" pitchFamily="18" charset="0"/>
                        </a:rPr>
                        <m:t>33.52</m:t>
                      </m:r>
                      <m:r>
                        <m:rPr>
                          <m:nor/>
                        </m:rPr>
                        <a:rPr lang="es-GT" sz="2200" i="0">
                          <a:solidFill>
                            <a:schemeClr val="tx2">
                              <a:lumMod val="50000"/>
                            </a:schemeClr>
                          </a:solidFill>
                          <a:latin typeface="Aptos" panose="020B0004020202020204" pitchFamily="34" charset="0"/>
                        </a:rPr>
                        <m:t> in</m:t>
                      </m:r>
                    </m:oMath>
                  </m:oMathPara>
                </a14:m>
                <a:endParaRPr lang="es-GT" sz="2200" dirty="0">
                  <a:solidFill>
                    <a:schemeClr val="tx2">
                      <a:lumMod val="50000"/>
                    </a:schemeClr>
                  </a:solidFill>
                  <a:latin typeface="Aptos" panose="020B0004020202020204" pitchFamily="34" charset="0"/>
                </a:endParaRPr>
              </a:p>
              <a:p>
                <a:pPr lvl="0"/>
                <a:endParaRPr lang="es-GT" sz="2200" dirty="0">
                  <a:solidFill>
                    <a:srgbClr val="00B0F0"/>
                  </a:solidFill>
                  <a:latin typeface="Aptos" panose="020B0004020202020204" pitchFamily="34" charset="0"/>
                </a:endParaRPr>
              </a:p>
              <a:p>
                <a:pPr marL="342900" lvl="0" indent="-342900" algn="just">
                  <a:buFont typeface="Arial" panose="020B0604020202020204" pitchFamily="34" charset="0"/>
                  <a:buChar char="•"/>
                </a:pPr>
                <a:r>
                  <a:rPr lang="es-GT" sz="2200" dirty="0">
                    <a:solidFill>
                      <a:schemeClr val="bg1"/>
                    </a:solidFill>
                    <a:latin typeface="Aptos" panose="020B0004020202020204" pitchFamily="34" charset="0"/>
                  </a:rPr>
                  <a:t>Al comparar ambos valores, gobierna </a:t>
                </a:r>
                <a14:m>
                  <m:oMath xmlns:m="http://schemas.openxmlformats.org/officeDocument/2006/math">
                    <m:r>
                      <a:rPr lang="es-GT" sz="2200">
                        <a:solidFill>
                          <a:schemeClr val="bg1"/>
                        </a:solidFill>
                        <a:latin typeface="Cambria Math" panose="02040503050406030204" pitchFamily="18" charset="0"/>
                      </a:rPr>
                      <m:t>3</m:t>
                    </m:r>
                    <m:r>
                      <m:rPr>
                        <m:nor/>
                      </m:rPr>
                      <a:rPr lang="es-GT" sz="2200" b="0" i="0" smtClean="0">
                        <a:solidFill>
                          <a:schemeClr val="bg1"/>
                        </a:solidFill>
                        <a:latin typeface="Cambria Math" panose="02040503050406030204" pitchFamily="18" charset="0"/>
                      </a:rPr>
                      <m:t>3.52</m:t>
                    </m:r>
                    <m:r>
                      <m:rPr>
                        <m:nor/>
                      </m:rPr>
                      <a:rPr lang="es-GT" sz="2200" i="0">
                        <a:solidFill>
                          <a:schemeClr val="bg1"/>
                        </a:solidFill>
                        <a:latin typeface="Aptos" panose="020B0004020202020204" pitchFamily="34" charset="0"/>
                      </a:rPr>
                      <m:t> in</m:t>
                    </m:r>
                  </m:oMath>
                </a14:m>
                <a:r>
                  <a:rPr lang="es-GT" sz="2200" dirty="0">
                    <a:solidFill>
                      <a:schemeClr val="bg1"/>
                    </a:solidFill>
                    <a:latin typeface="Aptos" panose="020B0004020202020204" pitchFamily="34" charset="0"/>
                  </a:rPr>
                  <a:t>. </a:t>
                </a:r>
              </a:p>
              <a:p>
                <a:pPr marL="342900" lvl="0" indent="-342900" algn="just">
                  <a:buFont typeface="Arial" panose="020B0604020202020204" pitchFamily="34" charset="0"/>
                  <a:buChar char="•"/>
                </a:pPr>
                <a:r>
                  <a:rPr lang="es-GT" sz="2200" dirty="0">
                    <a:solidFill>
                      <a:schemeClr val="bg1"/>
                    </a:solidFill>
                    <a:latin typeface="Aptos" panose="020B0004020202020204" pitchFamily="34" charset="0"/>
                  </a:rPr>
                  <a:t>El valor final que se debe usar para el diseño es el </a:t>
                </a:r>
                <a:r>
                  <a:rPr lang="es-GT" sz="2200" b="1" dirty="0">
                    <a:solidFill>
                      <a:schemeClr val="bg1"/>
                    </a:solidFill>
                    <a:latin typeface="Aptos" panose="020B0004020202020204" pitchFamily="34" charset="0"/>
                  </a:rPr>
                  <a:t>mayor</a:t>
                </a:r>
                <a:r>
                  <a:rPr lang="es-GT" sz="2200" dirty="0">
                    <a:solidFill>
                      <a:schemeClr val="bg1"/>
                    </a:solidFill>
                    <a:latin typeface="Aptos" panose="020B0004020202020204" pitchFamily="34" charset="0"/>
                  </a:rPr>
                  <a:t> de los dos resultados.</a:t>
                </a:r>
              </a:p>
              <a:p>
                <a:pPr algn="just"/>
                <a:endParaRPr lang="es-GT" sz="2200" dirty="0">
                  <a:solidFill>
                    <a:srgbClr val="00B0F0"/>
                  </a:solidFill>
                </a:endParaRPr>
              </a:p>
              <a:p>
                <a:pPr marL="342900" indent="-342900" algn="just">
                  <a:buFont typeface="Arial" panose="020B0604020202020204" pitchFamily="34" charset="0"/>
                  <a:buChar char="•"/>
                </a:pPr>
                <a:r>
                  <a:rPr lang="es-GT" sz="2200" dirty="0">
                    <a:solidFill>
                      <a:srgbClr val="00B0F0"/>
                    </a:solidFill>
                    <a:latin typeface="Aptos" panose="020B0004020202020204" pitchFamily="34" charset="0"/>
                  </a:rPr>
                  <a:t>Optimización Normativa: </a:t>
                </a:r>
                <a:r>
                  <a:rPr lang="es-GT" sz="2200" dirty="0">
                    <a:solidFill>
                      <a:schemeClr val="bg1"/>
                    </a:solidFill>
                    <a:latin typeface="Aptos" panose="020B0004020202020204" pitchFamily="34" charset="0"/>
                  </a:rPr>
                  <a:t>La norma permite optimizar, los estribos No. 8 a espaciamiento cerrado deben extenderse al menos 3 pies desde la cara de la zapata y 3 pies desde la cara de la viga cabezal.</a:t>
                </a:r>
              </a:p>
              <a:p>
                <a:pPr algn="just"/>
                <a:endParaRPr lang="es-GT" sz="2200" dirty="0">
                  <a:solidFill>
                    <a:schemeClr val="bg1"/>
                  </a:solidFill>
                  <a:latin typeface="Aptos" panose="020B0004020202020204" pitchFamily="34" charset="0"/>
                </a:endParaRPr>
              </a:p>
              <a:p>
                <a:pPr algn="just"/>
                <a:r>
                  <a:rPr lang="es-GT" sz="2200" dirty="0">
                    <a:solidFill>
                      <a:schemeClr val="bg1"/>
                    </a:solidFill>
                    <a:latin typeface="Aptos" panose="020B0004020202020204" pitchFamily="34" charset="0"/>
                  </a:rPr>
                  <a:t>Este límite asegura que, sin importar qué tan corta o rígida sea la columna, exista siempre una franja confinada suficiente para absorber la degradación de adherencia ocasionada por la tensión del acero.</a:t>
                </a:r>
              </a:p>
              <a:p>
                <a:pPr marL="342900" indent="-342900" algn="just">
                  <a:buFont typeface="Arial" panose="020B0604020202020204" pitchFamily="34" charset="0"/>
                  <a:buChar char="•"/>
                </a:pPr>
                <a:endParaRPr lang="es-GT" sz="2200" dirty="0">
                  <a:solidFill>
                    <a:schemeClr val="bg1"/>
                  </a:solidFill>
                  <a:latin typeface="Aptos" panose="020B0004020202020204" pitchFamily="34" charset="0"/>
                </a:endParaRPr>
              </a:p>
              <a:p>
                <a:pPr lvl="0"/>
                <a:endParaRPr lang="es-GT" sz="2200" dirty="0">
                  <a:solidFill>
                    <a:schemeClr val="bg1"/>
                  </a:solidFill>
                  <a:latin typeface="Aptos" panose="020B0004020202020204" pitchFamily="34" charset="0"/>
                </a:endParaRPr>
              </a:p>
            </p:txBody>
          </p:sp>
        </mc:Choice>
        <mc:Fallback xmlns="">
          <p:sp>
            <p:nvSpPr>
              <p:cNvPr id="11" name="CuadroTexto 10">
                <a:extLst>
                  <a:ext uri="{FF2B5EF4-FFF2-40B4-BE49-F238E27FC236}">
                    <a16:creationId xmlns:a16="http://schemas.microsoft.com/office/drawing/2014/main" id="{1852B80A-FCC5-D8C3-AEC7-1B982553D97F}"/>
                  </a:ext>
                </a:extLst>
              </p:cNvPr>
              <p:cNvSpPr txBox="1">
                <a:spLocks noRot="1" noChangeAspect="1" noMove="1" noResize="1" noEditPoints="1" noAdjustHandles="1" noChangeArrowheads="1" noChangeShapeType="1" noTextEdit="1"/>
              </p:cNvSpPr>
              <p:nvPr/>
            </p:nvSpPr>
            <p:spPr>
              <a:xfrm>
                <a:off x="762000" y="1356751"/>
                <a:ext cx="10858501" cy="5535298"/>
              </a:xfrm>
              <a:prstGeom prst="rect">
                <a:avLst/>
              </a:prstGeom>
              <a:blipFill>
                <a:blip r:embed="rId5"/>
                <a:stretch>
                  <a:fillRect l="-730" t="-771" r="-730"/>
                </a:stretch>
              </a:blipFill>
            </p:spPr>
            <p:txBody>
              <a:bodyPr/>
              <a:lstStyle/>
              <a:p>
                <a:r>
                  <a:rPr lang="es-GT">
                    <a:noFill/>
                  </a:rPr>
                  <a:t> </a:t>
                </a:r>
              </a:p>
            </p:txBody>
          </p:sp>
        </mc:Fallback>
      </mc:AlternateContent>
      <p:sp>
        <p:nvSpPr>
          <p:cNvPr id="99" name="Google Shape;99;p14">
            <a:extLst>
              <a:ext uri="{FF2B5EF4-FFF2-40B4-BE49-F238E27FC236}">
                <a16:creationId xmlns:a16="http://schemas.microsoft.com/office/drawing/2014/main" id="{5AC3D848-CA5A-5653-FFE8-3399AEE8511E}"/>
              </a:ext>
            </a:extLst>
          </p:cNvPr>
          <p:cNvSpPr/>
          <p:nvPr/>
        </p:nvSpPr>
        <p:spPr>
          <a:xfrm>
            <a:off x="571499" y="1457838"/>
            <a:ext cx="45719" cy="969390"/>
          </a:xfrm>
          <a:prstGeom prst="rect">
            <a:avLst/>
          </a:prstGeom>
          <a:solidFill>
            <a:srgbClr val="FCD3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CuadroTexto 2">
            <a:extLst>
              <a:ext uri="{FF2B5EF4-FFF2-40B4-BE49-F238E27FC236}">
                <a16:creationId xmlns:a16="http://schemas.microsoft.com/office/drawing/2014/main" id="{A2B6BB7E-4923-9E3C-FE4F-58C6F04606C8}"/>
              </a:ext>
            </a:extLst>
          </p:cNvPr>
          <p:cNvSpPr txBox="1"/>
          <p:nvPr/>
        </p:nvSpPr>
        <p:spPr>
          <a:xfrm>
            <a:off x="672963" y="697912"/>
            <a:ext cx="11097710" cy="461665"/>
          </a:xfrm>
          <a:prstGeom prst="rect">
            <a:avLst/>
          </a:prstGeom>
          <a:noFill/>
        </p:spPr>
        <p:txBody>
          <a:bodyPr wrap="square">
            <a:spAutoFit/>
          </a:bodyPr>
          <a:lstStyle/>
          <a:p>
            <a:pPr lvl="0"/>
            <a:r>
              <a:rPr lang="es-GT" sz="2400" dirty="0">
                <a:solidFill>
                  <a:schemeClr val="tx2">
                    <a:lumMod val="50000"/>
                  </a:schemeClr>
                </a:solidFill>
              </a:rPr>
              <a:t>Taller Analítico de </a:t>
            </a:r>
            <a:r>
              <a:rPr lang="es-GT" sz="2400" dirty="0" err="1">
                <a:solidFill>
                  <a:schemeClr val="tx2">
                    <a:lumMod val="50000"/>
                  </a:schemeClr>
                </a:solidFill>
              </a:rPr>
              <a:t>Sobrerresistencia</a:t>
            </a:r>
            <a:r>
              <a:rPr lang="es-GT" sz="2400" dirty="0">
                <a:solidFill>
                  <a:schemeClr val="tx2">
                    <a:lumMod val="50000"/>
                  </a:schemeClr>
                </a:solidFill>
              </a:rPr>
              <a:t> </a:t>
            </a:r>
            <a:endParaRPr lang="es-GT" sz="2300" dirty="0">
              <a:solidFill>
                <a:schemeClr val="tx2">
                  <a:lumMod val="50000"/>
                </a:schemeClr>
              </a:solidFill>
            </a:endParaRPr>
          </a:p>
        </p:txBody>
      </p:sp>
    </p:spTree>
    <p:extLst>
      <p:ext uri="{BB962C8B-B14F-4D97-AF65-F5344CB8AC3E}">
        <p14:creationId xmlns:p14="http://schemas.microsoft.com/office/powerpoint/2010/main" val="771829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F7AEBBDD-BBD3-DFAE-BE85-4877BACE4DF1}"/>
            </a:ext>
          </a:extLst>
        </p:cNvPr>
        <p:cNvGrpSpPr/>
        <p:nvPr/>
      </p:nvGrpSpPr>
      <p:grpSpPr>
        <a:xfrm>
          <a:off x="0" y="0"/>
          <a:ext cx="0" cy="0"/>
          <a:chOff x="0" y="0"/>
          <a:chExt cx="0" cy="0"/>
        </a:xfrm>
      </p:grpSpPr>
      <p:pic>
        <p:nvPicPr>
          <p:cNvPr id="93" name="Google Shape;93;p14" descr="image.png">
            <a:extLst>
              <a:ext uri="{FF2B5EF4-FFF2-40B4-BE49-F238E27FC236}">
                <a16:creationId xmlns:a16="http://schemas.microsoft.com/office/drawing/2014/main" id="{F531873A-3736-08C9-11C8-FD980D207872}"/>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4" name="Google Shape;94;p14">
            <a:extLst>
              <a:ext uri="{FF2B5EF4-FFF2-40B4-BE49-F238E27FC236}">
                <a16:creationId xmlns:a16="http://schemas.microsoft.com/office/drawing/2014/main" id="{19DC9F24-9592-C8B6-A717-73343B5F1762}"/>
              </a:ext>
            </a:extLst>
          </p:cNvPr>
          <p:cNvSpPr txBox="1"/>
          <p:nvPr/>
        </p:nvSpPr>
        <p:spPr>
          <a:xfrm>
            <a:off x="752168" y="190992"/>
            <a:ext cx="8844116" cy="609398"/>
          </a:xfrm>
          <a:prstGeom prst="rect">
            <a:avLst/>
          </a:prstGeom>
          <a:noFill/>
          <a:ln>
            <a:noFill/>
          </a:ln>
        </p:spPr>
        <p:txBody>
          <a:bodyPr spcFirstLastPara="1" wrap="square" lIns="0" tIns="0" rIns="0" bIns="0" anchor="t" anchorCtr="0">
            <a:spAutoFit/>
          </a:bodyPr>
          <a:lstStyle/>
          <a:p>
            <a:pPr lvl="0">
              <a:lnSpc>
                <a:spcPct val="119969"/>
              </a:lnSpc>
            </a:pPr>
            <a:r>
              <a:rPr lang="es-GT" sz="3200" b="1" dirty="0">
                <a:solidFill>
                  <a:srgbClr val="00B0F0"/>
                </a:solidFill>
                <a:latin typeface="Montserrat"/>
                <a:ea typeface="Montserrat"/>
                <a:cs typeface="Montserrat"/>
                <a:sym typeface="Montserrat"/>
              </a:rPr>
              <a:t>Diseño de la capacidad cortante</a:t>
            </a:r>
          </a:p>
        </p:txBody>
      </p:sp>
      <p:sp>
        <p:nvSpPr>
          <p:cNvPr id="95" name="Google Shape;95;p14">
            <a:extLst>
              <a:ext uri="{FF2B5EF4-FFF2-40B4-BE49-F238E27FC236}">
                <a16:creationId xmlns:a16="http://schemas.microsoft.com/office/drawing/2014/main" id="{0C0B675B-DE2F-ECEF-AC5F-630DAAE7665A}"/>
              </a:ext>
            </a:extLst>
          </p:cNvPr>
          <p:cNvSpPr/>
          <p:nvPr/>
        </p:nvSpPr>
        <p:spPr>
          <a:xfrm>
            <a:off x="571499" y="163691"/>
            <a:ext cx="45719" cy="689249"/>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 name="Google Shape;108;p15" descr="image.png">
            <a:extLst>
              <a:ext uri="{FF2B5EF4-FFF2-40B4-BE49-F238E27FC236}">
                <a16:creationId xmlns:a16="http://schemas.microsoft.com/office/drawing/2014/main" id="{0E4FA5B1-E61D-2B10-4C49-3B8C3A6D1A90}"/>
              </a:ext>
            </a:extLst>
          </p:cNvPr>
          <p:cNvPicPr preferRelativeResize="0"/>
          <p:nvPr/>
        </p:nvPicPr>
        <p:blipFill rotWithShape="1">
          <a:blip r:embed="rId4">
            <a:alphaModFix/>
          </a:blip>
          <a:srcRect/>
          <a:stretch/>
        </p:blipFill>
        <p:spPr>
          <a:xfrm>
            <a:off x="344128" y="991382"/>
            <a:ext cx="11425085" cy="5547070"/>
          </a:xfrm>
          <a:prstGeom prst="rect">
            <a:avLst/>
          </a:prstGeom>
          <a:noFill/>
          <a:ln>
            <a:noFill/>
          </a:ln>
        </p:spPr>
      </p:pic>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B03FB377-DE4E-D293-557B-26EDD7559069}"/>
                  </a:ext>
                </a:extLst>
              </p:cNvPr>
              <p:cNvSpPr txBox="1"/>
              <p:nvPr/>
            </p:nvSpPr>
            <p:spPr>
              <a:xfrm>
                <a:off x="661534" y="1207831"/>
                <a:ext cx="10757160" cy="5288564"/>
              </a:xfrm>
              <a:prstGeom prst="rect">
                <a:avLst/>
              </a:prstGeom>
              <a:noFill/>
            </p:spPr>
            <p:txBody>
              <a:bodyPr wrap="square">
                <a:spAutoFit/>
              </a:bodyPr>
              <a:lstStyle/>
              <a:p>
                <a:pPr algn="just"/>
                <a:r>
                  <a:rPr lang="es-GT" sz="2200" dirty="0">
                    <a:solidFill>
                      <a:schemeClr val="bg1"/>
                    </a:solidFill>
                    <a:latin typeface="Aptos" panose="020B0004020202020204" pitchFamily="34" charset="0"/>
                  </a:rPr>
                  <a:t>Una vez que se conocen la demanda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𝑉</m:t>
                        </m:r>
                      </m:e>
                      <m:sub>
                        <m:r>
                          <a:rPr lang="es-GT" sz="2200" i="1">
                            <a:solidFill>
                              <a:schemeClr val="bg1"/>
                            </a:solidFill>
                            <a:latin typeface="Cambria Math" panose="02040503050406030204" pitchFamily="18" charset="0"/>
                          </a:rPr>
                          <m:t>0</m:t>
                        </m:r>
                      </m:sub>
                    </m:sSub>
                  </m:oMath>
                </a14:m>
                <a:r>
                  <a:rPr lang="es-GT" sz="2200" dirty="0">
                    <a:solidFill>
                      <a:schemeClr val="bg1"/>
                    </a:solidFill>
                    <a:latin typeface="Aptos" panose="020B0004020202020204" pitchFamily="34" charset="0"/>
                  </a:rPr>
                  <a:t>) y dónde ocurrirá el daño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𝐿</m:t>
                        </m:r>
                      </m:e>
                      <m:sub>
                        <m:r>
                          <a:rPr lang="es-GT" sz="2200" i="1">
                            <a:solidFill>
                              <a:schemeClr val="bg1"/>
                            </a:solidFill>
                            <a:latin typeface="Cambria Math" panose="02040503050406030204" pitchFamily="18" charset="0"/>
                          </a:rPr>
                          <m:t>𝑝</m:t>
                        </m:r>
                      </m:sub>
                    </m:sSub>
                  </m:oMath>
                </a14:m>
                <a:r>
                  <a:rPr lang="es-GT" sz="2200" dirty="0">
                    <a:solidFill>
                      <a:schemeClr val="bg1"/>
                    </a:solidFill>
                    <a:latin typeface="Aptos" panose="020B0004020202020204" pitchFamily="34" charset="0"/>
                  </a:rPr>
                  <a:t>), debemos saber cómo la columna resiste esa fuerza para evitar la falla frágil.</a:t>
                </a:r>
              </a:p>
              <a:p>
                <a:endParaRPr lang="es-GT" sz="2400" dirty="0">
                  <a:solidFill>
                    <a:srgbClr val="00B0F0"/>
                  </a:solidFill>
                </a:endParaRPr>
              </a:p>
              <a:p>
                <a:r>
                  <a:rPr lang="es-GT" sz="2200" dirty="0">
                    <a:solidFill>
                      <a:srgbClr val="00B0F0"/>
                    </a:solidFill>
                  </a:rPr>
                  <a:t>1. </a:t>
                </a:r>
                <a:r>
                  <a:rPr lang="es-GT" sz="2200" b="1" dirty="0">
                    <a:solidFill>
                      <a:srgbClr val="00B0F0"/>
                    </a:solidFill>
                  </a:rPr>
                  <a:t>Degradación del Concreto (</a:t>
                </a:r>
                <a14:m>
                  <m:oMath xmlns:m="http://schemas.openxmlformats.org/officeDocument/2006/math">
                    <m:sSub>
                      <m:sSubPr>
                        <m:ctrlPr>
                          <a:rPr lang="es-GT" sz="2200" b="1" i="1">
                            <a:solidFill>
                              <a:srgbClr val="00B0F0"/>
                            </a:solidFill>
                            <a:latin typeface="Cambria Math" panose="02040503050406030204" pitchFamily="18" charset="0"/>
                          </a:rPr>
                        </m:ctrlPr>
                      </m:sSubPr>
                      <m:e>
                        <m:r>
                          <a:rPr lang="es-GT" sz="2200" b="1" i="1">
                            <a:solidFill>
                              <a:srgbClr val="00B0F0"/>
                            </a:solidFill>
                            <a:latin typeface="Cambria Math" panose="02040503050406030204" pitchFamily="18" charset="0"/>
                          </a:rPr>
                          <m:t>𝑽</m:t>
                        </m:r>
                      </m:e>
                      <m:sub>
                        <m:r>
                          <a:rPr lang="es-GT" sz="2200" b="1" i="1">
                            <a:solidFill>
                              <a:srgbClr val="00B0F0"/>
                            </a:solidFill>
                            <a:latin typeface="Cambria Math" panose="02040503050406030204" pitchFamily="18" charset="0"/>
                          </a:rPr>
                          <m:t>𝒄</m:t>
                        </m:r>
                      </m:sub>
                    </m:sSub>
                  </m:oMath>
                </a14:m>
                <a:r>
                  <a:rPr lang="es-GT" sz="2200" b="1" dirty="0">
                    <a:solidFill>
                      <a:srgbClr val="00B0F0"/>
                    </a:solidFill>
                  </a:rPr>
                  <a:t>): </a:t>
                </a:r>
                <a:r>
                  <a:rPr lang="es-GT" sz="2200" dirty="0">
                    <a:solidFill>
                      <a:schemeClr val="bg1"/>
                    </a:solidFill>
                  </a:rPr>
                  <a:t>La Pérdida de la Fricción Interna  </a:t>
                </a:r>
              </a:p>
              <a:p>
                <a:pPr algn="just"/>
                <a:r>
                  <a:rPr lang="es-GT" sz="2200" dirty="0">
                    <a:solidFill>
                      <a:schemeClr val="bg1"/>
                    </a:solidFill>
                    <a:latin typeface="Aptos" panose="020B0004020202020204" pitchFamily="34" charset="0"/>
                  </a:rPr>
                  <a:t>Explica que, dentro de la longitud de la rótula plástica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𝐿</m:t>
                        </m:r>
                      </m:e>
                      <m:sub>
                        <m:r>
                          <a:rPr lang="es-GT" sz="2200" i="1">
                            <a:solidFill>
                              <a:schemeClr val="bg1"/>
                            </a:solidFill>
                            <a:latin typeface="Cambria Math" panose="02040503050406030204" pitchFamily="18" charset="0"/>
                          </a:rPr>
                          <m:t>𝑝</m:t>
                        </m:r>
                      </m:sub>
                    </m:sSub>
                  </m:oMath>
                </a14:m>
                <a:r>
                  <a:rPr lang="es-GT" sz="2200" dirty="0">
                    <a:solidFill>
                      <a:schemeClr val="bg1"/>
                    </a:solidFill>
                    <a:latin typeface="Aptos" panose="020B0004020202020204" pitchFamily="34" charset="0"/>
                  </a:rPr>
                  <a:t>), el concreto estará masivamente agrietado por la inversión de esfuerzos cíclicos. En niveles altos de ductilidad, la norma AASHTO penaliza o asume que la contribución del concreto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𝑉</m:t>
                        </m:r>
                      </m:e>
                      <m:sub>
                        <m:r>
                          <a:rPr lang="es-GT" sz="2200" i="1">
                            <a:solidFill>
                              <a:schemeClr val="bg1"/>
                            </a:solidFill>
                            <a:latin typeface="Cambria Math" panose="02040503050406030204" pitchFamily="18" charset="0"/>
                          </a:rPr>
                          <m:t>𝑐</m:t>
                        </m:r>
                      </m:sub>
                    </m:sSub>
                  </m:oMath>
                </a14:m>
                <a:r>
                  <a:rPr lang="es-GT" sz="2200" dirty="0">
                    <a:solidFill>
                      <a:schemeClr val="bg1"/>
                    </a:solidFill>
                    <a:latin typeface="Aptos" panose="020B0004020202020204" pitchFamily="34" charset="0"/>
                  </a:rPr>
                  <a:t>) cae a cero.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𝑉</m:t>
                        </m:r>
                      </m:e>
                      <m:sub>
                        <m:r>
                          <a:rPr lang="es-GT" sz="2200" i="1">
                            <a:solidFill>
                              <a:schemeClr val="bg1"/>
                            </a:solidFill>
                            <a:latin typeface="Cambria Math" panose="02040503050406030204" pitchFamily="18" charset="0"/>
                          </a:rPr>
                          <m:t>𝑐</m:t>
                        </m:r>
                      </m:sub>
                    </m:sSub>
                    <m:r>
                      <a:rPr lang="es-GT" sz="2200" b="0" i="1" smtClean="0">
                        <a:solidFill>
                          <a:schemeClr val="bg1"/>
                        </a:solidFill>
                        <a:latin typeface="Cambria Math" panose="02040503050406030204" pitchFamily="18" charset="0"/>
                      </a:rPr>
                      <m:t>=0</m:t>
                    </m:r>
                  </m:oMath>
                </a14:m>
                <a:endParaRPr lang="es-GT" sz="2200" dirty="0">
                  <a:solidFill>
                    <a:schemeClr val="bg1"/>
                  </a:solidFill>
                  <a:latin typeface="Aptos" panose="020B0004020202020204" pitchFamily="34" charset="0"/>
                </a:endParaRPr>
              </a:p>
              <a:p>
                <a:pPr algn="ct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𝑉</m:t>
                        </m:r>
                      </m:e>
                      <m:sub>
                        <m:r>
                          <a:rPr lang="es-GT" sz="2200" i="1">
                            <a:solidFill>
                              <a:schemeClr val="bg1"/>
                            </a:solidFill>
                            <a:latin typeface="Cambria Math" panose="02040503050406030204" pitchFamily="18" charset="0"/>
                          </a:rPr>
                          <m:t>𝑛</m:t>
                        </m:r>
                      </m:sub>
                    </m:sSub>
                    <m:r>
                      <a:rPr lang="es-GT" sz="2200">
                        <a:solidFill>
                          <a:schemeClr val="bg1"/>
                        </a:solidFill>
                        <a:latin typeface="Cambria Math" panose="02040503050406030204" pitchFamily="18" charset="0"/>
                      </a:rPr>
                      <m:t>=</m:t>
                    </m:r>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𝑉</m:t>
                        </m:r>
                      </m:e>
                      <m:sub>
                        <m:r>
                          <a:rPr lang="es-GT" sz="2200" i="1">
                            <a:solidFill>
                              <a:schemeClr val="bg1"/>
                            </a:solidFill>
                            <a:latin typeface="Cambria Math" panose="02040503050406030204" pitchFamily="18" charset="0"/>
                          </a:rPr>
                          <m:t>𝑐</m:t>
                        </m:r>
                      </m:sub>
                    </m:sSub>
                    <m:r>
                      <a:rPr lang="es-GT" sz="2200">
                        <a:solidFill>
                          <a:schemeClr val="bg1"/>
                        </a:solidFill>
                        <a:latin typeface="Cambria Math" panose="02040503050406030204" pitchFamily="18" charset="0"/>
                      </a:rPr>
                      <m:t>+</m:t>
                    </m:r>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𝑉</m:t>
                        </m:r>
                      </m:e>
                      <m:sub>
                        <m:r>
                          <a:rPr lang="es-GT" sz="2200" i="1">
                            <a:solidFill>
                              <a:schemeClr val="bg1"/>
                            </a:solidFill>
                            <a:latin typeface="Cambria Math" panose="02040503050406030204" pitchFamily="18" charset="0"/>
                          </a:rPr>
                          <m:t>𝑠</m:t>
                        </m:r>
                      </m:sub>
                    </m:sSub>
                  </m:oMath>
                </a14:m>
                <a:r>
                  <a:rPr lang="es-GT" sz="2200" dirty="0">
                    <a:solidFill>
                      <a:schemeClr val="bg1"/>
                    </a:solidFill>
                    <a:latin typeface="Aptos" panose="020B0004020202020204" pitchFamily="34" charset="0"/>
                  </a:rPr>
                  <a:t> se reduce a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𝑉</m:t>
                        </m:r>
                      </m:e>
                      <m:sub>
                        <m:r>
                          <a:rPr lang="es-GT" sz="2200" i="1">
                            <a:solidFill>
                              <a:schemeClr val="bg1"/>
                            </a:solidFill>
                            <a:latin typeface="Cambria Math" panose="02040503050406030204" pitchFamily="18" charset="0"/>
                          </a:rPr>
                          <m:t>𝑛</m:t>
                        </m:r>
                      </m:sub>
                    </m:sSub>
                    <m:r>
                      <a:rPr lang="es-GT" sz="2200">
                        <a:solidFill>
                          <a:schemeClr val="bg1"/>
                        </a:solidFill>
                        <a:latin typeface="Cambria Math" panose="02040503050406030204" pitchFamily="18" charset="0"/>
                      </a:rPr>
                      <m:t>=</m:t>
                    </m:r>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𝑉</m:t>
                        </m:r>
                      </m:e>
                      <m:sub>
                        <m:r>
                          <a:rPr lang="es-GT" sz="2200" i="1">
                            <a:solidFill>
                              <a:schemeClr val="bg1"/>
                            </a:solidFill>
                            <a:latin typeface="Cambria Math" panose="02040503050406030204" pitchFamily="18" charset="0"/>
                          </a:rPr>
                          <m:t>𝑠</m:t>
                        </m:r>
                      </m:sub>
                    </m:sSub>
                  </m:oMath>
                </a14:m>
                <a:endParaRPr lang="es-GT" sz="2200" dirty="0">
                  <a:solidFill>
                    <a:schemeClr val="bg1"/>
                  </a:solidFill>
                  <a:latin typeface="Aptos" panose="020B0004020202020204" pitchFamily="34" charset="0"/>
                </a:endParaRPr>
              </a:p>
              <a:p>
                <a:pPr algn="ctr"/>
                <a:endParaRPr lang="es-GT" sz="2200" dirty="0">
                  <a:solidFill>
                    <a:schemeClr val="bg1"/>
                  </a:solidFill>
                  <a:latin typeface="Aptos" panose="020B0004020202020204" pitchFamily="34" charset="0"/>
                </a:endParaRPr>
              </a:p>
              <a:p>
                <a:pPr algn="ctr"/>
                <a:endParaRPr lang="es-GT" sz="2200" dirty="0">
                  <a:solidFill>
                    <a:schemeClr val="bg1"/>
                  </a:solidFill>
                  <a:latin typeface="Aptos" panose="020B0004020202020204" pitchFamily="34" charset="0"/>
                </a:endParaRPr>
              </a:p>
              <a:p>
                <a:pPr lvl="0" algn="just"/>
                <a14:m>
                  <m:oMath xmlns:m="http://schemas.openxmlformats.org/officeDocument/2006/math">
                    <m:sSub>
                      <m:sSubPr>
                        <m:ctrlPr>
                          <a:rPr lang="es-GT" sz="2200" b="0" i="1">
                            <a:solidFill>
                              <a:schemeClr val="bg1"/>
                            </a:solidFill>
                            <a:latin typeface="Cambria Math" panose="02040503050406030204" pitchFamily="18" charset="0"/>
                          </a:rPr>
                        </m:ctrlPr>
                      </m:sSubPr>
                      <m:e>
                        <m:r>
                          <a:rPr lang="es-GT" sz="2200" b="0" i="1">
                            <a:solidFill>
                              <a:schemeClr val="bg1"/>
                            </a:solidFill>
                            <a:latin typeface="Cambria Math" panose="02040503050406030204" pitchFamily="18" charset="0"/>
                          </a:rPr>
                          <m:t>𝑉</m:t>
                        </m:r>
                      </m:e>
                      <m:sub>
                        <m:r>
                          <a:rPr lang="es-GT" sz="2200" b="0" i="1">
                            <a:solidFill>
                              <a:schemeClr val="bg1"/>
                            </a:solidFill>
                            <a:latin typeface="Cambria Math" panose="02040503050406030204" pitchFamily="18" charset="0"/>
                          </a:rPr>
                          <m:t>𝑛</m:t>
                        </m:r>
                      </m:sub>
                    </m:sSub>
                  </m:oMath>
                </a14:m>
                <a:r>
                  <a:rPr lang="es-GT" sz="2200" dirty="0">
                    <a:solidFill>
                      <a:schemeClr val="bg1"/>
                    </a:solidFill>
                    <a:latin typeface="Aptos" panose="020B0004020202020204" pitchFamily="34" charset="0"/>
                  </a:rPr>
                  <a:t> = Resistencia Nominal a Cortante</a:t>
                </a:r>
              </a:p>
              <a:p>
                <a:pPr lvl="0" algn="just"/>
                <a14:m>
                  <m:oMath xmlns:m="http://schemas.openxmlformats.org/officeDocument/2006/math">
                    <m:sSub>
                      <m:sSubPr>
                        <m:ctrlPr>
                          <a:rPr lang="es-GT" sz="2200" b="0" i="1">
                            <a:solidFill>
                              <a:schemeClr val="bg1"/>
                            </a:solidFill>
                            <a:latin typeface="Cambria Math" panose="02040503050406030204" pitchFamily="18" charset="0"/>
                          </a:rPr>
                        </m:ctrlPr>
                      </m:sSubPr>
                      <m:e>
                        <m:r>
                          <a:rPr lang="es-GT" sz="2200" b="0" i="1">
                            <a:solidFill>
                              <a:schemeClr val="bg1"/>
                            </a:solidFill>
                            <a:latin typeface="Cambria Math" panose="02040503050406030204" pitchFamily="18" charset="0"/>
                          </a:rPr>
                          <m:t>𝑉</m:t>
                        </m:r>
                      </m:e>
                      <m:sub>
                        <m:r>
                          <a:rPr lang="es-GT" sz="2200" b="0" i="1">
                            <a:solidFill>
                              <a:schemeClr val="bg1"/>
                            </a:solidFill>
                            <a:latin typeface="Cambria Math" panose="02040503050406030204" pitchFamily="18" charset="0"/>
                          </a:rPr>
                          <m:t>𝑐</m:t>
                        </m:r>
                      </m:sub>
                    </m:sSub>
                  </m:oMath>
                </a14:m>
                <a:r>
                  <a:rPr lang="es-GT" sz="2200" dirty="0">
                    <a:solidFill>
                      <a:schemeClr val="bg1"/>
                    </a:solidFill>
                    <a:latin typeface="Aptos" panose="020B0004020202020204" pitchFamily="34" charset="0"/>
                  </a:rPr>
                  <a:t> = Resistencia al Cortante aportada por el Concreto</a:t>
                </a:r>
              </a:p>
              <a:p>
                <a:pPr lvl="0" algn="just"/>
                <a14:m>
                  <m:oMath xmlns:m="http://schemas.openxmlformats.org/officeDocument/2006/math">
                    <m:sSub>
                      <m:sSubPr>
                        <m:ctrlPr>
                          <a:rPr lang="es-GT" sz="2200" b="0" i="1">
                            <a:solidFill>
                              <a:schemeClr val="bg1"/>
                            </a:solidFill>
                            <a:latin typeface="Cambria Math" panose="02040503050406030204" pitchFamily="18" charset="0"/>
                          </a:rPr>
                        </m:ctrlPr>
                      </m:sSubPr>
                      <m:e>
                        <m:r>
                          <a:rPr lang="es-GT" sz="2200" b="0" i="1">
                            <a:solidFill>
                              <a:schemeClr val="bg1"/>
                            </a:solidFill>
                            <a:latin typeface="Cambria Math" panose="02040503050406030204" pitchFamily="18" charset="0"/>
                          </a:rPr>
                          <m:t>𝑉</m:t>
                        </m:r>
                      </m:e>
                      <m:sub>
                        <m:r>
                          <a:rPr lang="es-GT" sz="2200" b="0" i="1">
                            <a:solidFill>
                              <a:schemeClr val="bg1"/>
                            </a:solidFill>
                            <a:latin typeface="Cambria Math" panose="02040503050406030204" pitchFamily="18" charset="0"/>
                          </a:rPr>
                          <m:t>𝑠</m:t>
                        </m:r>
                      </m:sub>
                    </m:sSub>
                  </m:oMath>
                </a14:m>
                <a:r>
                  <a:rPr lang="es-GT" sz="2200" dirty="0">
                    <a:solidFill>
                      <a:schemeClr val="bg1"/>
                    </a:solidFill>
                    <a:latin typeface="Aptos" panose="020B0004020202020204" pitchFamily="34" charset="0"/>
                  </a:rPr>
                  <a:t> = Resistencia al Cortante aportada por el Acero</a:t>
                </a:r>
              </a:p>
              <a:p>
                <a:pPr algn="just"/>
                <a:endParaRPr lang="es-GT" sz="2400" dirty="0">
                  <a:solidFill>
                    <a:schemeClr val="bg1"/>
                  </a:solidFill>
                </a:endParaRPr>
              </a:p>
            </p:txBody>
          </p:sp>
        </mc:Choice>
        <mc:Fallback xmlns="">
          <p:sp>
            <p:nvSpPr>
              <p:cNvPr id="11" name="CuadroTexto 10">
                <a:extLst>
                  <a:ext uri="{FF2B5EF4-FFF2-40B4-BE49-F238E27FC236}">
                    <a16:creationId xmlns:a16="http://schemas.microsoft.com/office/drawing/2014/main" id="{B03FB377-DE4E-D293-557B-26EDD7559069}"/>
                  </a:ext>
                </a:extLst>
              </p:cNvPr>
              <p:cNvSpPr txBox="1">
                <a:spLocks noRot="1" noChangeAspect="1" noMove="1" noResize="1" noEditPoints="1" noAdjustHandles="1" noChangeArrowheads="1" noChangeShapeType="1" noTextEdit="1"/>
              </p:cNvSpPr>
              <p:nvPr/>
            </p:nvSpPr>
            <p:spPr>
              <a:xfrm>
                <a:off x="661534" y="1207831"/>
                <a:ext cx="10757160" cy="5288564"/>
              </a:xfrm>
              <a:prstGeom prst="rect">
                <a:avLst/>
              </a:prstGeom>
              <a:blipFill>
                <a:blip r:embed="rId5"/>
                <a:stretch>
                  <a:fillRect l="-737" t="-576" r="-737"/>
                </a:stretch>
              </a:blipFill>
            </p:spPr>
            <p:txBody>
              <a:bodyPr/>
              <a:lstStyle/>
              <a:p>
                <a:r>
                  <a:rPr lang="es-GT">
                    <a:noFill/>
                  </a:rPr>
                  <a:t> </a:t>
                </a:r>
              </a:p>
            </p:txBody>
          </p:sp>
        </mc:Fallback>
      </mc:AlternateContent>
      <p:sp>
        <p:nvSpPr>
          <p:cNvPr id="99" name="Google Shape;99;p14">
            <a:extLst>
              <a:ext uri="{FF2B5EF4-FFF2-40B4-BE49-F238E27FC236}">
                <a16:creationId xmlns:a16="http://schemas.microsoft.com/office/drawing/2014/main" id="{3DD2D811-3129-F0B9-7BB1-245162EC9EDC}"/>
              </a:ext>
            </a:extLst>
          </p:cNvPr>
          <p:cNvSpPr/>
          <p:nvPr/>
        </p:nvSpPr>
        <p:spPr>
          <a:xfrm>
            <a:off x="571499" y="1457838"/>
            <a:ext cx="45719" cy="969390"/>
          </a:xfrm>
          <a:prstGeom prst="rect">
            <a:avLst/>
          </a:prstGeom>
          <a:solidFill>
            <a:srgbClr val="FCD3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CuadroTexto 2">
            <a:extLst>
              <a:ext uri="{FF2B5EF4-FFF2-40B4-BE49-F238E27FC236}">
                <a16:creationId xmlns:a16="http://schemas.microsoft.com/office/drawing/2014/main" id="{6B2D3CF0-0C88-5595-86C3-A66264EBA2CD}"/>
              </a:ext>
            </a:extLst>
          </p:cNvPr>
          <p:cNvSpPr txBox="1"/>
          <p:nvPr/>
        </p:nvSpPr>
        <p:spPr>
          <a:xfrm>
            <a:off x="661534" y="726906"/>
            <a:ext cx="6177394" cy="307777"/>
          </a:xfrm>
          <a:prstGeom prst="rect">
            <a:avLst/>
          </a:prstGeom>
          <a:noFill/>
        </p:spPr>
        <p:txBody>
          <a:bodyPr wrap="square">
            <a:spAutoFit/>
          </a:bodyPr>
          <a:lstStyle/>
          <a:p>
            <a:pPr algn="just"/>
            <a:r>
              <a:rPr lang="es-GT" b="1" dirty="0"/>
              <a:t>)</a:t>
            </a:r>
            <a:endParaRPr lang="es-GT" sz="2300" b="1" dirty="0">
              <a:solidFill>
                <a:schemeClr val="tx2">
                  <a:lumMod val="50000"/>
                </a:schemeClr>
              </a:solidFill>
            </a:endParaRPr>
          </a:p>
        </p:txBody>
      </p:sp>
    </p:spTree>
    <p:extLst>
      <p:ext uri="{BB962C8B-B14F-4D97-AF65-F5344CB8AC3E}">
        <p14:creationId xmlns:p14="http://schemas.microsoft.com/office/powerpoint/2010/main" val="774388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9F7BCDCC-35AB-2AE8-6EA8-056B39405624}"/>
            </a:ext>
          </a:extLst>
        </p:cNvPr>
        <p:cNvGrpSpPr/>
        <p:nvPr/>
      </p:nvGrpSpPr>
      <p:grpSpPr>
        <a:xfrm>
          <a:off x="0" y="0"/>
          <a:ext cx="0" cy="0"/>
          <a:chOff x="0" y="0"/>
          <a:chExt cx="0" cy="0"/>
        </a:xfrm>
      </p:grpSpPr>
      <p:pic>
        <p:nvPicPr>
          <p:cNvPr id="93" name="Google Shape;93;p14" descr="image.png">
            <a:extLst>
              <a:ext uri="{FF2B5EF4-FFF2-40B4-BE49-F238E27FC236}">
                <a16:creationId xmlns:a16="http://schemas.microsoft.com/office/drawing/2014/main" id="{E94BBFB8-30CA-E531-A666-0727F2BC8BA1}"/>
              </a:ext>
            </a:extLst>
          </p:cNvPr>
          <p:cNvPicPr preferRelativeResize="0"/>
          <p:nvPr/>
        </p:nvPicPr>
        <p:blipFill rotWithShape="1">
          <a:blip r:embed="rId3">
            <a:alphaModFix/>
          </a:blip>
          <a:srcRect/>
          <a:stretch/>
        </p:blipFill>
        <p:spPr>
          <a:xfrm>
            <a:off x="0" y="31946"/>
            <a:ext cx="12192000" cy="6858000"/>
          </a:xfrm>
          <a:prstGeom prst="rect">
            <a:avLst/>
          </a:prstGeom>
          <a:noFill/>
          <a:ln>
            <a:noFill/>
          </a:ln>
        </p:spPr>
      </p:pic>
      <p:sp>
        <p:nvSpPr>
          <p:cNvPr id="94" name="Google Shape;94;p14">
            <a:extLst>
              <a:ext uri="{FF2B5EF4-FFF2-40B4-BE49-F238E27FC236}">
                <a16:creationId xmlns:a16="http://schemas.microsoft.com/office/drawing/2014/main" id="{31688562-A148-9C67-6919-4C6A7005A43B}"/>
              </a:ext>
            </a:extLst>
          </p:cNvPr>
          <p:cNvSpPr txBox="1"/>
          <p:nvPr/>
        </p:nvSpPr>
        <p:spPr>
          <a:xfrm>
            <a:off x="752168" y="190992"/>
            <a:ext cx="8844116" cy="609398"/>
          </a:xfrm>
          <a:prstGeom prst="rect">
            <a:avLst/>
          </a:prstGeom>
          <a:noFill/>
          <a:ln>
            <a:noFill/>
          </a:ln>
        </p:spPr>
        <p:txBody>
          <a:bodyPr spcFirstLastPara="1" wrap="square" lIns="0" tIns="0" rIns="0" bIns="0" anchor="t" anchorCtr="0">
            <a:spAutoFit/>
          </a:bodyPr>
          <a:lstStyle/>
          <a:p>
            <a:pPr lvl="0">
              <a:lnSpc>
                <a:spcPct val="119969"/>
              </a:lnSpc>
            </a:pPr>
            <a:r>
              <a:rPr lang="es-GT" sz="3200" b="1" dirty="0">
                <a:solidFill>
                  <a:srgbClr val="00B0F0"/>
                </a:solidFill>
                <a:latin typeface="Montserrat"/>
                <a:ea typeface="Montserrat"/>
                <a:cs typeface="Montserrat"/>
                <a:sym typeface="Montserrat"/>
              </a:rPr>
              <a:t>Diseño de la capacidad cortante</a:t>
            </a:r>
          </a:p>
        </p:txBody>
      </p:sp>
      <p:sp>
        <p:nvSpPr>
          <p:cNvPr id="95" name="Google Shape;95;p14">
            <a:extLst>
              <a:ext uri="{FF2B5EF4-FFF2-40B4-BE49-F238E27FC236}">
                <a16:creationId xmlns:a16="http://schemas.microsoft.com/office/drawing/2014/main" id="{2AE2B93E-CCB4-B557-87A4-89881875D55C}"/>
              </a:ext>
            </a:extLst>
          </p:cNvPr>
          <p:cNvSpPr/>
          <p:nvPr/>
        </p:nvSpPr>
        <p:spPr>
          <a:xfrm>
            <a:off x="571499" y="163691"/>
            <a:ext cx="45719" cy="636699"/>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 name="Google Shape;108;p15" descr="image.png">
            <a:extLst>
              <a:ext uri="{FF2B5EF4-FFF2-40B4-BE49-F238E27FC236}">
                <a16:creationId xmlns:a16="http://schemas.microsoft.com/office/drawing/2014/main" id="{F9997B3A-B1E1-642A-3585-1496B1585553}"/>
              </a:ext>
            </a:extLst>
          </p:cNvPr>
          <p:cNvPicPr preferRelativeResize="0"/>
          <p:nvPr/>
        </p:nvPicPr>
        <p:blipFill rotWithShape="1">
          <a:blip r:embed="rId4">
            <a:alphaModFix/>
          </a:blip>
          <a:srcRect/>
          <a:stretch/>
        </p:blipFill>
        <p:spPr>
          <a:xfrm>
            <a:off x="294237" y="973538"/>
            <a:ext cx="11642123" cy="5766260"/>
          </a:xfrm>
          <a:prstGeom prst="rect">
            <a:avLst/>
          </a:prstGeom>
          <a:noFill/>
          <a:ln>
            <a:noFill/>
          </a:ln>
        </p:spPr>
      </p:pic>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94C9F324-5427-DE45-4659-D2529F215CBB}"/>
                  </a:ext>
                </a:extLst>
              </p:cNvPr>
              <p:cNvSpPr txBox="1"/>
              <p:nvPr/>
            </p:nvSpPr>
            <p:spPr>
              <a:xfrm>
                <a:off x="661534" y="1207831"/>
                <a:ext cx="11117510" cy="5663089"/>
              </a:xfrm>
              <a:prstGeom prst="rect">
                <a:avLst/>
              </a:prstGeom>
              <a:noFill/>
            </p:spPr>
            <p:txBody>
              <a:bodyPr wrap="square">
                <a:spAutoFit/>
              </a:bodyPr>
              <a:lstStyle/>
              <a:p>
                <a:pPr algn="just"/>
                <a:r>
                  <a:rPr lang="es-GT" sz="2200" dirty="0">
                    <a:solidFill>
                      <a:schemeClr val="bg1"/>
                    </a:solidFill>
                    <a:latin typeface="Aptos" panose="020B0004020202020204" pitchFamily="34" charset="0"/>
                  </a:rPr>
                  <a:t>El acero transversal  entra a "salvar" el elemento desempeñando tres roles críticos:</a:t>
                </a:r>
              </a:p>
              <a:p>
                <a:pPr marL="342900" indent="-342900" algn="just">
                  <a:buFont typeface="Arial" panose="020B0604020202020204" pitchFamily="34" charset="0"/>
                  <a:buChar char="•"/>
                </a:pPr>
                <a:endParaRPr lang="es-GT" sz="2200" b="1" dirty="0">
                  <a:solidFill>
                    <a:schemeClr val="tx2">
                      <a:lumMod val="50000"/>
                    </a:schemeClr>
                  </a:solidFill>
                  <a:latin typeface="Aptos" panose="020B0004020202020204" pitchFamily="34" charset="0"/>
                </a:endParaRPr>
              </a:p>
              <a:p>
                <a:pPr marL="342900" indent="-342900" algn="just">
                  <a:buFont typeface="Arial" panose="020B0604020202020204" pitchFamily="34" charset="0"/>
                  <a:buChar char="•"/>
                </a:pPr>
                <a:r>
                  <a:rPr lang="es-GT" sz="2100" b="1" dirty="0">
                    <a:solidFill>
                      <a:schemeClr val="tx2">
                        <a:lumMod val="50000"/>
                      </a:schemeClr>
                    </a:solidFill>
                    <a:latin typeface="Aptos" panose="020B0004020202020204" pitchFamily="34" charset="0"/>
                  </a:rPr>
                  <a:t>Absorción directa del cortante:</a:t>
                </a:r>
                <a:r>
                  <a:rPr lang="es-GT" sz="2100" dirty="0">
                    <a:solidFill>
                      <a:schemeClr val="tx2">
                        <a:lumMod val="50000"/>
                      </a:schemeClr>
                    </a:solidFill>
                    <a:latin typeface="Aptos" panose="020B0004020202020204" pitchFamily="34" charset="0"/>
                  </a:rPr>
                  <a:t> </a:t>
                </a:r>
                <a:r>
                  <a:rPr lang="es-GT" sz="2100" dirty="0">
                    <a:solidFill>
                      <a:schemeClr val="bg1"/>
                    </a:solidFill>
                    <a:latin typeface="Aptos" panose="020B0004020202020204" pitchFamily="34" charset="0"/>
                  </a:rPr>
                  <a:t>Actúa como la "celosía" a tensión que cruza las grietas diagonales del concreto, manteniendo la integridad de la sección y transmitiendo las fuerzas una vez que el concreto se agrieta.</a:t>
                </a:r>
              </a:p>
              <a:p>
                <a:pPr marL="342900" indent="-342900" algn="just">
                  <a:buFont typeface="Arial" panose="020B0604020202020204" pitchFamily="34" charset="0"/>
                  <a:buChar char="•"/>
                </a:pPr>
                <a:endParaRPr lang="es-GT" sz="2100" dirty="0">
                  <a:solidFill>
                    <a:schemeClr val="bg1"/>
                  </a:solidFill>
                  <a:latin typeface="Aptos" panose="020B0004020202020204" pitchFamily="34" charset="0"/>
                </a:endParaRPr>
              </a:p>
              <a:p>
                <a:pPr marL="342900" lvl="0" indent="-342900" algn="just">
                  <a:buFont typeface="Arial" panose="020B0604020202020204" pitchFamily="34" charset="0"/>
                  <a:buChar char="•"/>
                </a:pPr>
                <a:r>
                  <a:rPr lang="es-GT" sz="2100" b="1" dirty="0">
                    <a:solidFill>
                      <a:schemeClr val="tx2">
                        <a:lumMod val="50000"/>
                      </a:schemeClr>
                    </a:solidFill>
                    <a:latin typeface="Aptos" panose="020B0004020202020204" pitchFamily="34" charset="0"/>
                  </a:rPr>
                  <a:t>Confinamiento del núcleo de concreto:</a:t>
                </a:r>
                <a:r>
                  <a:rPr lang="es-GT" sz="2100" dirty="0">
                    <a:solidFill>
                      <a:schemeClr val="tx2">
                        <a:lumMod val="50000"/>
                      </a:schemeClr>
                    </a:solidFill>
                    <a:latin typeface="Aptos" panose="020B0004020202020204" pitchFamily="34" charset="0"/>
                  </a:rPr>
                  <a:t> </a:t>
                </a:r>
                <a:r>
                  <a:rPr lang="es-GT" sz="2100" dirty="0">
                    <a:solidFill>
                      <a:schemeClr val="bg1"/>
                    </a:solidFill>
                    <a:latin typeface="Aptos" panose="020B0004020202020204" pitchFamily="34" charset="0"/>
                  </a:rPr>
                  <a:t>El acero transversal abraza el núcleo del elemento. Al evitar que el concreto se expanda lateralmente bajo gran compresión, aumenta drásticamente tanto su resistencia máxima (</a:t>
                </a:r>
                <a14:m>
                  <m:oMath xmlns:m="http://schemas.openxmlformats.org/officeDocument/2006/math">
                    <m:r>
                      <a:rPr lang="es-GT" sz="2100" i="1">
                        <a:solidFill>
                          <a:schemeClr val="bg1"/>
                        </a:solidFill>
                        <a:latin typeface="Cambria Math" panose="02040503050406030204" pitchFamily="18" charset="0"/>
                      </a:rPr>
                      <m:t>𝑓</m:t>
                    </m:r>
                    <m:sSub>
                      <m:sSubPr>
                        <m:ctrlPr>
                          <a:rPr lang="es-GT" sz="2100" i="1">
                            <a:solidFill>
                              <a:schemeClr val="bg1"/>
                            </a:solidFill>
                            <a:latin typeface="Cambria Math" panose="02040503050406030204" pitchFamily="18" charset="0"/>
                          </a:rPr>
                        </m:ctrlPr>
                      </m:sSubPr>
                      <m:e>
                        <m:r>
                          <a:rPr lang="es-GT" sz="2100" i="1">
                            <a:solidFill>
                              <a:schemeClr val="bg1"/>
                            </a:solidFill>
                            <a:latin typeface="Cambria Math" panose="02040503050406030204" pitchFamily="18" charset="0"/>
                          </a:rPr>
                          <m:t>′</m:t>
                        </m:r>
                      </m:e>
                      <m:sub>
                        <m:r>
                          <a:rPr lang="es-GT" sz="2100" i="1">
                            <a:solidFill>
                              <a:schemeClr val="bg1"/>
                            </a:solidFill>
                            <a:latin typeface="Cambria Math" panose="02040503050406030204" pitchFamily="18" charset="0"/>
                          </a:rPr>
                          <m:t>𝑐</m:t>
                        </m:r>
                      </m:sub>
                    </m:sSub>
                  </m:oMath>
                </a14:m>
                <a:r>
                  <a:rPr lang="es-GT" sz="2100" dirty="0">
                    <a:solidFill>
                      <a:schemeClr val="bg1"/>
                    </a:solidFill>
                    <a:latin typeface="Aptos" panose="020B0004020202020204" pitchFamily="34" charset="0"/>
                  </a:rPr>
                  <a:t>) como su deformación unitaria última (</a:t>
                </a:r>
                <a14:m>
                  <m:oMath xmlns:m="http://schemas.openxmlformats.org/officeDocument/2006/math">
                    <m:sSub>
                      <m:sSubPr>
                        <m:ctrlPr>
                          <a:rPr lang="es-GT" sz="2100" i="1">
                            <a:solidFill>
                              <a:schemeClr val="bg1"/>
                            </a:solidFill>
                            <a:latin typeface="Cambria Math" panose="02040503050406030204" pitchFamily="18" charset="0"/>
                          </a:rPr>
                        </m:ctrlPr>
                      </m:sSubPr>
                      <m:e>
                        <m:r>
                          <a:rPr lang="es-GT" sz="2100" i="1">
                            <a:solidFill>
                              <a:schemeClr val="bg1"/>
                            </a:solidFill>
                            <a:latin typeface="Cambria Math" panose="02040503050406030204" pitchFamily="18" charset="0"/>
                          </a:rPr>
                          <m:t>𝜖</m:t>
                        </m:r>
                      </m:e>
                      <m:sub>
                        <m:r>
                          <a:rPr lang="es-GT" sz="2100" i="1">
                            <a:solidFill>
                              <a:schemeClr val="bg1"/>
                            </a:solidFill>
                            <a:latin typeface="Cambria Math" panose="02040503050406030204" pitchFamily="18" charset="0"/>
                          </a:rPr>
                          <m:t>𝑐𝑢</m:t>
                        </m:r>
                      </m:sub>
                    </m:sSub>
                  </m:oMath>
                </a14:m>
                <a:r>
                  <a:rPr lang="es-GT" sz="2100" dirty="0">
                    <a:solidFill>
                      <a:schemeClr val="bg1"/>
                    </a:solidFill>
                    <a:latin typeface="Aptos" panose="020B0004020202020204" pitchFamily="34" charset="0"/>
                  </a:rPr>
                  <a:t>). Esto es lo que permite que el elemento desarrolle ductilidad y disipe energía sin colapsar.</a:t>
                </a:r>
              </a:p>
              <a:p>
                <a:pPr marL="342900" lvl="0" indent="-342900" algn="just">
                  <a:buFont typeface="Arial" panose="020B0604020202020204" pitchFamily="34" charset="0"/>
                  <a:buChar char="•"/>
                </a:pPr>
                <a:endParaRPr lang="es-GT" sz="2100" dirty="0">
                  <a:solidFill>
                    <a:schemeClr val="bg1"/>
                  </a:solidFill>
                  <a:latin typeface="Aptos" panose="020B0004020202020204" pitchFamily="34" charset="0"/>
                </a:endParaRPr>
              </a:p>
              <a:p>
                <a:pPr marL="342900" lvl="0" indent="-342900" algn="just">
                  <a:buFont typeface="Arial" panose="020B0604020202020204" pitchFamily="34" charset="0"/>
                  <a:buChar char="•"/>
                </a:pPr>
                <a:r>
                  <a:rPr lang="es-GT" sz="2100" b="1" dirty="0">
                    <a:solidFill>
                      <a:schemeClr val="tx2">
                        <a:lumMod val="50000"/>
                      </a:schemeClr>
                    </a:solidFill>
                    <a:latin typeface="Aptos" panose="020B0004020202020204" pitchFamily="34" charset="0"/>
                  </a:rPr>
                  <a:t>Prevención del pandeo longitudinal:</a:t>
                </a:r>
                <a:r>
                  <a:rPr lang="es-GT" sz="2100" dirty="0">
                    <a:solidFill>
                      <a:schemeClr val="tx2">
                        <a:lumMod val="50000"/>
                      </a:schemeClr>
                    </a:solidFill>
                    <a:latin typeface="Aptos" panose="020B0004020202020204" pitchFamily="34" charset="0"/>
                  </a:rPr>
                  <a:t> </a:t>
                </a:r>
                <a:r>
                  <a:rPr lang="es-GT" sz="2100" dirty="0">
                    <a:solidFill>
                      <a:schemeClr val="bg1"/>
                    </a:solidFill>
                    <a:latin typeface="Aptos" panose="020B0004020202020204" pitchFamily="34" charset="0"/>
                  </a:rPr>
                  <a:t>Durante el sismo, las barras de acero longitudinal fluyen en tensión y, en el siguiente ciclo, son sometidas a fuerte compresión. Sin un acero transversal estrechamente espaciado, estas barras se pandearían hacia afuera, reventando el concreto y provocando la falla súbita de la columna o viga.</a:t>
                </a:r>
              </a:p>
              <a:p>
                <a:pPr algn="just"/>
                <a:endParaRPr lang="es-GT" sz="2400" dirty="0">
                  <a:solidFill>
                    <a:schemeClr val="bg1"/>
                  </a:solidFill>
                </a:endParaRPr>
              </a:p>
            </p:txBody>
          </p:sp>
        </mc:Choice>
        <mc:Fallback xmlns="">
          <p:sp>
            <p:nvSpPr>
              <p:cNvPr id="11" name="CuadroTexto 10">
                <a:extLst>
                  <a:ext uri="{FF2B5EF4-FFF2-40B4-BE49-F238E27FC236}">
                    <a16:creationId xmlns:a16="http://schemas.microsoft.com/office/drawing/2014/main" id="{94C9F324-5427-DE45-4659-D2529F215CBB}"/>
                  </a:ext>
                </a:extLst>
              </p:cNvPr>
              <p:cNvSpPr txBox="1">
                <a:spLocks noRot="1" noChangeAspect="1" noMove="1" noResize="1" noEditPoints="1" noAdjustHandles="1" noChangeArrowheads="1" noChangeShapeType="1" noTextEdit="1"/>
              </p:cNvSpPr>
              <p:nvPr/>
            </p:nvSpPr>
            <p:spPr>
              <a:xfrm>
                <a:off x="661534" y="1207831"/>
                <a:ext cx="11117510" cy="5663089"/>
              </a:xfrm>
              <a:prstGeom prst="rect">
                <a:avLst/>
              </a:prstGeom>
              <a:blipFill>
                <a:blip r:embed="rId5"/>
                <a:stretch>
                  <a:fillRect l="-713" t="-753" r="-658"/>
                </a:stretch>
              </a:blipFill>
            </p:spPr>
            <p:txBody>
              <a:bodyPr/>
              <a:lstStyle/>
              <a:p>
                <a:r>
                  <a:rPr lang="es-GT">
                    <a:noFill/>
                  </a:rPr>
                  <a:t> </a:t>
                </a:r>
              </a:p>
            </p:txBody>
          </p:sp>
        </mc:Fallback>
      </mc:AlternateContent>
      <p:sp>
        <p:nvSpPr>
          <p:cNvPr id="99" name="Google Shape;99;p14">
            <a:extLst>
              <a:ext uri="{FF2B5EF4-FFF2-40B4-BE49-F238E27FC236}">
                <a16:creationId xmlns:a16="http://schemas.microsoft.com/office/drawing/2014/main" id="{487A8143-F5C0-17E7-D4F6-B4E9042E9532}"/>
              </a:ext>
            </a:extLst>
          </p:cNvPr>
          <p:cNvSpPr/>
          <p:nvPr/>
        </p:nvSpPr>
        <p:spPr>
          <a:xfrm>
            <a:off x="571499" y="1457838"/>
            <a:ext cx="45719" cy="969390"/>
          </a:xfrm>
          <a:prstGeom prst="rect">
            <a:avLst/>
          </a:prstGeom>
          <a:solidFill>
            <a:srgbClr val="FCD3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CuadroTexto 2">
            <a:extLst>
              <a:ext uri="{FF2B5EF4-FFF2-40B4-BE49-F238E27FC236}">
                <a16:creationId xmlns:a16="http://schemas.microsoft.com/office/drawing/2014/main" id="{2165F07E-6AA2-FE52-131B-7C6B2CB0A45B}"/>
              </a:ext>
            </a:extLst>
          </p:cNvPr>
          <p:cNvSpPr txBox="1"/>
          <p:nvPr/>
        </p:nvSpPr>
        <p:spPr>
          <a:xfrm>
            <a:off x="661534" y="726906"/>
            <a:ext cx="6177394" cy="307777"/>
          </a:xfrm>
          <a:prstGeom prst="rect">
            <a:avLst/>
          </a:prstGeom>
          <a:noFill/>
        </p:spPr>
        <p:txBody>
          <a:bodyPr wrap="square">
            <a:spAutoFit/>
          </a:bodyPr>
          <a:lstStyle/>
          <a:p>
            <a:pPr algn="just"/>
            <a:r>
              <a:rPr lang="es-GT" b="1" dirty="0"/>
              <a:t>)</a:t>
            </a:r>
            <a:endParaRPr lang="es-GT" sz="2300" b="1" dirty="0">
              <a:solidFill>
                <a:schemeClr val="tx2">
                  <a:lumMod val="50000"/>
                </a:schemeClr>
              </a:solidFill>
            </a:endParaRPr>
          </a:p>
        </p:txBody>
      </p:sp>
    </p:spTree>
    <p:extLst>
      <p:ext uri="{BB962C8B-B14F-4D97-AF65-F5344CB8AC3E}">
        <p14:creationId xmlns:p14="http://schemas.microsoft.com/office/powerpoint/2010/main" val="1621036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B307D048-4F70-59B6-E05F-1593CEAA085E}"/>
            </a:ext>
          </a:extLst>
        </p:cNvPr>
        <p:cNvGrpSpPr/>
        <p:nvPr/>
      </p:nvGrpSpPr>
      <p:grpSpPr>
        <a:xfrm>
          <a:off x="0" y="0"/>
          <a:ext cx="0" cy="0"/>
          <a:chOff x="0" y="0"/>
          <a:chExt cx="0" cy="0"/>
        </a:xfrm>
      </p:grpSpPr>
      <p:pic>
        <p:nvPicPr>
          <p:cNvPr id="93" name="Google Shape;93;p14" descr="image.png">
            <a:extLst>
              <a:ext uri="{FF2B5EF4-FFF2-40B4-BE49-F238E27FC236}">
                <a16:creationId xmlns:a16="http://schemas.microsoft.com/office/drawing/2014/main" id="{5308F3D0-416E-AA51-3AA1-5BEB94703043}"/>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4" name="Google Shape;94;p14">
            <a:extLst>
              <a:ext uri="{FF2B5EF4-FFF2-40B4-BE49-F238E27FC236}">
                <a16:creationId xmlns:a16="http://schemas.microsoft.com/office/drawing/2014/main" id="{C39A5C4A-249A-04E3-C86E-CC521B14A20C}"/>
              </a:ext>
            </a:extLst>
          </p:cNvPr>
          <p:cNvSpPr txBox="1"/>
          <p:nvPr/>
        </p:nvSpPr>
        <p:spPr>
          <a:xfrm>
            <a:off x="762000" y="205826"/>
            <a:ext cx="8844116" cy="664797"/>
          </a:xfrm>
          <a:prstGeom prst="rect">
            <a:avLst/>
          </a:prstGeom>
          <a:noFill/>
          <a:ln>
            <a:noFill/>
          </a:ln>
        </p:spPr>
        <p:txBody>
          <a:bodyPr spcFirstLastPara="1" wrap="square" lIns="0" tIns="0" rIns="0" bIns="0" anchor="t" anchorCtr="0">
            <a:spAutoFit/>
          </a:bodyPr>
          <a:lstStyle/>
          <a:p>
            <a:pPr lvl="0">
              <a:lnSpc>
                <a:spcPct val="119969"/>
              </a:lnSpc>
            </a:pPr>
            <a:r>
              <a:rPr lang="es-GT" sz="3600" b="1" dirty="0">
                <a:solidFill>
                  <a:srgbClr val="00B0F0"/>
                </a:solidFill>
                <a:latin typeface="Montserrat"/>
                <a:ea typeface="Montserrat"/>
                <a:cs typeface="Montserrat"/>
                <a:sym typeface="Montserrat"/>
              </a:rPr>
              <a:t>Diseño de la capacidad cortante</a:t>
            </a:r>
          </a:p>
        </p:txBody>
      </p:sp>
      <p:sp>
        <p:nvSpPr>
          <p:cNvPr id="95" name="Google Shape;95;p14">
            <a:extLst>
              <a:ext uri="{FF2B5EF4-FFF2-40B4-BE49-F238E27FC236}">
                <a16:creationId xmlns:a16="http://schemas.microsoft.com/office/drawing/2014/main" id="{EB2E8031-D11D-A774-A927-C0A10D5D550F}"/>
              </a:ext>
            </a:extLst>
          </p:cNvPr>
          <p:cNvSpPr/>
          <p:nvPr/>
        </p:nvSpPr>
        <p:spPr>
          <a:xfrm>
            <a:off x="571499" y="163691"/>
            <a:ext cx="45719" cy="706932"/>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 name="Google Shape;108;p15" descr="image.png">
            <a:extLst>
              <a:ext uri="{FF2B5EF4-FFF2-40B4-BE49-F238E27FC236}">
                <a16:creationId xmlns:a16="http://schemas.microsoft.com/office/drawing/2014/main" id="{AB8560EB-791D-2CEB-048F-C4748FD47F35}"/>
              </a:ext>
            </a:extLst>
          </p:cNvPr>
          <p:cNvPicPr preferRelativeResize="0"/>
          <p:nvPr/>
        </p:nvPicPr>
        <p:blipFill rotWithShape="1">
          <a:blip r:embed="rId4">
            <a:alphaModFix/>
          </a:blip>
          <a:srcRect/>
          <a:stretch/>
        </p:blipFill>
        <p:spPr>
          <a:xfrm>
            <a:off x="421327" y="1034315"/>
            <a:ext cx="11515034" cy="5653142"/>
          </a:xfrm>
          <a:prstGeom prst="rect">
            <a:avLst/>
          </a:prstGeom>
          <a:noFill/>
          <a:ln>
            <a:noFill/>
          </a:ln>
        </p:spPr>
      </p:pic>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450873F4-90E0-0EA2-C484-D3447E13D631}"/>
                  </a:ext>
                </a:extLst>
              </p:cNvPr>
              <p:cNvSpPr txBox="1"/>
              <p:nvPr/>
            </p:nvSpPr>
            <p:spPr>
              <a:xfrm>
                <a:off x="807718" y="1286411"/>
                <a:ext cx="10812783" cy="4524315"/>
              </a:xfrm>
              <a:prstGeom prst="rect">
                <a:avLst/>
              </a:prstGeom>
              <a:noFill/>
            </p:spPr>
            <p:txBody>
              <a:bodyPr wrap="square">
                <a:spAutoFit/>
              </a:bodyPr>
              <a:lstStyle/>
              <a:p>
                <a:pPr lvl="1" algn="just"/>
                <a:r>
                  <a:rPr lang="es-GT" sz="2200" b="1" dirty="0">
                    <a:solidFill>
                      <a:srgbClr val="00B0F0"/>
                    </a:solidFill>
                    <a:latin typeface="Aptos" panose="020B0004020202020204" pitchFamily="34" charset="0"/>
                  </a:rPr>
                  <a:t>2. La Responsabilidad del Acero (</a:t>
                </a:r>
                <a14:m>
                  <m:oMath xmlns:m="http://schemas.openxmlformats.org/officeDocument/2006/math">
                    <m:sSub>
                      <m:sSubPr>
                        <m:ctrlPr>
                          <a:rPr lang="es-GT" sz="2200" b="1" i="1">
                            <a:solidFill>
                              <a:srgbClr val="00B0F0"/>
                            </a:solidFill>
                            <a:latin typeface="Cambria Math" panose="02040503050406030204" pitchFamily="18" charset="0"/>
                          </a:rPr>
                        </m:ctrlPr>
                      </m:sSubPr>
                      <m:e>
                        <m:r>
                          <a:rPr lang="es-GT" sz="2200" b="1" i="1">
                            <a:solidFill>
                              <a:srgbClr val="00B0F0"/>
                            </a:solidFill>
                            <a:latin typeface="Cambria Math" panose="02040503050406030204" pitchFamily="18" charset="0"/>
                          </a:rPr>
                          <m:t>𝑽</m:t>
                        </m:r>
                      </m:e>
                      <m:sub>
                        <m:r>
                          <a:rPr lang="es-GT" sz="2200" b="1" i="1">
                            <a:solidFill>
                              <a:srgbClr val="00B0F0"/>
                            </a:solidFill>
                            <a:latin typeface="Cambria Math" panose="02040503050406030204" pitchFamily="18" charset="0"/>
                          </a:rPr>
                          <m:t>𝒔</m:t>
                        </m:r>
                      </m:sub>
                    </m:sSub>
                  </m:oMath>
                </a14:m>
                <a:r>
                  <a:rPr lang="es-GT" sz="2200" b="1" dirty="0">
                    <a:solidFill>
                      <a:srgbClr val="00B0F0"/>
                    </a:solidFill>
                    <a:latin typeface="Aptos" panose="020B0004020202020204" pitchFamily="34" charset="0"/>
                  </a:rPr>
                  <a:t>): </a:t>
                </a:r>
                <a:r>
                  <a:rPr lang="es-GT" sz="2200" dirty="0">
                    <a:solidFill>
                      <a:schemeClr val="bg1"/>
                    </a:solidFill>
                    <a:latin typeface="Aptos" panose="020B0004020202020204" pitchFamily="34" charset="0"/>
                  </a:rPr>
                  <a:t>Dado que el concreto se agrieta, el refuerzo transversal (estribos) deben ser capaces de soportar prácticamente la totalidad del cortante plástico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𝑉</m:t>
                        </m:r>
                      </m:e>
                      <m:sub>
                        <m:r>
                          <a:rPr lang="es-GT" sz="2200" i="1">
                            <a:solidFill>
                              <a:schemeClr val="bg1"/>
                            </a:solidFill>
                            <a:latin typeface="Cambria Math" panose="02040503050406030204" pitchFamily="18" charset="0"/>
                          </a:rPr>
                          <m:t>0</m:t>
                        </m:r>
                      </m:sub>
                    </m:sSub>
                  </m:oMath>
                </a14:m>
                <a:r>
                  <a:rPr lang="es-GT" sz="2200" dirty="0">
                    <a:solidFill>
                      <a:schemeClr val="bg1"/>
                    </a:solidFill>
                    <a:latin typeface="Aptos" panose="020B0004020202020204" pitchFamily="34" charset="0"/>
                  </a:rPr>
                  <a:t>). En ese momento crítico, el acero de refuerzo (estribos cerrados) asumen tres responsabilidades de supervivencia simultáneas: </a:t>
                </a:r>
              </a:p>
              <a:p>
                <a:pPr algn="just"/>
                <a:endParaRPr lang="es-GT" sz="2200" dirty="0">
                  <a:solidFill>
                    <a:schemeClr val="bg1"/>
                  </a:solidFill>
                  <a:latin typeface="Aptos" panose="020B0004020202020204" pitchFamily="34" charset="0"/>
                </a:endParaRPr>
              </a:p>
              <a:p>
                <a:pPr marL="342900" indent="-342900" algn="just">
                  <a:buFont typeface="Arial" panose="020B0604020202020204" pitchFamily="34" charset="0"/>
                  <a:buChar char="•"/>
                </a:pPr>
                <a:r>
                  <a:rPr lang="es-GT" sz="2200" b="1" dirty="0">
                    <a:solidFill>
                      <a:schemeClr val="tx2">
                        <a:lumMod val="50000"/>
                      </a:schemeClr>
                    </a:solidFill>
                    <a:latin typeface="Aptos" panose="020B0004020202020204" pitchFamily="34" charset="0"/>
                  </a:rPr>
                  <a:t>Resistencia a Tensión Pura (Coser la Grieta Diagonal): </a:t>
                </a:r>
                <a:r>
                  <a:rPr lang="es-GT" sz="2200" dirty="0">
                    <a:solidFill>
                      <a:schemeClr val="bg1"/>
                    </a:solidFill>
                    <a:latin typeface="Aptos" panose="020B0004020202020204" pitchFamily="34" charset="0"/>
                  </a:rPr>
                  <a:t>Al abrirse las grietas diagonales masivas por la inversión del sismo, los estribos actúan como los tensores verticales de una armadura. Su trabajo es "coser" las dos mitades de la columna que intentan deslizarse una sobre la otra. Como el concreto ya no ofrece fricción, toda la fuerza destructiva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𝑉</m:t>
                        </m:r>
                      </m:e>
                      <m:sub>
                        <m:r>
                          <a:rPr lang="es-GT" sz="2200" i="1">
                            <a:solidFill>
                              <a:schemeClr val="bg1"/>
                            </a:solidFill>
                            <a:latin typeface="Cambria Math" panose="02040503050406030204" pitchFamily="18" charset="0"/>
                          </a:rPr>
                          <m:t>0</m:t>
                        </m:r>
                      </m:sub>
                    </m:sSub>
                  </m:oMath>
                </a14:m>
                <a:r>
                  <a:rPr lang="es-GT" sz="2200" dirty="0">
                    <a:solidFill>
                      <a:schemeClr val="bg1"/>
                    </a:solidFill>
                    <a:latin typeface="Aptos" panose="020B0004020202020204" pitchFamily="34" charset="0"/>
                  </a:rPr>
                  <a:t>) se transfiere como tensión pura al área transversal de los estribos. Si no hay suficiente acero o la separación es excesiva, los estribos fluyen, se rompen y la columna se degüella repentinamente.</a:t>
                </a:r>
              </a:p>
              <a:p>
                <a:pPr algn="just"/>
                <a:endParaRPr lang="es-GT" sz="2400" dirty="0">
                  <a:solidFill>
                    <a:schemeClr val="bg1"/>
                  </a:solidFill>
                </a:endParaRPr>
              </a:p>
            </p:txBody>
          </p:sp>
        </mc:Choice>
        <mc:Fallback xmlns="">
          <p:sp>
            <p:nvSpPr>
              <p:cNvPr id="11" name="CuadroTexto 10">
                <a:extLst>
                  <a:ext uri="{FF2B5EF4-FFF2-40B4-BE49-F238E27FC236}">
                    <a16:creationId xmlns:a16="http://schemas.microsoft.com/office/drawing/2014/main" id="{450873F4-90E0-0EA2-C484-D3447E13D631}"/>
                  </a:ext>
                </a:extLst>
              </p:cNvPr>
              <p:cNvSpPr txBox="1">
                <a:spLocks noRot="1" noChangeAspect="1" noMove="1" noResize="1" noEditPoints="1" noAdjustHandles="1" noChangeArrowheads="1" noChangeShapeType="1" noTextEdit="1"/>
              </p:cNvSpPr>
              <p:nvPr/>
            </p:nvSpPr>
            <p:spPr>
              <a:xfrm>
                <a:off x="807718" y="1286411"/>
                <a:ext cx="10812783" cy="4524315"/>
              </a:xfrm>
              <a:prstGeom prst="rect">
                <a:avLst/>
              </a:prstGeom>
              <a:blipFill>
                <a:blip r:embed="rId5"/>
                <a:stretch>
                  <a:fillRect l="-676" t="-809" r="-733"/>
                </a:stretch>
              </a:blipFill>
            </p:spPr>
            <p:txBody>
              <a:bodyPr/>
              <a:lstStyle/>
              <a:p>
                <a:r>
                  <a:rPr lang="es-GT">
                    <a:noFill/>
                  </a:rPr>
                  <a:t> </a:t>
                </a:r>
              </a:p>
            </p:txBody>
          </p:sp>
        </mc:Fallback>
      </mc:AlternateContent>
      <p:sp>
        <p:nvSpPr>
          <p:cNvPr id="99" name="Google Shape;99;p14">
            <a:extLst>
              <a:ext uri="{FF2B5EF4-FFF2-40B4-BE49-F238E27FC236}">
                <a16:creationId xmlns:a16="http://schemas.microsoft.com/office/drawing/2014/main" id="{53BBEF1F-81AB-714F-7346-A67D1FF9AED2}"/>
              </a:ext>
            </a:extLst>
          </p:cNvPr>
          <p:cNvSpPr/>
          <p:nvPr/>
        </p:nvSpPr>
        <p:spPr>
          <a:xfrm>
            <a:off x="571499" y="1286411"/>
            <a:ext cx="45719" cy="969390"/>
          </a:xfrm>
          <a:prstGeom prst="rect">
            <a:avLst/>
          </a:prstGeom>
          <a:solidFill>
            <a:srgbClr val="FCD3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38633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36FC3F14-5914-ADF4-A623-06E806E51315}"/>
            </a:ext>
          </a:extLst>
        </p:cNvPr>
        <p:cNvGrpSpPr/>
        <p:nvPr/>
      </p:nvGrpSpPr>
      <p:grpSpPr>
        <a:xfrm>
          <a:off x="0" y="0"/>
          <a:ext cx="0" cy="0"/>
          <a:chOff x="0" y="0"/>
          <a:chExt cx="0" cy="0"/>
        </a:xfrm>
      </p:grpSpPr>
      <p:pic>
        <p:nvPicPr>
          <p:cNvPr id="93" name="Google Shape;93;p14" descr="image.png">
            <a:extLst>
              <a:ext uri="{FF2B5EF4-FFF2-40B4-BE49-F238E27FC236}">
                <a16:creationId xmlns:a16="http://schemas.microsoft.com/office/drawing/2014/main" id="{8EC12D0C-9FD7-1DFF-0091-57A75621B77E}"/>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4" name="Google Shape;94;p14">
            <a:extLst>
              <a:ext uri="{FF2B5EF4-FFF2-40B4-BE49-F238E27FC236}">
                <a16:creationId xmlns:a16="http://schemas.microsoft.com/office/drawing/2014/main" id="{E695177A-FC15-E8A0-374B-4FBA3C015931}"/>
              </a:ext>
            </a:extLst>
          </p:cNvPr>
          <p:cNvSpPr txBox="1"/>
          <p:nvPr/>
        </p:nvSpPr>
        <p:spPr>
          <a:xfrm>
            <a:off x="762000" y="205826"/>
            <a:ext cx="8844116" cy="664797"/>
          </a:xfrm>
          <a:prstGeom prst="rect">
            <a:avLst/>
          </a:prstGeom>
          <a:noFill/>
          <a:ln>
            <a:noFill/>
          </a:ln>
        </p:spPr>
        <p:txBody>
          <a:bodyPr spcFirstLastPara="1" wrap="square" lIns="0" tIns="0" rIns="0" bIns="0" anchor="t" anchorCtr="0">
            <a:spAutoFit/>
          </a:bodyPr>
          <a:lstStyle/>
          <a:p>
            <a:pPr lvl="0">
              <a:lnSpc>
                <a:spcPct val="119969"/>
              </a:lnSpc>
            </a:pPr>
            <a:r>
              <a:rPr lang="es-GT" sz="3600" b="1" dirty="0">
                <a:solidFill>
                  <a:srgbClr val="00B0F0"/>
                </a:solidFill>
                <a:latin typeface="Montserrat"/>
                <a:ea typeface="Montserrat"/>
                <a:cs typeface="Montserrat"/>
                <a:sym typeface="Montserrat"/>
              </a:rPr>
              <a:t>Diseño de la capacidad cortante</a:t>
            </a:r>
          </a:p>
        </p:txBody>
      </p:sp>
      <p:sp>
        <p:nvSpPr>
          <p:cNvPr id="95" name="Google Shape;95;p14">
            <a:extLst>
              <a:ext uri="{FF2B5EF4-FFF2-40B4-BE49-F238E27FC236}">
                <a16:creationId xmlns:a16="http://schemas.microsoft.com/office/drawing/2014/main" id="{E3EEA2A6-3E06-F195-82E5-C9140D8E7750}"/>
              </a:ext>
            </a:extLst>
          </p:cNvPr>
          <p:cNvSpPr/>
          <p:nvPr/>
        </p:nvSpPr>
        <p:spPr>
          <a:xfrm>
            <a:off x="571499" y="163691"/>
            <a:ext cx="45719" cy="706932"/>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 name="Google Shape;108;p15" descr="image.png">
            <a:extLst>
              <a:ext uri="{FF2B5EF4-FFF2-40B4-BE49-F238E27FC236}">
                <a16:creationId xmlns:a16="http://schemas.microsoft.com/office/drawing/2014/main" id="{96B887D3-B17F-4953-4574-852B0E732D72}"/>
              </a:ext>
            </a:extLst>
          </p:cNvPr>
          <p:cNvPicPr preferRelativeResize="0"/>
          <p:nvPr/>
        </p:nvPicPr>
        <p:blipFill rotWithShape="1">
          <a:blip r:embed="rId4">
            <a:alphaModFix/>
          </a:blip>
          <a:srcRect/>
          <a:stretch/>
        </p:blipFill>
        <p:spPr>
          <a:xfrm>
            <a:off x="421327" y="1034315"/>
            <a:ext cx="11515034" cy="5653142"/>
          </a:xfrm>
          <a:prstGeom prst="rect">
            <a:avLst/>
          </a:prstGeom>
          <a:noFill/>
          <a:ln>
            <a:noFill/>
          </a:ln>
        </p:spPr>
      </p:pic>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3C0BDBB5-9C94-4533-5CD1-C835EBF72AA5}"/>
                  </a:ext>
                </a:extLst>
              </p:cNvPr>
              <p:cNvSpPr txBox="1"/>
              <p:nvPr/>
            </p:nvSpPr>
            <p:spPr>
              <a:xfrm>
                <a:off x="617218" y="1032699"/>
                <a:ext cx="11063422" cy="5539978"/>
              </a:xfrm>
              <a:prstGeom prst="rect">
                <a:avLst/>
              </a:prstGeom>
              <a:noFill/>
            </p:spPr>
            <p:txBody>
              <a:bodyPr wrap="square">
                <a:spAutoFit/>
              </a:bodyPr>
              <a:lstStyle/>
              <a:p>
                <a:pPr marL="342900" lvl="0" indent="-342900" algn="just">
                  <a:buFont typeface="Arial" panose="020B0604020202020204" pitchFamily="34" charset="0"/>
                  <a:buChar char="•"/>
                </a:pPr>
                <a:r>
                  <a:rPr lang="es-GT" sz="2200" b="1" dirty="0">
                    <a:solidFill>
                      <a:schemeClr val="tx2">
                        <a:lumMod val="50000"/>
                      </a:schemeClr>
                    </a:solidFill>
                    <a:latin typeface="Aptos" panose="020B0004020202020204" pitchFamily="34" charset="0"/>
                  </a:rPr>
                  <a:t>Restricción contra el Pandeo (Anti-</a:t>
                </a:r>
                <a:r>
                  <a:rPr lang="es-GT" sz="2200" b="1" dirty="0" err="1">
                    <a:solidFill>
                      <a:schemeClr val="tx2">
                        <a:lumMod val="50000"/>
                      </a:schemeClr>
                    </a:solidFill>
                    <a:latin typeface="Aptos" panose="020B0004020202020204" pitchFamily="34" charset="0"/>
                  </a:rPr>
                  <a:t>Buckling</a:t>
                </a:r>
                <a:r>
                  <a:rPr lang="es-GT" sz="2200" b="1" dirty="0">
                    <a:solidFill>
                      <a:schemeClr val="tx2">
                        <a:lumMod val="50000"/>
                      </a:schemeClr>
                    </a:solidFill>
                    <a:latin typeface="Aptos" panose="020B0004020202020204" pitchFamily="34" charset="0"/>
                  </a:rPr>
                  <a:t>): </a:t>
                </a:r>
                <a:r>
                  <a:rPr lang="es-GT" sz="2200" dirty="0">
                    <a:solidFill>
                      <a:schemeClr val="bg1"/>
                    </a:solidFill>
                    <a:latin typeface="Aptos" panose="020B0004020202020204" pitchFamily="34" charset="0"/>
                  </a:rPr>
                  <a:t>En la zona de la rótula plástica, las varillas longitudinales No. 14 están sometidas a compresiones extremas que superan su límite elástico. Al perderse el recubrimiento de concreto por el aplastamiento, estas varillas gruesas quedan expuestas e intentan pandearse hacia afuera de la sección. El acero transversal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𝑉</m:t>
                        </m:r>
                      </m:e>
                      <m:sub>
                        <m:r>
                          <a:rPr lang="es-GT" sz="2200" i="1">
                            <a:solidFill>
                              <a:schemeClr val="bg1"/>
                            </a:solidFill>
                            <a:latin typeface="Cambria Math" panose="02040503050406030204" pitchFamily="18" charset="0"/>
                          </a:rPr>
                          <m:t>𝑠</m:t>
                        </m:r>
                      </m:sub>
                    </m:sSub>
                  </m:oMath>
                </a14:m>
                <a:r>
                  <a:rPr lang="es-GT" sz="2200" dirty="0">
                    <a:solidFill>
                      <a:schemeClr val="bg1"/>
                    </a:solidFill>
                    <a:latin typeface="Aptos" panose="020B0004020202020204" pitchFamily="34" charset="0"/>
                  </a:rPr>
                  <a:t>) proporciona el soporte lateral rígido indispensable para mantener el acero longitudinal en su posición recta, permitiéndole alcanzar el esfuerzo de </a:t>
                </a:r>
                <a:r>
                  <a:rPr lang="es-GT" sz="2200" dirty="0" err="1">
                    <a:solidFill>
                      <a:schemeClr val="bg1"/>
                    </a:solidFill>
                    <a:latin typeface="Aptos" panose="020B0004020202020204" pitchFamily="34" charset="0"/>
                  </a:rPr>
                  <a:t>sobrerresistencia</a:t>
                </a:r>
                <a:r>
                  <a:rPr lang="es-GT" sz="2200" dirty="0">
                    <a:solidFill>
                      <a:schemeClr val="bg1"/>
                    </a:solidFill>
                    <a:latin typeface="Aptos" panose="020B0004020202020204" pitchFamily="34" charset="0"/>
                  </a:rPr>
                  <a:t>.</a:t>
                </a:r>
              </a:p>
              <a:p>
                <a:pPr algn="just"/>
                <a:r>
                  <a:rPr lang="es-GT" sz="2200" dirty="0">
                    <a:solidFill>
                      <a:schemeClr val="bg1"/>
                    </a:solidFill>
                    <a:latin typeface="Aptos" panose="020B0004020202020204" pitchFamily="34" charset="0"/>
                  </a:rPr>
                  <a:t> </a:t>
                </a:r>
              </a:p>
              <a:p>
                <a:pPr marL="342900" lvl="0" indent="-342900" algn="just">
                  <a:buFont typeface="Arial" panose="020B0604020202020204" pitchFamily="34" charset="0"/>
                  <a:buChar char="•"/>
                </a:pPr>
                <a:r>
                  <a:rPr lang="es-GT" sz="2200" b="1" dirty="0">
                    <a:solidFill>
                      <a:schemeClr val="tx2">
                        <a:lumMod val="50000"/>
                      </a:schemeClr>
                    </a:solidFill>
                    <a:latin typeface="Aptos" panose="020B0004020202020204" pitchFamily="34" charset="0"/>
                  </a:rPr>
                  <a:t>Contención Ininterrumpida del Núcleo (El "Corsé" de Mander):</a:t>
                </a:r>
                <a:r>
                  <a:rPr lang="es-GT" sz="2200" dirty="0">
                    <a:solidFill>
                      <a:schemeClr val="tx2">
                        <a:lumMod val="50000"/>
                      </a:schemeClr>
                    </a:solidFill>
                    <a:latin typeface="Aptos" panose="020B0004020202020204" pitchFamily="34" charset="0"/>
                  </a:rPr>
                  <a:t> </a:t>
                </a:r>
                <a:r>
                  <a:rPr lang="es-GT" sz="2200" dirty="0">
                    <a:solidFill>
                      <a:schemeClr val="bg1"/>
                    </a:solidFill>
                    <a:latin typeface="Aptos" panose="020B0004020202020204" pitchFamily="34" charset="0"/>
                  </a:rPr>
                  <a:t>Mientras soportan el cortante y evitan el pandeo longitudinal, los estribos deben seguir ejerciendo la presión lateral constante que exige el modelo de confinamiento. Si los estribos fallan por cortante y se abren, el concreto confinado se derrama, perdiendo inmediatamente su capacidad para soportar la carga gravitacional del tablero, lo que conduce al colapso vertical.</a:t>
                </a:r>
              </a:p>
              <a:p>
                <a:pPr algn="just"/>
                <a:endParaRPr lang="es-GT" sz="2200" dirty="0">
                  <a:solidFill>
                    <a:schemeClr val="bg1"/>
                  </a:solidFill>
                  <a:latin typeface="Aptos" panose="020B0004020202020204" pitchFamily="34" charset="0"/>
                </a:endParaRPr>
              </a:p>
              <a:p>
                <a:pPr algn="just"/>
                <a:endParaRPr lang="es-GT" sz="2400" dirty="0">
                  <a:solidFill>
                    <a:schemeClr val="bg1"/>
                  </a:solidFill>
                </a:endParaRPr>
              </a:p>
            </p:txBody>
          </p:sp>
        </mc:Choice>
        <mc:Fallback xmlns="">
          <p:sp>
            <p:nvSpPr>
              <p:cNvPr id="11" name="CuadroTexto 10">
                <a:extLst>
                  <a:ext uri="{FF2B5EF4-FFF2-40B4-BE49-F238E27FC236}">
                    <a16:creationId xmlns:a16="http://schemas.microsoft.com/office/drawing/2014/main" id="{3C0BDBB5-9C94-4533-5CD1-C835EBF72AA5}"/>
                  </a:ext>
                </a:extLst>
              </p:cNvPr>
              <p:cNvSpPr txBox="1">
                <a:spLocks noRot="1" noChangeAspect="1" noMove="1" noResize="1" noEditPoints="1" noAdjustHandles="1" noChangeArrowheads="1" noChangeShapeType="1" noTextEdit="1"/>
              </p:cNvSpPr>
              <p:nvPr/>
            </p:nvSpPr>
            <p:spPr>
              <a:xfrm>
                <a:off x="617218" y="1032699"/>
                <a:ext cx="11063422" cy="5539978"/>
              </a:xfrm>
              <a:prstGeom prst="rect">
                <a:avLst/>
              </a:prstGeom>
              <a:blipFill>
                <a:blip r:embed="rId5"/>
                <a:stretch>
                  <a:fillRect l="-606" t="-660" r="-716"/>
                </a:stretch>
              </a:blipFill>
            </p:spPr>
            <p:txBody>
              <a:bodyPr/>
              <a:lstStyle/>
              <a:p>
                <a:r>
                  <a:rPr lang="es-GT">
                    <a:noFill/>
                  </a:rPr>
                  <a:t> </a:t>
                </a:r>
              </a:p>
            </p:txBody>
          </p:sp>
        </mc:Fallback>
      </mc:AlternateContent>
      <p:sp>
        <p:nvSpPr>
          <p:cNvPr id="99" name="Google Shape;99;p14">
            <a:extLst>
              <a:ext uri="{FF2B5EF4-FFF2-40B4-BE49-F238E27FC236}">
                <a16:creationId xmlns:a16="http://schemas.microsoft.com/office/drawing/2014/main" id="{FFFDC3CB-95E8-BCFD-FA93-759DD2DDC70E}"/>
              </a:ext>
            </a:extLst>
          </p:cNvPr>
          <p:cNvSpPr/>
          <p:nvPr/>
        </p:nvSpPr>
        <p:spPr>
          <a:xfrm>
            <a:off x="571499" y="1286411"/>
            <a:ext cx="45719" cy="969390"/>
          </a:xfrm>
          <a:prstGeom prst="rect">
            <a:avLst/>
          </a:prstGeom>
          <a:solidFill>
            <a:srgbClr val="FCD3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44732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B269127F-974A-D2C0-CB36-353E926FB641}"/>
            </a:ext>
          </a:extLst>
        </p:cNvPr>
        <p:cNvGrpSpPr/>
        <p:nvPr/>
      </p:nvGrpSpPr>
      <p:grpSpPr>
        <a:xfrm>
          <a:off x="0" y="0"/>
          <a:ext cx="0" cy="0"/>
          <a:chOff x="0" y="0"/>
          <a:chExt cx="0" cy="0"/>
        </a:xfrm>
      </p:grpSpPr>
      <p:pic>
        <p:nvPicPr>
          <p:cNvPr id="93" name="Google Shape;93;p14" descr="image.png">
            <a:extLst>
              <a:ext uri="{FF2B5EF4-FFF2-40B4-BE49-F238E27FC236}">
                <a16:creationId xmlns:a16="http://schemas.microsoft.com/office/drawing/2014/main" id="{20D70758-BAB4-E71C-84FC-ECB879B98436}"/>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4" name="Google Shape;94;p14">
            <a:extLst>
              <a:ext uri="{FF2B5EF4-FFF2-40B4-BE49-F238E27FC236}">
                <a16:creationId xmlns:a16="http://schemas.microsoft.com/office/drawing/2014/main" id="{8764CBCF-637A-E823-C252-C5B758A08FEC}"/>
              </a:ext>
            </a:extLst>
          </p:cNvPr>
          <p:cNvSpPr txBox="1"/>
          <p:nvPr/>
        </p:nvSpPr>
        <p:spPr>
          <a:xfrm>
            <a:off x="762000" y="205826"/>
            <a:ext cx="8844116" cy="664797"/>
          </a:xfrm>
          <a:prstGeom prst="rect">
            <a:avLst/>
          </a:prstGeom>
          <a:noFill/>
          <a:ln>
            <a:noFill/>
          </a:ln>
        </p:spPr>
        <p:txBody>
          <a:bodyPr spcFirstLastPara="1" wrap="square" lIns="0" tIns="0" rIns="0" bIns="0" anchor="t" anchorCtr="0">
            <a:spAutoFit/>
          </a:bodyPr>
          <a:lstStyle/>
          <a:p>
            <a:pPr lvl="0">
              <a:lnSpc>
                <a:spcPct val="119969"/>
              </a:lnSpc>
            </a:pPr>
            <a:r>
              <a:rPr lang="es-GT" sz="3600" b="1" dirty="0">
                <a:solidFill>
                  <a:srgbClr val="00B0F0"/>
                </a:solidFill>
                <a:latin typeface="Montserrat"/>
                <a:ea typeface="Montserrat"/>
                <a:cs typeface="Montserrat"/>
                <a:sym typeface="Montserrat"/>
              </a:rPr>
              <a:t>Diseño de la capacidad cortante</a:t>
            </a:r>
          </a:p>
        </p:txBody>
      </p:sp>
      <p:sp>
        <p:nvSpPr>
          <p:cNvPr id="95" name="Google Shape;95;p14">
            <a:extLst>
              <a:ext uri="{FF2B5EF4-FFF2-40B4-BE49-F238E27FC236}">
                <a16:creationId xmlns:a16="http://schemas.microsoft.com/office/drawing/2014/main" id="{596B77ED-0553-10FE-77F8-8541AB5DBD74}"/>
              </a:ext>
            </a:extLst>
          </p:cNvPr>
          <p:cNvSpPr/>
          <p:nvPr/>
        </p:nvSpPr>
        <p:spPr>
          <a:xfrm>
            <a:off x="571499" y="163691"/>
            <a:ext cx="45719" cy="706932"/>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 name="Google Shape;108;p15" descr="image.png">
            <a:extLst>
              <a:ext uri="{FF2B5EF4-FFF2-40B4-BE49-F238E27FC236}">
                <a16:creationId xmlns:a16="http://schemas.microsoft.com/office/drawing/2014/main" id="{1F19DFBF-77F4-48D2-1FE9-5341AB2E10AF}"/>
              </a:ext>
            </a:extLst>
          </p:cNvPr>
          <p:cNvPicPr preferRelativeResize="0"/>
          <p:nvPr/>
        </p:nvPicPr>
        <p:blipFill rotWithShape="1">
          <a:blip r:embed="rId4">
            <a:alphaModFix/>
          </a:blip>
          <a:srcRect/>
          <a:stretch/>
        </p:blipFill>
        <p:spPr>
          <a:xfrm>
            <a:off x="421327" y="870623"/>
            <a:ext cx="11515034" cy="5816834"/>
          </a:xfrm>
          <a:prstGeom prst="rect">
            <a:avLst/>
          </a:prstGeom>
          <a:noFill/>
          <a:ln>
            <a:noFill/>
          </a:ln>
        </p:spPr>
      </p:pic>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AC4CADA2-9951-282D-834D-CDF68CB82D01}"/>
                  </a:ext>
                </a:extLst>
              </p:cNvPr>
              <p:cNvSpPr txBox="1"/>
              <p:nvPr/>
            </p:nvSpPr>
            <p:spPr>
              <a:xfrm>
                <a:off x="617218" y="1154878"/>
                <a:ext cx="11063422" cy="6894644"/>
              </a:xfrm>
              <a:prstGeom prst="rect">
                <a:avLst/>
              </a:prstGeom>
              <a:noFill/>
            </p:spPr>
            <p:txBody>
              <a:bodyPr wrap="square">
                <a:spAutoFit/>
              </a:bodyPr>
              <a:lstStyle/>
              <a:p>
                <a:pPr lvl="0" algn="just"/>
                <a:r>
                  <a:rPr lang="es-GT" sz="2200" b="1" dirty="0">
                    <a:solidFill>
                      <a:srgbClr val="00B0F0"/>
                    </a:solidFill>
                    <a:latin typeface="Aptos" panose="020B0004020202020204" pitchFamily="34" charset="0"/>
                  </a:rPr>
                  <a:t>3. Ecuación de Resistencia:</a:t>
                </a:r>
                <a:r>
                  <a:rPr lang="es-GT" sz="2200" dirty="0">
                    <a:solidFill>
                      <a:srgbClr val="00B0F0"/>
                    </a:solidFill>
                    <a:latin typeface="Aptos" panose="020B0004020202020204" pitchFamily="34" charset="0"/>
                  </a:rPr>
                  <a:t> </a:t>
                </a:r>
                <a:r>
                  <a:rPr lang="es-GT" sz="2200" dirty="0">
                    <a:solidFill>
                      <a:schemeClr val="bg1"/>
                    </a:solidFill>
                    <a:latin typeface="Aptos" panose="020B0004020202020204" pitchFamily="34" charset="0"/>
                  </a:rPr>
                  <a:t>Presenta la fórmula clásica de cortante para elementos circulares o rectangulares (según AASHTO) para despejar la separación requerida (</a:t>
                </a:r>
                <a14:m>
                  <m:oMath xmlns:m="http://schemas.openxmlformats.org/officeDocument/2006/math">
                    <m:r>
                      <a:rPr lang="es-GT" sz="2200" i="1">
                        <a:solidFill>
                          <a:schemeClr val="bg1"/>
                        </a:solidFill>
                        <a:latin typeface="Cambria Math" panose="02040503050406030204" pitchFamily="18" charset="0"/>
                      </a:rPr>
                      <m:t>𝑠</m:t>
                    </m:r>
                  </m:oMath>
                </a14:m>
                <a:r>
                  <a:rPr lang="es-GT" sz="2200" dirty="0">
                    <a:solidFill>
                      <a:schemeClr val="bg1"/>
                    </a:solidFill>
                    <a:latin typeface="Aptos" panose="020B0004020202020204" pitchFamily="34" charset="0"/>
                  </a:rPr>
                  <a:t>) de los estribos fuera y dentro de la zona de la rótula.</a:t>
                </a:r>
              </a:p>
              <a:p>
                <a:pPr algn="just"/>
                <a:r>
                  <a:rPr lang="es-GT" sz="2200" dirty="0">
                    <a:solidFill>
                      <a:schemeClr val="tx2">
                        <a:lumMod val="50000"/>
                      </a:schemeClr>
                    </a:solidFill>
                    <a:latin typeface="Aptos" panose="020B0004020202020204" pitchFamily="34" charset="0"/>
                  </a:rPr>
                  <a:t>Cálculo del espaciamiento de estribos (</a:t>
                </a:r>
                <a14:m>
                  <m:oMath xmlns:m="http://schemas.openxmlformats.org/officeDocument/2006/math">
                    <m:r>
                      <a:rPr lang="es-GT" sz="2200" b="0" i="1">
                        <a:solidFill>
                          <a:schemeClr val="tx2">
                            <a:lumMod val="50000"/>
                          </a:schemeClr>
                        </a:solidFill>
                        <a:latin typeface="Cambria Math" panose="02040503050406030204" pitchFamily="18" charset="0"/>
                      </a:rPr>
                      <m:t>𝑠</m:t>
                    </m:r>
                  </m:oMath>
                </a14:m>
                <a:r>
                  <a:rPr lang="es-GT" sz="2200" dirty="0">
                    <a:solidFill>
                      <a:schemeClr val="tx2">
                        <a:lumMod val="50000"/>
                      </a:schemeClr>
                    </a:solidFill>
                    <a:latin typeface="Aptos" panose="020B0004020202020204" pitchFamily="34" charset="0"/>
                  </a:rPr>
                  <a:t>) dentro de la rótula plástica:</a:t>
                </a:r>
              </a:p>
              <a:p>
                <a:pPr algn="just"/>
                <a:r>
                  <a:rPr lang="es-GT" sz="2200" dirty="0">
                    <a:solidFill>
                      <a:schemeClr val="bg1"/>
                    </a:solidFill>
                    <a:latin typeface="Aptos" panose="020B0004020202020204" pitchFamily="34" charset="0"/>
                  </a:rPr>
                  <a:t>Tomando la ecuación base de resistencia a cortante (</a:t>
                </a:r>
                <a14:m>
                  <m:oMath xmlns:m="http://schemas.openxmlformats.org/officeDocument/2006/math">
                    <m:r>
                      <a:rPr lang="es-GT" sz="2200" i="1">
                        <a:solidFill>
                          <a:schemeClr val="bg1"/>
                        </a:solidFill>
                        <a:latin typeface="Cambria Math" panose="02040503050406030204" pitchFamily="18" charset="0"/>
                      </a:rPr>
                      <m:t>𝜙</m:t>
                    </m:r>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𝑉</m:t>
                        </m:r>
                      </m:e>
                      <m:sub>
                        <m:r>
                          <a:rPr lang="es-GT" sz="2200" i="1">
                            <a:solidFill>
                              <a:schemeClr val="bg1"/>
                            </a:solidFill>
                            <a:latin typeface="Cambria Math" panose="02040503050406030204" pitchFamily="18" charset="0"/>
                          </a:rPr>
                          <m:t>𝑠</m:t>
                        </m:r>
                      </m:sub>
                    </m:sSub>
                    <m:r>
                      <a:rPr lang="es-GT" sz="2200" i="1">
                        <a:solidFill>
                          <a:schemeClr val="bg1"/>
                        </a:solidFill>
                        <a:latin typeface="Cambria Math" panose="02040503050406030204" pitchFamily="18" charset="0"/>
                      </a:rPr>
                      <m:t>≥</m:t>
                    </m:r>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𝑉</m:t>
                        </m:r>
                      </m:e>
                      <m:sub>
                        <m:r>
                          <a:rPr lang="es-GT" sz="2200" i="1">
                            <a:solidFill>
                              <a:schemeClr val="bg1"/>
                            </a:solidFill>
                            <a:latin typeface="Cambria Math" panose="02040503050406030204" pitchFamily="18" charset="0"/>
                          </a:rPr>
                          <m:t>𝑢</m:t>
                        </m:r>
                      </m:sub>
                    </m:sSub>
                  </m:oMath>
                </a14:m>
                <a:r>
                  <a:rPr lang="es-GT" sz="2200" dirty="0">
                    <a:solidFill>
                      <a:schemeClr val="bg1"/>
                    </a:solidFill>
                    <a:latin typeface="Aptos" panose="020B0004020202020204" pitchFamily="34" charset="0"/>
                  </a:rPr>
                  <a:t>), sustituimos el cortante último por nuestro tope físico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𝑉</m:t>
                        </m:r>
                      </m:e>
                      <m:sub>
                        <m:r>
                          <a:rPr lang="es-GT" sz="2200" i="1">
                            <a:solidFill>
                              <a:schemeClr val="bg1"/>
                            </a:solidFill>
                            <a:latin typeface="Cambria Math" panose="02040503050406030204" pitchFamily="18" charset="0"/>
                          </a:rPr>
                          <m:t>0</m:t>
                        </m:r>
                      </m:sub>
                    </m:sSub>
                  </m:oMath>
                </a14:m>
                <a:r>
                  <a:rPr lang="es-GT" sz="2200" dirty="0">
                    <a:solidFill>
                      <a:schemeClr val="bg1"/>
                    </a:solidFill>
                    <a:latin typeface="Aptos" panose="020B0004020202020204" pitchFamily="34" charset="0"/>
                  </a:rPr>
                  <a:t>):</a:t>
                </a:r>
              </a:p>
              <a:p>
                <a:pPr algn="just"/>
                <a14:m>
                  <m:oMathPara xmlns:m="http://schemas.openxmlformats.org/officeDocument/2006/math">
                    <m:o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𝑉</m:t>
                          </m:r>
                        </m:e>
                        <m:sub>
                          <m:r>
                            <a:rPr lang="es-GT" sz="2200" i="1">
                              <a:solidFill>
                                <a:schemeClr val="bg1"/>
                              </a:solidFill>
                              <a:latin typeface="Cambria Math" panose="02040503050406030204" pitchFamily="18" charset="0"/>
                            </a:rPr>
                            <m:t>0</m:t>
                          </m:r>
                        </m:sub>
                      </m:sSub>
                      <m:r>
                        <a:rPr lang="es-GT" sz="2200" i="1">
                          <a:solidFill>
                            <a:schemeClr val="bg1"/>
                          </a:solidFill>
                          <a:latin typeface="Cambria Math" panose="02040503050406030204" pitchFamily="18" charset="0"/>
                        </a:rPr>
                        <m:t>=</m:t>
                      </m:r>
                      <m:r>
                        <a:rPr lang="es-GT" sz="2200" i="1">
                          <a:solidFill>
                            <a:schemeClr val="bg1"/>
                          </a:solidFill>
                          <a:latin typeface="Cambria Math" panose="02040503050406030204" pitchFamily="18" charset="0"/>
                        </a:rPr>
                        <m:t>𝜙</m:t>
                      </m:r>
                      <m:d>
                        <m:dPr>
                          <m:ctrlPr>
                            <a:rPr lang="es-GT" sz="2200" i="1">
                              <a:solidFill>
                                <a:schemeClr val="bg1"/>
                              </a:solidFill>
                              <a:latin typeface="Cambria Math" panose="02040503050406030204" pitchFamily="18" charset="0"/>
                            </a:rPr>
                          </m:ctrlPr>
                        </m:dPr>
                        <m:e>
                          <m:f>
                            <m:fPr>
                              <m:ctrlPr>
                                <a:rPr lang="es-GT" sz="2200" i="1">
                                  <a:solidFill>
                                    <a:schemeClr val="bg1"/>
                                  </a:solidFill>
                                  <a:latin typeface="Cambria Math" panose="02040503050406030204" pitchFamily="18" charset="0"/>
                                </a:rPr>
                              </m:ctrlPr>
                            </m:fPr>
                            <m:num>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𝐴</m:t>
                                  </m:r>
                                </m:e>
                                <m:sub>
                                  <m:r>
                                    <a:rPr lang="es-GT" sz="2200" i="1">
                                      <a:solidFill>
                                        <a:schemeClr val="bg1"/>
                                      </a:solidFill>
                                      <a:latin typeface="Cambria Math" panose="02040503050406030204" pitchFamily="18" charset="0"/>
                                    </a:rPr>
                                    <m:t>𝑣</m:t>
                                  </m:r>
                                </m:sub>
                              </m:sSub>
                              <m:r>
                                <a:rPr lang="es-GT" sz="2200" i="1">
                                  <a:solidFill>
                                    <a:schemeClr val="bg1"/>
                                  </a:solidFill>
                                  <a:latin typeface="Cambria Math" panose="02040503050406030204" pitchFamily="18" charset="0"/>
                                </a:rPr>
                                <m:t>⋅</m:t>
                              </m:r>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𝑓</m:t>
                                  </m:r>
                                </m:e>
                                <m:sub>
                                  <m:r>
                                    <a:rPr lang="es-GT" sz="2200" i="1">
                                      <a:solidFill>
                                        <a:schemeClr val="bg1"/>
                                      </a:solidFill>
                                      <a:latin typeface="Cambria Math" panose="02040503050406030204" pitchFamily="18" charset="0"/>
                                    </a:rPr>
                                    <m:t>𝑦ℎ</m:t>
                                  </m:r>
                                </m:sub>
                              </m:sSub>
                              <m:r>
                                <a:rPr lang="es-GT" sz="2200" i="1">
                                  <a:solidFill>
                                    <a:schemeClr val="bg1"/>
                                  </a:solidFill>
                                  <a:latin typeface="Cambria Math" panose="02040503050406030204" pitchFamily="18" charset="0"/>
                                </a:rPr>
                                <m:t>⋅</m:t>
                              </m:r>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𝑑</m:t>
                                  </m:r>
                                </m:e>
                                <m:sub>
                                  <m:r>
                                    <a:rPr lang="es-GT" sz="2200" i="1">
                                      <a:solidFill>
                                        <a:schemeClr val="bg1"/>
                                      </a:solidFill>
                                      <a:latin typeface="Cambria Math" panose="02040503050406030204" pitchFamily="18" charset="0"/>
                                    </a:rPr>
                                    <m:t>𝑣</m:t>
                                  </m:r>
                                </m:sub>
                              </m:sSub>
                            </m:num>
                            <m:den>
                              <m:r>
                                <a:rPr lang="es-GT" sz="2200" i="1">
                                  <a:solidFill>
                                    <a:schemeClr val="bg1"/>
                                  </a:solidFill>
                                  <a:latin typeface="Cambria Math" panose="02040503050406030204" pitchFamily="18" charset="0"/>
                                </a:rPr>
                                <m:t>𝑠</m:t>
                              </m:r>
                            </m:den>
                          </m:f>
                        </m:e>
                      </m:d>
                    </m:oMath>
                  </m:oMathPara>
                </a14:m>
                <a:endParaRPr lang="es-GT" sz="2200" dirty="0">
                  <a:solidFill>
                    <a:schemeClr val="bg1"/>
                  </a:solidFill>
                  <a:latin typeface="Aptos" panose="020B0004020202020204" pitchFamily="34" charset="0"/>
                </a:endParaRPr>
              </a:p>
              <a:p>
                <a:pPr algn="just"/>
                <a:r>
                  <a:rPr lang="es-GT" sz="2200" dirty="0">
                    <a:solidFill>
                      <a:schemeClr val="bg1"/>
                    </a:solidFill>
                    <a:latin typeface="Aptos" panose="020B0004020202020204" pitchFamily="34" charset="0"/>
                  </a:rPr>
                  <a:t>Despejamos la separación (</a:t>
                </a:r>
                <a14:m>
                  <m:oMath xmlns:m="http://schemas.openxmlformats.org/officeDocument/2006/math">
                    <m:r>
                      <a:rPr lang="es-GT" sz="2200" i="1">
                        <a:solidFill>
                          <a:schemeClr val="bg1"/>
                        </a:solidFill>
                        <a:latin typeface="Cambria Math" panose="02040503050406030204" pitchFamily="18" charset="0"/>
                      </a:rPr>
                      <m:t>𝑠</m:t>
                    </m:r>
                  </m:oMath>
                </a14:m>
                <a:r>
                  <a:rPr lang="es-GT" sz="2200" dirty="0">
                    <a:solidFill>
                      <a:schemeClr val="bg1"/>
                    </a:solidFill>
                    <a:latin typeface="Aptos" panose="020B0004020202020204" pitchFamily="34" charset="0"/>
                  </a:rPr>
                  <a:t>):</a:t>
                </a:r>
              </a:p>
              <a:p>
                <a:pPr algn="just"/>
                <a:endParaRPr lang="es-GT" sz="2200" dirty="0">
                  <a:solidFill>
                    <a:schemeClr val="bg1"/>
                  </a:solidFill>
                  <a:latin typeface="Aptos" panose="020B0004020202020204" pitchFamily="34" charset="0"/>
                </a:endParaRPr>
              </a:p>
              <a:p>
                <a:pPr algn="just"/>
                <a14:m>
                  <m:oMathPara xmlns:m="http://schemas.openxmlformats.org/officeDocument/2006/math">
                    <m:oMath>
                      <m:r>
                        <a:rPr lang="es-GT" sz="2200" i="1">
                          <a:solidFill>
                            <a:schemeClr val="bg1"/>
                          </a:solidFill>
                          <a:latin typeface="Cambria Math" panose="02040503050406030204" pitchFamily="18" charset="0"/>
                        </a:rPr>
                        <m:t>𝑠</m:t>
                      </m:r>
                      <m:r>
                        <a:rPr lang="es-GT" sz="2200" i="1">
                          <a:solidFill>
                            <a:schemeClr val="bg1"/>
                          </a:solidFill>
                          <a:latin typeface="Cambria Math" panose="02040503050406030204" pitchFamily="18" charset="0"/>
                        </a:rPr>
                        <m:t>=</m:t>
                      </m:r>
                      <m:f>
                        <m:fPr>
                          <m:ctrlPr>
                            <a:rPr lang="es-GT" sz="2200" i="1">
                              <a:solidFill>
                                <a:schemeClr val="bg1"/>
                              </a:solidFill>
                              <a:latin typeface="Cambria Math" panose="02040503050406030204" pitchFamily="18" charset="0"/>
                            </a:rPr>
                          </m:ctrlPr>
                        </m:fPr>
                        <m:num>
                          <m:r>
                            <a:rPr lang="es-GT" sz="2200" i="1">
                              <a:solidFill>
                                <a:schemeClr val="bg1"/>
                              </a:solidFill>
                              <a:latin typeface="Cambria Math" panose="02040503050406030204" pitchFamily="18" charset="0"/>
                            </a:rPr>
                            <m:t>𝜙</m:t>
                          </m:r>
                          <m:r>
                            <a:rPr lang="es-GT" sz="2200" i="1">
                              <a:solidFill>
                                <a:schemeClr val="bg1"/>
                              </a:solidFill>
                              <a:latin typeface="Cambria Math" panose="02040503050406030204" pitchFamily="18" charset="0"/>
                            </a:rPr>
                            <m:t>⋅</m:t>
                          </m:r>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𝐴</m:t>
                              </m:r>
                            </m:e>
                            <m:sub>
                              <m:r>
                                <a:rPr lang="es-GT" sz="2200" i="1">
                                  <a:solidFill>
                                    <a:schemeClr val="bg1"/>
                                  </a:solidFill>
                                  <a:latin typeface="Cambria Math" panose="02040503050406030204" pitchFamily="18" charset="0"/>
                                </a:rPr>
                                <m:t>𝑣</m:t>
                              </m:r>
                            </m:sub>
                          </m:sSub>
                          <m:r>
                            <a:rPr lang="es-GT" sz="2200" i="1">
                              <a:solidFill>
                                <a:schemeClr val="bg1"/>
                              </a:solidFill>
                              <a:latin typeface="Cambria Math" panose="02040503050406030204" pitchFamily="18" charset="0"/>
                            </a:rPr>
                            <m:t>⋅</m:t>
                          </m:r>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𝑓</m:t>
                              </m:r>
                            </m:e>
                            <m:sub>
                              <m:r>
                                <a:rPr lang="es-GT" sz="2200" i="1">
                                  <a:solidFill>
                                    <a:schemeClr val="bg1"/>
                                  </a:solidFill>
                                  <a:latin typeface="Cambria Math" panose="02040503050406030204" pitchFamily="18" charset="0"/>
                                </a:rPr>
                                <m:t>𝑦ℎ</m:t>
                              </m:r>
                            </m:sub>
                          </m:sSub>
                          <m:r>
                            <a:rPr lang="es-GT" sz="2200" i="1">
                              <a:solidFill>
                                <a:schemeClr val="bg1"/>
                              </a:solidFill>
                              <a:latin typeface="Cambria Math" panose="02040503050406030204" pitchFamily="18" charset="0"/>
                            </a:rPr>
                            <m:t>⋅</m:t>
                          </m:r>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𝑑</m:t>
                              </m:r>
                            </m:e>
                            <m:sub>
                              <m:r>
                                <a:rPr lang="es-GT" sz="2200" i="1">
                                  <a:solidFill>
                                    <a:schemeClr val="bg1"/>
                                  </a:solidFill>
                                  <a:latin typeface="Cambria Math" panose="02040503050406030204" pitchFamily="18" charset="0"/>
                                </a:rPr>
                                <m:t>𝑣</m:t>
                              </m:r>
                            </m:sub>
                          </m:sSub>
                        </m:num>
                        <m:den>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𝑉</m:t>
                              </m:r>
                            </m:e>
                            <m:sub>
                              <m:r>
                                <a:rPr lang="es-GT" sz="2200" i="1">
                                  <a:solidFill>
                                    <a:schemeClr val="bg1"/>
                                  </a:solidFill>
                                  <a:latin typeface="Cambria Math" panose="02040503050406030204" pitchFamily="18" charset="0"/>
                                </a:rPr>
                                <m:t>0</m:t>
                              </m:r>
                            </m:sub>
                          </m:sSub>
                        </m:den>
                      </m:f>
                    </m:oMath>
                  </m:oMathPara>
                </a14:m>
                <a:endParaRPr lang="es-GT" sz="2200" dirty="0">
                  <a:solidFill>
                    <a:schemeClr val="bg1"/>
                  </a:solidFill>
                  <a:latin typeface="Aptos" panose="020B0004020202020204" pitchFamily="34" charset="0"/>
                </a:endParaRPr>
              </a:p>
              <a:p>
                <a:pPr algn="just"/>
                <a14:m>
                  <m:oMathPara xmlns:m="http://schemas.openxmlformats.org/officeDocument/2006/math">
                    <m:oMath>
                      <m:r>
                        <a:rPr lang="es-GT" sz="2200" i="1">
                          <a:solidFill>
                            <a:schemeClr val="bg1"/>
                          </a:solidFill>
                          <a:latin typeface="Cambria Math" panose="02040503050406030204" pitchFamily="18" charset="0"/>
                        </a:rPr>
                        <m:t>𝑠</m:t>
                      </m:r>
                      <m:r>
                        <a:rPr lang="es-GT" sz="2200" i="1">
                          <a:solidFill>
                            <a:schemeClr val="bg1"/>
                          </a:solidFill>
                          <a:latin typeface="Cambria Math" panose="02040503050406030204" pitchFamily="18" charset="0"/>
                        </a:rPr>
                        <m:t>=</m:t>
                      </m:r>
                      <m:f>
                        <m:fPr>
                          <m:ctrlPr>
                            <a:rPr lang="es-GT" sz="2200" i="1">
                              <a:solidFill>
                                <a:schemeClr val="bg1"/>
                              </a:solidFill>
                              <a:latin typeface="Cambria Math" panose="02040503050406030204" pitchFamily="18" charset="0"/>
                            </a:rPr>
                          </m:ctrlPr>
                        </m:fPr>
                        <m:num>
                          <m:r>
                            <a:rPr lang="es-GT" sz="2200" i="1">
                              <a:solidFill>
                                <a:schemeClr val="bg1"/>
                              </a:solidFill>
                              <a:latin typeface="Cambria Math" panose="02040503050406030204" pitchFamily="18" charset="0"/>
                            </a:rPr>
                            <m:t>0.90⋅1.58</m:t>
                          </m:r>
                          <m:sSup>
                            <m:sSupPr>
                              <m:ctrlPr>
                                <a:rPr lang="es-GT" sz="2200" i="0">
                                  <a:solidFill>
                                    <a:schemeClr val="bg1"/>
                                  </a:solidFill>
                                  <a:latin typeface="Aptos" panose="020B0004020202020204" pitchFamily="34" charset="0"/>
                                </a:rPr>
                              </m:ctrlPr>
                            </m:sSupPr>
                            <m:e>
                              <m:r>
                                <m:rPr>
                                  <m:nor/>
                                </m:rPr>
                                <a:rPr lang="es-GT" sz="2200" i="0">
                                  <a:solidFill>
                                    <a:schemeClr val="bg1"/>
                                  </a:solidFill>
                                  <a:latin typeface="Aptos" panose="020B0004020202020204" pitchFamily="34" charset="0"/>
                                </a:rPr>
                                <m:t> in</m:t>
                              </m:r>
                            </m:e>
                            <m:sup>
                              <m:r>
                                <a:rPr lang="es-GT" sz="2200" i="1">
                                  <a:solidFill>
                                    <a:schemeClr val="bg1"/>
                                  </a:solidFill>
                                  <a:latin typeface="Cambria Math" panose="02040503050406030204" pitchFamily="18" charset="0"/>
                                </a:rPr>
                                <m:t>2</m:t>
                              </m:r>
                            </m:sup>
                          </m:sSup>
                          <m:r>
                            <a:rPr lang="es-GT" sz="2200" i="1">
                              <a:solidFill>
                                <a:schemeClr val="bg1"/>
                              </a:solidFill>
                              <a:latin typeface="Cambria Math" panose="02040503050406030204" pitchFamily="18" charset="0"/>
                            </a:rPr>
                            <m:t>⋅60</m:t>
                          </m:r>
                          <m:r>
                            <m:rPr>
                              <m:nor/>
                            </m:rPr>
                            <a:rPr lang="es-GT" sz="2200" i="0">
                              <a:solidFill>
                                <a:schemeClr val="bg1"/>
                              </a:solidFill>
                              <a:latin typeface="Aptos" panose="020B0004020202020204" pitchFamily="34" charset="0"/>
                            </a:rPr>
                            <m:t> ksi</m:t>
                          </m:r>
                          <m:r>
                            <a:rPr lang="es-GT" sz="2200" i="1">
                              <a:solidFill>
                                <a:schemeClr val="bg1"/>
                              </a:solidFill>
                              <a:latin typeface="Cambria Math" panose="02040503050406030204" pitchFamily="18" charset="0"/>
                            </a:rPr>
                            <m:t>⋅64.8</m:t>
                          </m:r>
                          <m:r>
                            <m:rPr>
                              <m:nor/>
                            </m:rPr>
                            <a:rPr lang="es-GT" sz="2200" i="0">
                              <a:solidFill>
                                <a:schemeClr val="bg1"/>
                              </a:solidFill>
                              <a:latin typeface="Aptos" panose="020B0004020202020204" pitchFamily="34" charset="0"/>
                            </a:rPr>
                            <m:t> in</m:t>
                          </m:r>
                        </m:num>
                        <m:den>
                          <m:r>
                            <a:rPr lang="es-GT" sz="2200" i="1">
                              <a:solidFill>
                                <a:schemeClr val="bg1"/>
                              </a:solidFill>
                              <a:latin typeface="Cambria Math" panose="02040503050406030204" pitchFamily="18" charset="0"/>
                            </a:rPr>
                            <m:t>1,788.7</m:t>
                          </m:r>
                          <m:r>
                            <m:rPr>
                              <m:nor/>
                            </m:rPr>
                            <a:rPr lang="es-GT" sz="2200" i="0">
                              <a:solidFill>
                                <a:schemeClr val="bg1"/>
                              </a:solidFill>
                              <a:latin typeface="Aptos" panose="020B0004020202020204" pitchFamily="34" charset="0"/>
                            </a:rPr>
                            <m:t> kips</m:t>
                          </m:r>
                        </m:den>
                      </m:f>
                    </m:oMath>
                  </m:oMathPara>
                </a14:m>
                <a:endParaRPr lang="es-GT" sz="2200" dirty="0">
                  <a:solidFill>
                    <a:schemeClr val="bg1"/>
                  </a:solidFill>
                  <a:latin typeface="Aptos" panose="020B0004020202020204" pitchFamily="34" charset="0"/>
                </a:endParaRPr>
              </a:p>
              <a:p>
                <a:pPr algn="ctr"/>
                <a14:m>
                  <m:oMath xmlns:m="http://schemas.openxmlformats.org/officeDocument/2006/math">
                    <m:r>
                      <a:rPr lang="es-GT" sz="2200" i="1">
                        <a:solidFill>
                          <a:schemeClr val="bg1"/>
                        </a:solidFill>
                        <a:latin typeface="Cambria Math" panose="02040503050406030204" pitchFamily="18" charset="0"/>
                      </a:rPr>
                      <m:t>𝑠</m:t>
                    </m:r>
                    <m:r>
                      <a:rPr lang="es-GT" sz="2200" i="1">
                        <a:solidFill>
                          <a:schemeClr val="bg1"/>
                        </a:solidFill>
                        <a:latin typeface="Cambria Math" panose="02040503050406030204" pitchFamily="18" charset="0"/>
                      </a:rPr>
                      <m:t>=</m:t>
                    </m:r>
                    <m:f>
                      <m:fPr>
                        <m:ctrlPr>
                          <a:rPr lang="es-GT" sz="2200" i="1">
                            <a:solidFill>
                              <a:schemeClr val="bg1"/>
                            </a:solidFill>
                            <a:latin typeface="Cambria Math" panose="02040503050406030204" pitchFamily="18" charset="0"/>
                          </a:rPr>
                        </m:ctrlPr>
                      </m:fPr>
                      <m:num>
                        <m:r>
                          <a:rPr lang="es-GT" sz="2200" i="1">
                            <a:solidFill>
                              <a:schemeClr val="bg1"/>
                            </a:solidFill>
                            <a:latin typeface="Cambria Math" panose="02040503050406030204" pitchFamily="18" charset="0"/>
                          </a:rPr>
                          <m:t>5,528.3</m:t>
                        </m:r>
                      </m:num>
                      <m:den>
                        <m:r>
                          <a:rPr lang="es-GT" sz="2200" i="1">
                            <a:solidFill>
                              <a:schemeClr val="bg1"/>
                            </a:solidFill>
                            <a:latin typeface="Cambria Math" panose="02040503050406030204" pitchFamily="18" charset="0"/>
                          </a:rPr>
                          <m:t>1,788.7</m:t>
                        </m:r>
                      </m:den>
                    </m:f>
                    <m:r>
                      <a:rPr lang="es-GT" sz="2200" i="1">
                        <a:solidFill>
                          <a:schemeClr val="bg1"/>
                        </a:solidFill>
                        <a:latin typeface="Cambria Math" panose="02040503050406030204" pitchFamily="18" charset="0"/>
                      </a:rPr>
                      <m:t>=</m:t>
                    </m:r>
                    <m:r>
                      <a:rPr lang="es-GT" sz="2200" b="1">
                        <a:solidFill>
                          <a:schemeClr val="bg1"/>
                        </a:solidFill>
                        <a:latin typeface="Cambria Math" panose="02040503050406030204" pitchFamily="18" charset="0"/>
                      </a:rPr>
                      <m:t>𝟑</m:t>
                    </m:r>
                    <m:r>
                      <a:rPr lang="es-GT" sz="2200" b="1">
                        <a:solidFill>
                          <a:schemeClr val="bg1"/>
                        </a:solidFill>
                        <a:latin typeface="Cambria Math" panose="02040503050406030204" pitchFamily="18" charset="0"/>
                      </a:rPr>
                      <m:t>.</m:t>
                    </m:r>
                    <m:r>
                      <a:rPr lang="es-GT" sz="2200" b="1">
                        <a:solidFill>
                          <a:schemeClr val="bg1"/>
                        </a:solidFill>
                        <a:latin typeface="Cambria Math" panose="02040503050406030204" pitchFamily="18" charset="0"/>
                      </a:rPr>
                      <m:t>𝟎𝟗</m:t>
                    </m:r>
                  </m:oMath>
                </a14:m>
                <a:r>
                  <a:rPr lang="es-GT" sz="2200" dirty="0">
                    <a:solidFill>
                      <a:schemeClr val="bg1"/>
                    </a:solidFill>
                    <a:latin typeface="Aptos" panose="020B0004020202020204" pitchFamily="34" charset="0"/>
                  </a:rPr>
                  <a:t>in</a:t>
                </a:r>
              </a:p>
              <a:p>
                <a:pPr algn="just"/>
                <a:endParaRPr lang="es-GT" sz="2200" dirty="0">
                  <a:solidFill>
                    <a:schemeClr val="bg1"/>
                  </a:solidFill>
                  <a:latin typeface="Aptos" panose="020B0004020202020204" pitchFamily="34" charset="0"/>
                </a:endParaRPr>
              </a:p>
              <a:p>
                <a:pPr lvl="0" algn="just"/>
                <a:endParaRPr lang="es-GT" sz="2200" dirty="0">
                  <a:solidFill>
                    <a:schemeClr val="bg1"/>
                  </a:solidFill>
                  <a:latin typeface="Aptos" panose="020B0004020202020204" pitchFamily="34" charset="0"/>
                </a:endParaRPr>
              </a:p>
              <a:p>
                <a:pPr algn="just"/>
                <a:endParaRPr lang="es-GT" sz="2200" dirty="0">
                  <a:solidFill>
                    <a:schemeClr val="bg1"/>
                  </a:solidFill>
                  <a:latin typeface="Aptos" panose="020B0004020202020204" pitchFamily="34" charset="0"/>
                </a:endParaRPr>
              </a:p>
              <a:p>
                <a:pPr algn="just"/>
                <a:endParaRPr lang="es-GT" sz="2400" dirty="0">
                  <a:solidFill>
                    <a:schemeClr val="bg1"/>
                  </a:solidFill>
                </a:endParaRPr>
              </a:p>
            </p:txBody>
          </p:sp>
        </mc:Choice>
        <mc:Fallback xmlns="">
          <p:sp>
            <p:nvSpPr>
              <p:cNvPr id="11" name="CuadroTexto 10">
                <a:extLst>
                  <a:ext uri="{FF2B5EF4-FFF2-40B4-BE49-F238E27FC236}">
                    <a16:creationId xmlns:a16="http://schemas.microsoft.com/office/drawing/2014/main" id="{AC4CADA2-9951-282D-834D-CDF68CB82D01}"/>
                  </a:ext>
                </a:extLst>
              </p:cNvPr>
              <p:cNvSpPr txBox="1">
                <a:spLocks noRot="1" noChangeAspect="1" noMove="1" noResize="1" noEditPoints="1" noAdjustHandles="1" noChangeArrowheads="1" noChangeShapeType="1" noTextEdit="1"/>
              </p:cNvSpPr>
              <p:nvPr/>
            </p:nvSpPr>
            <p:spPr>
              <a:xfrm>
                <a:off x="617218" y="1154878"/>
                <a:ext cx="11063422" cy="6894644"/>
              </a:xfrm>
              <a:prstGeom prst="rect">
                <a:avLst/>
              </a:prstGeom>
              <a:blipFill>
                <a:blip r:embed="rId5"/>
                <a:stretch>
                  <a:fillRect l="-716" t="-531" r="-716"/>
                </a:stretch>
              </a:blipFill>
            </p:spPr>
            <p:txBody>
              <a:bodyPr/>
              <a:lstStyle/>
              <a:p>
                <a:r>
                  <a:rPr lang="es-GT">
                    <a:noFill/>
                  </a:rPr>
                  <a:t> </a:t>
                </a:r>
              </a:p>
            </p:txBody>
          </p:sp>
        </mc:Fallback>
      </mc:AlternateContent>
      <p:sp>
        <p:nvSpPr>
          <p:cNvPr id="99" name="Google Shape;99;p14">
            <a:extLst>
              <a:ext uri="{FF2B5EF4-FFF2-40B4-BE49-F238E27FC236}">
                <a16:creationId xmlns:a16="http://schemas.microsoft.com/office/drawing/2014/main" id="{E3AAF092-CF52-80B6-03DF-3FBE5D5E8D4A}"/>
              </a:ext>
            </a:extLst>
          </p:cNvPr>
          <p:cNvSpPr/>
          <p:nvPr/>
        </p:nvSpPr>
        <p:spPr>
          <a:xfrm>
            <a:off x="571499" y="1286411"/>
            <a:ext cx="45719" cy="969390"/>
          </a:xfrm>
          <a:prstGeom prst="rect">
            <a:avLst/>
          </a:prstGeom>
          <a:solidFill>
            <a:srgbClr val="FCD3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5507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47" name="Google Shape;247;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8" name="Google Shape;248;p23"/>
          <p:cNvSpPr/>
          <p:nvPr/>
        </p:nvSpPr>
        <p:spPr>
          <a:xfrm>
            <a:off x="571500" y="2698551"/>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9" name="Google Shape;249;p23"/>
          <p:cNvSpPr/>
          <p:nvPr/>
        </p:nvSpPr>
        <p:spPr>
          <a:xfrm>
            <a:off x="571500" y="3483322"/>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0" name="Google Shape;250;p23"/>
          <p:cNvSpPr/>
          <p:nvPr/>
        </p:nvSpPr>
        <p:spPr>
          <a:xfrm>
            <a:off x="571500" y="3473797"/>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2" name="Google Shape;252;p23"/>
          <p:cNvSpPr/>
          <p:nvPr/>
        </p:nvSpPr>
        <p:spPr>
          <a:xfrm>
            <a:off x="571500" y="4258567"/>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3" name="Google Shape;253;p23"/>
          <p:cNvSpPr/>
          <p:nvPr/>
        </p:nvSpPr>
        <p:spPr>
          <a:xfrm>
            <a:off x="571500" y="4258567"/>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3" name="Google Shape;263;p23"/>
          <p:cNvSpPr txBox="1"/>
          <p:nvPr/>
        </p:nvSpPr>
        <p:spPr>
          <a:xfrm>
            <a:off x="958646" y="3556835"/>
            <a:ext cx="6897329" cy="609398"/>
          </a:xfrm>
          <a:prstGeom prst="rect">
            <a:avLst/>
          </a:prstGeom>
          <a:noFill/>
          <a:ln>
            <a:noFill/>
          </a:ln>
        </p:spPr>
        <p:txBody>
          <a:bodyPr spcFirstLastPara="1" wrap="square" lIns="0" tIns="0" rIns="0" bIns="0" anchor="t" anchorCtr="0">
            <a:spAutoFit/>
          </a:bodyPr>
          <a:lstStyle/>
          <a:p>
            <a:pPr marL="0" marR="0" lvl="0" indent="0" algn="l" rtl="0">
              <a:lnSpc>
                <a:spcPct val="119969"/>
              </a:lnSpc>
              <a:spcBef>
                <a:spcPts val="0"/>
              </a:spcBef>
              <a:spcAft>
                <a:spcPts val="0"/>
              </a:spcAft>
              <a:buNone/>
            </a:pPr>
            <a:r>
              <a:rPr lang="en-US" sz="3300" b="1" dirty="0">
                <a:solidFill>
                  <a:srgbClr val="F8FAFC"/>
                </a:solidFill>
                <a:latin typeface="Montserrat"/>
                <a:sym typeface="Montserrat"/>
              </a:rPr>
              <a:t>Gracias </a:t>
            </a:r>
            <a:r>
              <a:rPr lang="en-US" sz="3300" b="1" dirty="0" err="1">
                <a:solidFill>
                  <a:srgbClr val="F8FAFC"/>
                </a:solidFill>
                <a:latin typeface="Montserrat"/>
                <a:sym typeface="Montserrat"/>
              </a:rPr>
              <a:t>por</a:t>
            </a:r>
            <a:r>
              <a:rPr lang="en-US" sz="3300" b="1" dirty="0">
                <a:solidFill>
                  <a:srgbClr val="F8FAFC"/>
                </a:solidFill>
                <a:latin typeface="Montserrat"/>
                <a:sym typeface="Montserrat"/>
              </a:rPr>
              <a:t> </a:t>
            </a:r>
            <a:r>
              <a:rPr lang="en-US" sz="3300" b="1" dirty="0" err="1">
                <a:solidFill>
                  <a:srgbClr val="F8FAFC"/>
                </a:solidFill>
                <a:latin typeface="Montserrat"/>
                <a:sym typeface="Montserrat"/>
              </a:rPr>
              <a:t>su</a:t>
            </a:r>
            <a:r>
              <a:rPr lang="en-US" sz="3300" b="1" dirty="0">
                <a:solidFill>
                  <a:srgbClr val="F8FAFC"/>
                </a:solidFill>
                <a:latin typeface="Montserrat"/>
                <a:sym typeface="Montserrat"/>
              </a:rPr>
              <a:t> </a:t>
            </a:r>
            <a:r>
              <a:rPr lang="en-US" sz="3300" b="1" dirty="0" err="1">
                <a:solidFill>
                  <a:srgbClr val="F8FAFC"/>
                </a:solidFill>
                <a:latin typeface="Montserrat"/>
                <a:sym typeface="Montserrat"/>
              </a:rPr>
              <a:t>atención</a:t>
            </a:r>
            <a:endParaRPr dirty="0"/>
          </a:p>
        </p:txBody>
      </p:sp>
      <p:sp>
        <p:nvSpPr>
          <p:cNvPr id="264" name="Google Shape;264;p23"/>
          <p:cNvSpPr/>
          <p:nvPr/>
        </p:nvSpPr>
        <p:spPr>
          <a:xfrm>
            <a:off x="699320" y="3571008"/>
            <a:ext cx="57150" cy="50289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4336</TotalTime>
  <Words>1687</Words>
  <Application>Microsoft Office PowerPoint</Application>
  <PresentationFormat>Panorámica</PresentationFormat>
  <Paragraphs>115</Paragraphs>
  <Slides>14</Slides>
  <Notes>14</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14</vt:i4>
      </vt:variant>
    </vt:vector>
  </HeadingPairs>
  <TitlesOfParts>
    <vt:vector size="22" baseType="lpstr">
      <vt:lpstr>Inter Medium</vt:lpstr>
      <vt:lpstr>Arial</vt:lpstr>
      <vt:lpstr>Montserrat</vt:lpstr>
      <vt:lpstr>Cambria Math</vt:lpstr>
      <vt:lpstr>Montserrat ExtraBold</vt:lpstr>
      <vt:lpstr>Aptos</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Luis</cp:lastModifiedBy>
  <cp:revision>109</cp:revision>
  <dcterms:modified xsi:type="dcterms:W3CDTF">2026-09-26T19:19:26Z</dcterms:modified>
</cp:coreProperties>
</file>