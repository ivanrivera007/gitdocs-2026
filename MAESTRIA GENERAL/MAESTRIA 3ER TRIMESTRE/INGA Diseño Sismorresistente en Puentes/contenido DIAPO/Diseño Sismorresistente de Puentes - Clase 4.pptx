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8" r:id="rId3"/>
    <p:sldId id="283" r:id="rId4"/>
    <p:sldId id="282" r:id="rId5"/>
    <p:sldId id="292" r:id="rId6"/>
    <p:sldId id="293" r:id="rId7"/>
    <p:sldId id="294" r:id="rId8"/>
    <p:sldId id="295" r:id="rId9"/>
    <p:sldId id="296" r:id="rId10"/>
    <p:sldId id="266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ExtraBold" panose="000009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95FF9F3-CFA4-77C5-92CA-640A8A77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326E546-3FBA-D901-7073-1C6088473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231A662-64E2-E4C1-13AF-DD0285635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726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B0B0947-6FEA-23F5-F114-4A0CE993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3A1ADCC-B023-704D-2333-654A75B18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F126B08-14BC-B9D2-32F7-ACB4B357A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131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BAC31D7-9273-3573-E3EB-523A3F5F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1413BEC-2879-E524-2711-5F5C23688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C1B7C83-A5E8-F03C-B78F-CF325771A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9350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B9B7C45-15A4-88E5-B5DB-291E3D6C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3A36569-19D9-9787-8741-F09E481EB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633059B-6CE3-18FF-59A7-4095505D0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618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C20D049-B99A-2D1E-956B-BD8CC8B4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9402AFB-BAE2-45C1-C985-0A1469519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C89BFC1-22DB-2DAF-9008-64D4E6CFD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2526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EC060C0-52CA-FDAD-4F2F-D031C8B9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E455B4D-BFA6-6427-9EBF-784553904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CC90760-819C-D1D6-0253-9701C48E8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481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98F3956-7BFF-5DED-D125-6E5E4EB5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7003A19-1643-D134-D9C1-7987D06C2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E4D8CF1-ED9B-B1C6-A168-572E449DA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751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AA751EA-3F0D-1161-5737-43764371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437A873-BFB6-0FAB-A059-C70E3FBA5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09040EE-8E68-02B1-9662-50447BB43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048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2716559"/>
            <a:ext cx="11201400" cy="140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Diseño Sismorresistente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de </a:t>
            </a:r>
            <a:r>
              <a:rPr lang="en-US" sz="4800" b="0" i="0" u="none" strike="noStrike" cap="none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Puentes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347120"/>
            <a:ext cx="10668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Clase 4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s-GT" sz="1800" dirty="0">
                <a:solidFill>
                  <a:schemeClr val="tx2">
                    <a:lumMod val="50000"/>
                  </a:schemeClr>
                </a:solidFill>
              </a:rPr>
              <a:t>"Diseño por Capacidad II: Cortante por </a:t>
            </a:r>
            <a:r>
              <a:rPr lang="es-GT" sz="1800" dirty="0" err="1">
                <a:solidFill>
                  <a:schemeClr val="tx2">
                    <a:lumMod val="50000"/>
                  </a:schemeClr>
                </a:solidFill>
              </a:rPr>
              <a:t>Sobrerresistencia</a:t>
            </a:r>
            <a:r>
              <a:rPr lang="es-GT" sz="1800" dirty="0">
                <a:solidFill>
                  <a:schemeClr val="tx2">
                    <a:lumMod val="50000"/>
                  </a:schemeClr>
                </a:solidFill>
              </a:rPr>
              <a:t> y Mecanismo Plástico"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40350" y="567747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Msc</a:t>
            </a:r>
            <a:r>
              <a:rPr lang="en-US" sz="1800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. Cindy Carolina Colomo De León  						19/09/26</a:t>
            </a:r>
            <a:endParaRPr dirty="0"/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DC544CEF-DA07-7A1B-2E12-64AAD0F5B105}"/>
              </a:ext>
            </a:extLst>
          </p:cNvPr>
          <p:cNvSpPr txBox="1"/>
          <p:nvPr/>
        </p:nvSpPr>
        <p:spPr>
          <a:xfrm>
            <a:off x="952500" y="201262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MAESTR</a:t>
            </a:r>
            <a:r>
              <a:rPr lang="es-GT" sz="1800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ÍA EN INGENIERÍA ESTRUCTURAL Y SISMORRESISTENTE - CUNOC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BA6006E-8521-025F-026D-1E09CBB4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701E4625-67E7-E8FC-D9F0-DB07C5D3BE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786AD42A-5E14-7DDE-78CF-9BA00B13E720}"/>
              </a:ext>
            </a:extLst>
          </p:cNvPr>
          <p:cNvSpPr txBox="1"/>
          <p:nvPr/>
        </p:nvSpPr>
        <p:spPr>
          <a:xfrm>
            <a:off x="762000" y="170544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Fase 1: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respuesta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1FE204F-E2AD-66CA-7ECB-4BD7AA460D0C}"/>
              </a:ext>
            </a:extLst>
          </p:cNvPr>
          <p:cNvSpPr/>
          <p:nvPr/>
        </p:nvSpPr>
        <p:spPr>
          <a:xfrm>
            <a:off x="571499" y="163691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72BCAC53-AEB3-4A95-B778-795EF3F318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327" y="1144188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6FED9E1-CD33-DFC9-7F4A-8572688F21F4}"/>
                  </a:ext>
                </a:extLst>
              </p:cNvPr>
              <p:cNvSpPr txBox="1"/>
              <p:nvPr/>
            </p:nvSpPr>
            <p:spPr>
              <a:xfrm>
                <a:off x="672962" y="1240919"/>
                <a:ext cx="11097711" cy="5893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400" b="1" dirty="0">
                    <a:solidFill>
                      <a:srgbClr val="00B0F0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(PGA):</a:t>
                </a:r>
                <a:r>
                  <a:rPr lang="es-GT" sz="2400" dirty="0">
                    <a:solidFill>
                      <a:schemeClr val="bg1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GT" sz="2200" dirty="0">
                    <a:solidFill>
                      <a:schemeClr val="bg1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s-GT" sz="2200" dirty="0">
                    <a:solidFill>
                      <a:schemeClr val="bg1"/>
                    </a:solidFill>
                  </a:rPr>
                  <a:t>s el parámetro sísmico de referencia que ancla el análisis de la interacción suelo-estructura y la definición de la amenaza sísmica local.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GT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	</a:t>
                </a:r>
                <a:r>
                  <a:rPr lang="es-GT" sz="2200" dirty="0">
                    <a:solidFill>
                      <a:schemeClr val="bg1"/>
                    </a:solidFill>
                  </a:rPr>
                  <a:t>Evaluación de Umbrales de Licuación</a:t>
                </a:r>
              </a:p>
              <a:p>
                <a:pPr marL="342900" lvl="6" indent="-342900" algn="just">
                  <a:buFont typeface="Arial" panose="020B0604020202020204" pitchFamily="34" charset="0"/>
                  <a:buChar char="•"/>
                </a:pPr>
                <a:r>
                  <a:rPr lang="es-GT" sz="2200" dirty="0">
                    <a:solidFill>
                      <a:schemeClr val="bg1"/>
                    </a:solidFill>
                  </a:rPr>
                  <a:t>	Empujes Dinámicos de Tierras en Estribos de Puentes y Muros</a:t>
                </a:r>
              </a:p>
              <a:p>
                <a:pPr marL="342900" lvl="7" indent="-342900" algn="just">
                  <a:buFont typeface="Arial" panose="020B0604020202020204" pitchFamily="34" charset="0"/>
                  <a:buChar char="•"/>
                </a:pPr>
                <a:r>
                  <a:rPr lang="es-GT" sz="2200" dirty="0">
                    <a:solidFill>
                      <a:schemeClr val="bg1"/>
                    </a:solidFill>
                  </a:rPr>
                  <a:t>	Estabilidad de Taludes</a:t>
                </a:r>
                <a:endParaRPr lang="es-GT" sz="2200" dirty="0">
                  <a:solidFill>
                    <a:schemeClr val="bg1"/>
                  </a:solidFill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GT" sz="2400" b="1" dirty="0">
                    <a:solidFill>
                      <a:srgbClr val="00B0F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GT" sz="24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2400" dirty="0">
                    <a:solidFill>
                      <a:srgbClr val="00B0F0"/>
                    </a:solidFill>
                  </a:rPr>
                  <a:t> </a:t>
                </a:r>
                <a:r>
                  <a:rPr lang="es-GT" sz="2400" dirty="0">
                    <a:solidFill>
                      <a:schemeClr val="bg1"/>
                    </a:solidFill>
                  </a:rPr>
                  <a:t>Evaluada a los 0.2 segundos. Gobierna la respuesta de estructuras muy rígidas. En puentes, esto afecta directamente el diseño de superestructuras muy cortas, pilas cortas de gran sección transversal, y conexiones rígidas.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GT" sz="2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s-GT" sz="2400" b="1" dirty="0">
                    <a:solidFill>
                      <a:srgbClr val="00B0F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GT" sz="24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2400" dirty="0">
                    <a:solidFill>
                      <a:srgbClr val="00B0F0"/>
                    </a:solidFill>
                  </a:rPr>
                  <a:t> </a:t>
                </a:r>
                <a:r>
                  <a:rPr lang="es-GT" sz="2400" dirty="0">
                    <a:solidFill>
                      <a:schemeClr val="bg1"/>
                    </a:solidFill>
                  </a:rPr>
                  <a:t>Domina el diseño de estructuras más flexibles. Para puentes de luces largas, viaductos elevados o aquellos que incorporan aislamiento sísmico en los apoyos </a:t>
                </a:r>
                <a:r>
                  <a:rPr lang="es-GT" sz="2400" dirty="0" err="1">
                    <a:solidFill>
                      <a:schemeClr val="bg1"/>
                    </a:solidFill>
                  </a:rPr>
                  <a:t>elastoméricos</a:t>
                </a:r>
                <a:r>
                  <a:rPr lang="es-GT" sz="2400" dirty="0">
                    <a:solidFill>
                      <a:schemeClr val="bg1"/>
                    </a:solidFill>
                  </a:rPr>
                  <a:t>, este es el parámetro crítico que dictamina los desplazamientos máximos.</a:t>
                </a:r>
              </a:p>
              <a:p>
                <a:pPr algn="just"/>
                <a:endParaRPr lang="es-GT" sz="2300" dirty="0">
                  <a:solidFill>
                    <a:schemeClr val="bg1"/>
                  </a:solidFill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6FED9E1-CD33-DFC9-7F4A-8572688F2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2" y="1240919"/>
                <a:ext cx="11097711" cy="5893921"/>
              </a:xfrm>
              <a:prstGeom prst="rect">
                <a:avLst/>
              </a:prstGeom>
              <a:blipFill>
                <a:blip r:embed="rId5"/>
                <a:stretch>
                  <a:fillRect l="-824" t="-725" r="-824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C512ED11-B520-049A-075C-E2305DC890A3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398EA5-B110-BC42-AB34-F84E703D50AF}"/>
              </a:ext>
            </a:extLst>
          </p:cNvPr>
          <p:cNvSpPr txBox="1"/>
          <p:nvPr/>
        </p:nvSpPr>
        <p:spPr>
          <a:xfrm>
            <a:off x="672963" y="697912"/>
            <a:ext cx="1109771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GT" sz="2300" b="1" dirty="0">
                <a:solidFill>
                  <a:schemeClr val="tx2">
                    <a:lumMod val="50000"/>
                  </a:schemeClr>
                </a:solidFill>
              </a:rPr>
              <a:t>Parámetros Sísmicos Base                                                             Peligro sísmico</a:t>
            </a:r>
            <a:endParaRPr lang="es-GT" sz="23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7AEBBDD-BBD3-DFAE-BE85-4877BACE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531873A-3736-08C9-11C8-FD980D2078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19DC9F24-9592-C8B6-A717-73343B5F1762}"/>
              </a:ext>
            </a:extLst>
          </p:cNvPr>
          <p:cNvSpPr txBox="1"/>
          <p:nvPr/>
        </p:nvSpPr>
        <p:spPr>
          <a:xfrm>
            <a:off x="752168" y="190992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s-GT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Fase 1: Espectro de respuesta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C0B675B-DE2F-ECEF-AC5F-630DAAE7665A}"/>
              </a:ext>
            </a:extLst>
          </p:cNvPr>
          <p:cNvSpPr/>
          <p:nvPr/>
        </p:nvSpPr>
        <p:spPr>
          <a:xfrm>
            <a:off x="571499" y="163691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0E4FA5B1-E61D-2B10-4C49-3B8C3A6D1A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327" y="1120146"/>
            <a:ext cx="11426544" cy="556731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03FB377-DE4E-D293-557B-26EDD7559069}"/>
                  </a:ext>
                </a:extLst>
              </p:cNvPr>
              <p:cNvSpPr txBox="1"/>
              <p:nvPr/>
            </p:nvSpPr>
            <p:spPr>
              <a:xfrm>
                <a:off x="661534" y="1404397"/>
                <a:ext cx="10958968" cy="5365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GT" sz="2200" dirty="0">
                    <a:solidFill>
                      <a:schemeClr val="bg1"/>
                    </a:solidFill>
                  </a:rPr>
                  <a:t>Para un perfil de Suelo Tipo D con los valores de aceleración ingresados:</a:t>
                </a:r>
              </a:p>
              <a:p>
                <a:r>
                  <a:rPr lang="es-GT" dirty="0"/>
                  <a:t> </a:t>
                </a:r>
                <a:endParaRPr lang="es-GT" dirty="0">
                  <a:solidFill>
                    <a:schemeClr val="bg1"/>
                  </a:solidFill>
                </a:endParaRPr>
              </a:p>
              <a:p>
                <a:pPr lvl="0" algn="just"/>
                <a14:m>
                  <m:oMath xmlns:m="http://schemas.openxmlformats.org/officeDocument/2006/math">
                    <m:r>
                      <a:rPr lang="es-GT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(según tablas normativas 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</a:t>
                </a: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(según tablas normativas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≥1.25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</a:t>
                </a: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(según tablas normativas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</a:t>
                </a: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Aceleraciones Modificadas y Periodos de Control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(Aceleración pico ajustada):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=1.0×0.50=0.50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(Aceleración de diseño a periodos cortos):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=1.0×1.25=1.25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(Aceleración de diseño a 1 segundo):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=1.5×0.50=0.75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(Periodo de transición):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1.25</m:t>
                        </m:r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=0.60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(Periodo inicial):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0.2×</m:t>
                    </m:r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=0.2×0.60=0.12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300" dirty="0">
                  <a:solidFill>
                    <a:schemeClr val="bg1"/>
                  </a:solidFill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03FB377-DE4E-D293-557B-26EDD7559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34" y="1404397"/>
                <a:ext cx="10958968" cy="5365893"/>
              </a:xfrm>
              <a:prstGeom prst="rect">
                <a:avLst/>
              </a:prstGeom>
              <a:blipFill>
                <a:blip r:embed="rId5"/>
                <a:stretch>
                  <a:fillRect l="-723" t="-568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3DD2D811-3129-F0B9-7BB1-245162EC9EDC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2D3CF0-0C88-5595-86C3-A66264EBA2CD}"/>
              </a:ext>
            </a:extLst>
          </p:cNvPr>
          <p:cNvSpPr txBox="1"/>
          <p:nvPr/>
        </p:nvSpPr>
        <p:spPr>
          <a:xfrm>
            <a:off x="661534" y="726906"/>
            <a:ext cx="617739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300" b="1" dirty="0">
                <a:solidFill>
                  <a:schemeClr val="tx2">
                    <a:lumMod val="50000"/>
                  </a:schemeClr>
                </a:solidFill>
              </a:rPr>
              <a:t>Factores de sitio y Parámetros iniciales</a:t>
            </a:r>
          </a:p>
        </p:txBody>
      </p:sp>
    </p:spTree>
    <p:extLst>
      <p:ext uri="{BB962C8B-B14F-4D97-AF65-F5344CB8AC3E}">
        <p14:creationId xmlns:p14="http://schemas.microsoft.com/office/powerpoint/2010/main" val="7743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307D048-4F70-59B6-E05F-1593CEAA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5308F3D0-416E-AA51-3AA1-5BEB947030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C39A5C4A-249A-04E3-C86E-CC521B14A20C}"/>
              </a:ext>
            </a:extLst>
          </p:cNvPr>
          <p:cNvSpPr txBox="1"/>
          <p:nvPr/>
        </p:nvSpPr>
        <p:spPr>
          <a:xfrm>
            <a:off x="742336" y="163691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s-GT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Fase 1: Espectro de respuesta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EB2E8031-D11D-A774-A927-C0A10D5D550F}"/>
              </a:ext>
            </a:extLst>
          </p:cNvPr>
          <p:cNvSpPr/>
          <p:nvPr/>
        </p:nvSpPr>
        <p:spPr>
          <a:xfrm>
            <a:off x="571499" y="163691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AB8560EB-791D-2CEB-048F-C4748FD47F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327" y="1169471"/>
            <a:ext cx="11515034" cy="551798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50873F4-90E0-0EA2-C484-D3447E13D631}"/>
                  </a:ext>
                </a:extLst>
              </p:cNvPr>
              <p:cNvSpPr txBox="1"/>
              <p:nvPr/>
            </p:nvSpPr>
            <p:spPr>
              <a:xfrm>
                <a:off x="661534" y="1404398"/>
                <a:ext cx="11063422" cy="5646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dirty="0">
                    <a:solidFill>
                      <a:schemeClr val="bg1"/>
                    </a:solidFill>
                  </a:rPr>
                  <a:t>Aplicando las ecuaciones matemáticas de AASHTO a la curva punto por punto:</a:t>
                </a:r>
              </a:p>
              <a:p>
                <a:pPr lvl="0" algn="just"/>
                <a:r>
                  <a:rPr lang="es-GT" sz="2200" b="1" dirty="0">
                    <a:solidFill>
                      <a:srgbClr val="00B0F0"/>
                    </a:solidFill>
                  </a:rPr>
                  <a:t>Rama ascendente </a:t>
                </a:r>
                <a:r>
                  <a:rPr lang="es-GT" sz="2200" b="1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&lt;0.12</m:t>
                    </m:r>
                  </m:oMath>
                </a14:m>
                <a:r>
                  <a:rPr lang="es-GT" sz="2200" b="1" dirty="0">
                    <a:solidFill>
                      <a:schemeClr val="bg1"/>
                    </a:solidFill>
                  </a:rPr>
                  <a:t>):</a:t>
                </a:r>
                <a:r>
                  <a:rPr lang="es-GT" sz="2200" dirty="0">
                    <a:solidFill>
                      <a:schemeClr val="bg1"/>
                    </a:solidFill>
                  </a:rPr>
                  <a:t> La ecuación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s-GT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GT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GT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=0.50+</m:t>
                    </m:r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1.25−0.50</m:t>
                        </m:r>
                      </m:e>
                    </m:d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num>
                          <m:den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0.12</m:t>
                            </m:r>
                          </m:den>
                        </m:f>
                      </m:e>
                    </m:d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=0.50+</m:t>
                    </m:r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</m:d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0.10</m:t>
                            </m:r>
                          </m:num>
                          <m:den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0.12</m:t>
                            </m:r>
                          </m:den>
                        </m:f>
                      </m:e>
                    </m:d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=1.125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0" algn="just"/>
                <a:r>
                  <a:rPr lang="es-GT" sz="2200" b="1" dirty="0">
                    <a:solidFill>
                      <a:srgbClr val="00B0F0"/>
                    </a:solidFill>
                  </a:rPr>
                  <a:t>Meseta constante </a:t>
                </a:r>
                <a:r>
                  <a:rPr lang="es-GT" sz="2200" b="1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0.12≤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≤0.60</m:t>
                    </m:r>
                  </m:oMath>
                </a14:m>
                <a:r>
                  <a:rPr lang="es-GT" sz="2200" b="1" dirty="0">
                    <a:solidFill>
                      <a:schemeClr val="bg1"/>
                    </a:solidFill>
                  </a:rPr>
                  <a:t>):</a:t>
                </a:r>
                <a:r>
                  <a:rPr lang="es-GT" sz="2200" dirty="0">
                    <a:solidFill>
                      <a:schemeClr val="bg1"/>
                    </a:solidFill>
                  </a:rPr>
                  <a:t> La ecuación indica el máximo espectral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todo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 en este rango (ej.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0.20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0" algn="just"/>
                <a:r>
                  <a:rPr lang="es-GT" sz="2200" b="1" dirty="0">
                    <a:solidFill>
                      <a:srgbClr val="00B0F0"/>
                    </a:solidFill>
                  </a:rPr>
                  <a:t>Rama descendente </a:t>
                </a:r>
                <a:r>
                  <a:rPr lang="es-GT" sz="2200" b="1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&gt;0.60</m:t>
                    </m:r>
                  </m:oMath>
                </a14:m>
                <a:r>
                  <a:rPr lang="es-GT" sz="2200" b="1" dirty="0">
                    <a:solidFill>
                      <a:schemeClr val="bg1"/>
                    </a:solidFill>
                  </a:rPr>
                  <a:t>):</a:t>
                </a:r>
                <a:r>
                  <a:rPr lang="es-GT" sz="2200" dirty="0">
                    <a:solidFill>
                      <a:schemeClr val="bg1"/>
                    </a:solidFill>
                  </a:rPr>
                  <a:t> La ecuación regida por la velocidad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0.65</m:t>
                        </m:r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=1.153846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=2.00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2.00</m:t>
                        </m:r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=0.375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s-GT" sz="2200" dirty="0">
                    <a:solidFill>
                      <a:schemeClr val="bg1"/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=3.00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3.00</m:t>
                        </m:r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=0.250</m:t>
                    </m:r>
                  </m:oMath>
                </a14:m>
                <a:endParaRPr lang="es-GT" sz="2200" dirty="0">
                  <a:solidFill>
                    <a:schemeClr val="bg1"/>
                  </a:solidFill>
                </a:endParaRPr>
              </a:p>
              <a:p>
                <a:pPr algn="just"/>
                <a:endParaRPr lang="es-GT" sz="2200" dirty="0">
                  <a:solidFill>
                    <a:schemeClr val="bg1"/>
                  </a:solidFill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50873F4-90E0-0EA2-C484-D3447E13D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34" y="1404398"/>
                <a:ext cx="11063422" cy="5646226"/>
              </a:xfrm>
              <a:prstGeom prst="rect">
                <a:avLst/>
              </a:prstGeom>
              <a:blipFill>
                <a:blip r:embed="rId5"/>
                <a:stretch>
                  <a:fillRect l="-717" t="-539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3BBEF1F-81AB-714F-7346-A67D1FF9AED2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DFE79A-4E42-51CA-7F09-AC69644E2AC0}"/>
              </a:ext>
            </a:extLst>
          </p:cNvPr>
          <p:cNvSpPr txBox="1"/>
          <p:nvPr/>
        </p:nvSpPr>
        <p:spPr>
          <a:xfrm>
            <a:off x="661534" y="723195"/>
            <a:ext cx="617739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300" b="1" dirty="0">
                <a:solidFill>
                  <a:schemeClr val="tx2">
                    <a:lumMod val="50000"/>
                  </a:schemeClr>
                </a:solidFill>
              </a:rPr>
              <a:t>Factores de sitio y Parámetros iniciales</a:t>
            </a:r>
          </a:p>
        </p:txBody>
      </p:sp>
    </p:spTree>
    <p:extLst>
      <p:ext uri="{BB962C8B-B14F-4D97-AF65-F5344CB8AC3E}">
        <p14:creationId xmlns:p14="http://schemas.microsoft.com/office/powerpoint/2010/main" val="163863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88C2DB0-BB54-5F47-074A-686E890B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2A495B98-4968-DCBA-8466-41E1F60A91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AB4AB251-34F8-2BA3-D2DE-544E9A0BB21E}"/>
              </a:ext>
            </a:extLst>
          </p:cNvPr>
          <p:cNvSpPr txBox="1"/>
          <p:nvPr/>
        </p:nvSpPr>
        <p:spPr>
          <a:xfrm>
            <a:off x="661834" y="299135"/>
            <a:ext cx="1086833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300" b="1" dirty="0">
                <a:solidFill>
                  <a:srgbClr val="00B0F0"/>
                </a:solidFill>
                <a:latin typeface="Aptos" panose="020B0004020202020204" pitchFamily="34" charset="0"/>
              </a:rPr>
              <a:t>Teoría del Diseño por Capacidad </a:t>
            </a:r>
            <a:endParaRPr sz="3300" b="1" i="0" u="none" strike="noStrike" cap="none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A8D3A15A-C8A6-B45F-F15F-A7E895114699}"/>
              </a:ext>
            </a:extLst>
          </p:cNvPr>
          <p:cNvSpPr/>
          <p:nvPr/>
        </p:nvSpPr>
        <p:spPr>
          <a:xfrm>
            <a:off x="486576" y="263047"/>
            <a:ext cx="45719" cy="72687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0830BA06-C1EB-7CC2-1051-8E65223E52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820" y="1430251"/>
            <a:ext cx="11438359" cy="52040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E0AB23A-98A1-5641-CB8D-60C652B38416}"/>
              </a:ext>
            </a:extLst>
          </p:cNvPr>
          <p:cNvSpPr txBox="1"/>
          <p:nvPr/>
        </p:nvSpPr>
        <p:spPr>
          <a:xfrm>
            <a:off x="847172" y="1693570"/>
            <a:ext cx="1049765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400" b="1" dirty="0">
                <a:solidFill>
                  <a:srgbClr val="00B0F0"/>
                </a:solidFill>
                <a:latin typeface="Aptos" panose="020B0004020202020204" pitchFamily="34" charset="0"/>
              </a:rPr>
              <a:t>1. La Filosofía (Viga Fuerte / Columna Débil):</a:t>
            </a:r>
            <a:r>
              <a:rPr lang="es-GT" sz="2400" dirty="0">
                <a:solidFill>
                  <a:srgbClr val="00B0F0"/>
                </a:solidFill>
                <a:latin typeface="Aptos" panose="020B0004020202020204" pitchFamily="34" charset="0"/>
              </a:rPr>
              <a:t> </a:t>
            </a: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A diferencia de los edificios, en puentes vehiculares forzamos a que la subestructura (columnas) fluya y disipe energía, mientras protegemos la superestructura (tablero y vigas) para que permanezca intacta y soporte las cargas gravitacionales </a:t>
            </a:r>
            <a:r>
              <a:rPr lang="es-GT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post-sismo</a:t>
            </a: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. Soporta las fuerzas de diseño sin colapsar ni sufrir deformaciones permanentes.</a:t>
            </a:r>
          </a:p>
          <a:p>
            <a:pPr algn="just"/>
            <a:endParaRPr lang="es-GT" sz="2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La integridad estructural de la Superestructura (Viga Fuerte)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La Columna como fusible mecánico (Columna Débil)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Resiliencia y </a:t>
            </a:r>
            <a:r>
              <a:rPr lang="es-GT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reparabilidad</a:t>
            </a:r>
            <a:r>
              <a:rPr lang="es-GT" sz="2400" dirty="0">
                <a:solidFill>
                  <a:schemeClr val="bg1"/>
                </a:solidFill>
                <a:latin typeface="Aptos" panose="020B0004020202020204" pitchFamily="34" charset="0"/>
              </a:rPr>
              <a:t> post-Sismo</a:t>
            </a: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AFE5EECE-87B1-74D2-6453-1E46670DB846}"/>
              </a:ext>
            </a:extLst>
          </p:cNvPr>
          <p:cNvSpPr/>
          <p:nvPr/>
        </p:nvSpPr>
        <p:spPr>
          <a:xfrm>
            <a:off x="573898" y="1693570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A2C542-5664-786D-B982-6F51688CE2B9}"/>
              </a:ext>
            </a:extLst>
          </p:cNvPr>
          <p:cNvSpPr txBox="1"/>
          <p:nvPr/>
        </p:nvSpPr>
        <p:spPr>
          <a:xfrm>
            <a:off x="592209" y="791578"/>
            <a:ext cx="966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Conceptos más críticos del código AASHTO LRFD para puentes</a:t>
            </a:r>
          </a:p>
        </p:txBody>
      </p:sp>
    </p:spTree>
    <p:extLst>
      <p:ext uri="{BB962C8B-B14F-4D97-AF65-F5344CB8AC3E}">
        <p14:creationId xmlns:p14="http://schemas.microsoft.com/office/powerpoint/2010/main" val="360897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9CC1107-F3F6-FEFB-D5C8-0B8CE589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23E965E1-37F1-01EB-7CEB-0B915AAA39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8827994-9472-08E0-F498-E4746F86FCEA}"/>
              </a:ext>
            </a:extLst>
          </p:cNvPr>
          <p:cNvSpPr txBox="1"/>
          <p:nvPr/>
        </p:nvSpPr>
        <p:spPr>
          <a:xfrm>
            <a:off x="661834" y="299135"/>
            <a:ext cx="1086833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300" b="1" dirty="0">
                <a:solidFill>
                  <a:srgbClr val="00B0F0"/>
                </a:solidFill>
                <a:latin typeface="Aptos" panose="020B0004020202020204" pitchFamily="34" charset="0"/>
              </a:rPr>
              <a:t>Teoría del Diseño por Capacidad </a:t>
            </a:r>
            <a:endParaRPr sz="3300" b="1" i="0" u="none" strike="noStrike" cap="none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5AC3FBCD-BD03-D7C5-0759-E9BE6132B9A5}"/>
              </a:ext>
            </a:extLst>
          </p:cNvPr>
          <p:cNvSpPr/>
          <p:nvPr/>
        </p:nvSpPr>
        <p:spPr>
          <a:xfrm>
            <a:off x="486576" y="263047"/>
            <a:ext cx="45719" cy="72687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2C8FE6EF-A19F-9B77-DD83-D8458B0091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820" y="1430251"/>
            <a:ext cx="11438359" cy="52040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625B68B-87B3-F055-847B-44008244D177}"/>
                  </a:ext>
                </a:extLst>
              </p:cNvPr>
              <p:cNvSpPr txBox="1"/>
              <p:nvPr/>
            </p:nvSpPr>
            <p:spPr>
              <a:xfrm>
                <a:off x="661834" y="1598544"/>
                <a:ext cx="10956268" cy="533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2. Momento de </a:t>
                </a:r>
                <a:r>
                  <a:rPr lang="es-GT" sz="2400" b="1" dirty="0" err="1">
                    <a:solidFill>
                      <a:srgbClr val="00B0F0"/>
                    </a:solidFill>
                    <a:latin typeface="Aptos" panose="020B0004020202020204" pitchFamily="34" charset="0"/>
                  </a:rPr>
                  <a:t>Sobrerresistencia</a:t>
                </a:r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𝑝𝑜</m:t>
                        </m:r>
                      </m:sub>
                    </m:sSub>
                  </m:oMath>
                </a14:m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):</a:t>
                </a:r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Es la máxima fuerza a flexión que la columna es físicamente capaz de desarrollar antes de fallar, y se amplifica normativamente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𝑝𝑜</m:t>
                        </m:r>
                      </m:sub>
                    </m:sSub>
                    <m:r>
                      <a:rPr lang="es-GT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=1.20⋅</m:t>
                    </m:r>
                    <m:sSub>
                      <m:sSub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GT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(usando el factor de sobreesfuerzo de AASHTO). </a:t>
                </a:r>
              </a:p>
              <a:p>
                <a:pPr algn="just"/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Este incremento del </a:t>
                </a:r>
                <a14:m>
                  <m:oMath xmlns:m="http://schemas.openxmlformats.org/officeDocument/2006/math">
                    <m:r>
                      <a:rPr lang="es-GT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no es un factor de seguridad arbitrario; responde a tres fenómenos físicos ineludibles durante desplazamientos inelásticos extremos: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GT" sz="2400" dirty="0">
                    <a:solidFill>
                      <a:schemeClr val="bg1"/>
                    </a:solidFill>
                  </a:rPr>
                  <a:t>Endurecimiento por deformación del acero (Strain </a:t>
                </a:r>
                <a:r>
                  <a:rPr lang="es-GT" sz="2400" dirty="0" err="1">
                    <a:solidFill>
                      <a:schemeClr val="bg1"/>
                    </a:solidFill>
                  </a:rPr>
                  <a:t>Hardening</a:t>
                </a:r>
                <a:r>
                  <a:rPr lang="es-GT" sz="2400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GT" sz="2400" dirty="0">
                    <a:solidFill>
                      <a:schemeClr val="bg1"/>
                    </a:solidFill>
                  </a:rPr>
                  <a:t>Resistencia real vs. nominal de los materiales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GT" sz="2400" dirty="0">
                    <a:solidFill>
                      <a:schemeClr val="bg1"/>
                    </a:solidFill>
                  </a:rPr>
                  <a:t>Efecto máximo del confinamiento de Mander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𝑝𝑜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dicta la fuerza máxima absoluta que la columna le puede transmitir al resto del puente.</a:t>
                </a: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625B68B-87B3-F055-847B-44008244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34" y="1598544"/>
                <a:ext cx="10956268" cy="5331460"/>
              </a:xfrm>
              <a:prstGeom prst="rect">
                <a:avLst/>
              </a:prstGeom>
              <a:blipFill>
                <a:blip r:embed="rId5"/>
                <a:stretch>
                  <a:fillRect l="-890" t="-686" r="-83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C7A96C56-FB81-537E-6428-65A3ABBD057C}"/>
              </a:ext>
            </a:extLst>
          </p:cNvPr>
          <p:cNvSpPr/>
          <p:nvPr/>
        </p:nvSpPr>
        <p:spPr>
          <a:xfrm>
            <a:off x="573898" y="1693570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83AC32-861B-A542-251D-D1D3687C829A}"/>
              </a:ext>
            </a:extLst>
          </p:cNvPr>
          <p:cNvSpPr txBox="1"/>
          <p:nvPr/>
        </p:nvSpPr>
        <p:spPr>
          <a:xfrm>
            <a:off x="592209" y="791578"/>
            <a:ext cx="966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Conceptos más críticos del código AASHTO LRFD para puentes</a:t>
            </a:r>
          </a:p>
        </p:txBody>
      </p:sp>
    </p:spTree>
    <p:extLst>
      <p:ext uri="{BB962C8B-B14F-4D97-AF65-F5344CB8AC3E}">
        <p14:creationId xmlns:p14="http://schemas.microsoft.com/office/powerpoint/2010/main" val="83273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7C76FEB-F3C8-D767-2660-BD646637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BCBB4B8-8B28-8201-151E-7509598341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04B840A-5771-0A0C-1F18-2001EF0131C7}"/>
              </a:ext>
            </a:extLst>
          </p:cNvPr>
          <p:cNvSpPr txBox="1"/>
          <p:nvPr/>
        </p:nvSpPr>
        <p:spPr>
          <a:xfrm>
            <a:off x="661834" y="299135"/>
            <a:ext cx="1086833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300" b="1" dirty="0">
                <a:solidFill>
                  <a:srgbClr val="00B0F0"/>
                </a:solidFill>
                <a:latin typeface="Aptos" panose="020B0004020202020204" pitchFamily="34" charset="0"/>
              </a:rPr>
              <a:t>Teoría del Diseño por Capacidad </a:t>
            </a:r>
            <a:endParaRPr sz="3300" b="1" i="0" u="none" strike="noStrike" cap="none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D5A5E8C-0745-B6F3-CC32-85EAD9B0FBD6}"/>
              </a:ext>
            </a:extLst>
          </p:cNvPr>
          <p:cNvSpPr/>
          <p:nvPr/>
        </p:nvSpPr>
        <p:spPr>
          <a:xfrm>
            <a:off x="486576" y="263047"/>
            <a:ext cx="45719" cy="72687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BBFBF06C-E6CE-2EC6-B29A-5C2876F832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820" y="1430251"/>
            <a:ext cx="11438359" cy="52040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A3F9CA-321D-22AA-F769-33EDF7E84CB8}"/>
                  </a:ext>
                </a:extLst>
              </p:cNvPr>
              <p:cNvSpPr txBox="1"/>
              <p:nvPr/>
            </p:nvSpPr>
            <p:spPr>
              <a:xfrm>
                <a:off x="661834" y="1598544"/>
                <a:ext cx="10956268" cy="4934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3. El Cortante Plástico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):</a:t>
                </a:r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La Estática del Colapso. Es la herramienta matemática que utilizamos para blindar la columna contra esta falla frágil, obligando a la estructura a comportarse exactamente como queremos. 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GT" sz="24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La física del mecanismo (El tope estructural)</a:t>
                </a:r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GT" sz="24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La ecuación de equilibrio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GT" dirty="0"/>
              </a:p>
              <a:p>
                <a:pPr lvl="0" algn="just"/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Si la columna forma rótulas en la parte superior e inferior (marco rígido), el cortante máximo que jamás podrá transmitirse a la columna está gobernado por esos momentos.</a:t>
                </a:r>
              </a:p>
              <a:p>
                <a:pPr lvl="1"/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Fórmula clave: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GT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𝑝𝑜</m:t>
                            </m:r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𝑠𝑢𝑝</m:t>
                            </m:r>
                          </m:sub>
                        </m:s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𝑝𝑜</m:t>
                            </m:r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s-GT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G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es la altura libre de la columna).</a:t>
                </a: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A3F9CA-321D-22AA-F769-33EDF7E84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34" y="1598544"/>
                <a:ext cx="10956268" cy="4934621"/>
              </a:xfrm>
              <a:prstGeom prst="rect">
                <a:avLst/>
              </a:prstGeom>
              <a:blipFill>
                <a:blip r:embed="rId5"/>
                <a:stretch>
                  <a:fillRect l="-890" t="-988" r="-83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9296DC4A-A90C-7C55-FEBC-3F42B2A09693}"/>
              </a:ext>
            </a:extLst>
          </p:cNvPr>
          <p:cNvSpPr/>
          <p:nvPr/>
        </p:nvSpPr>
        <p:spPr>
          <a:xfrm>
            <a:off x="573898" y="1693570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134B61-120F-2E6E-7B24-7BAAE4B3D4B5}"/>
              </a:ext>
            </a:extLst>
          </p:cNvPr>
          <p:cNvSpPr txBox="1"/>
          <p:nvPr/>
        </p:nvSpPr>
        <p:spPr>
          <a:xfrm>
            <a:off x="592209" y="791578"/>
            <a:ext cx="966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Conceptos más críticos del código AASHTO LRFD para puentes</a:t>
            </a:r>
          </a:p>
        </p:txBody>
      </p:sp>
    </p:spTree>
    <p:extLst>
      <p:ext uri="{BB962C8B-B14F-4D97-AF65-F5344CB8AC3E}">
        <p14:creationId xmlns:p14="http://schemas.microsoft.com/office/powerpoint/2010/main" val="581775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40A6DEC-012D-41BF-35A3-E73FDA51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ADFC0E1-C066-D0F4-4620-0E0A14E1E2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83E7B5C-C71A-E2BC-DA08-9FB5968CCD0F}"/>
              </a:ext>
            </a:extLst>
          </p:cNvPr>
          <p:cNvSpPr txBox="1"/>
          <p:nvPr/>
        </p:nvSpPr>
        <p:spPr>
          <a:xfrm>
            <a:off x="661834" y="299135"/>
            <a:ext cx="1086833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300" b="1" dirty="0">
                <a:solidFill>
                  <a:srgbClr val="00B0F0"/>
                </a:solidFill>
                <a:latin typeface="Aptos" panose="020B0004020202020204" pitchFamily="34" charset="0"/>
              </a:rPr>
              <a:t>Teoría del Diseño por Capacidad </a:t>
            </a:r>
            <a:endParaRPr sz="3300" b="1" i="0" u="none" strike="noStrike" cap="none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A2C8E2B-4F7B-9267-104D-1E7CF7D6066A}"/>
              </a:ext>
            </a:extLst>
          </p:cNvPr>
          <p:cNvSpPr/>
          <p:nvPr/>
        </p:nvSpPr>
        <p:spPr>
          <a:xfrm>
            <a:off x="486576" y="263047"/>
            <a:ext cx="45719" cy="72687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D50FA255-B5C1-3372-FB41-5E4948B4EE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820" y="1430251"/>
            <a:ext cx="11438359" cy="52040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1758AE0-F509-EAB3-DA83-64DBF59752C7}"/>
                  </a:ext>
                </a:extLst>
              </p:cNvPr>
              <p:cNvSpPr txBox="1"/>
              <p:nvPr/>
            </p:nvSpPr>
            <p:spPr>
              <a:xfrm>
                <a:off x="661834" y="1598544"/>
                <a:ext cx="10956268" cy="3843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𝑝𝑜</m:t>
                        </m:r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𝑠𝑢𝑝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: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Momento de </a:t>
                </a:r>
                <a:r>
                  <a:rPr lang="es-GT" sz="2400" dirty="0" err="1">
                    <a:solidFill>
                      <a:schemeClr val="bg1"/>
                    </a:solidFill>
                    <a:latin typeface="Aptos" panose="020B0004020202020204" pitchFamily="34" charset="0"/>
                  </a:rPr>
                  <a:t>sobrerresistencia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desarrollado en la rótula plástica superior (unión con la viga cabezal).</a:t>
                </a:r>
              </a:p>
              <a:p>
                <a:pPr lvl="0"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𝑝𝑜</m:t>
                        </m:r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: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Momento de </a:t>
                </a:r>
                <a:r>
                  <a:rPr lang="es-GT" sz="2400" dirty="0" err="1">
                    <a:solidFill>
                      <a:schemeClr val="bg1"/>
                    </a:solidFill>
                    <a:latin typeface="Aptos" panose="020B0004020202020204" pitchFamily="34" charset="0"/>
                  </a:rPr>
                  <a:t>sobrerresistencia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desarrollado en la rótula plástica inferior (unión con la zapata).</a:t>
                </a:r>
              </a:p>
              <a:p>
                <a:pPr lvl="0"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: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Altura libre real de la columna (distancia libre entre la cara superior de la zapata y la cara inferior de la viga cabezal).</a:t>
                </a: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1758AE0-F509-EAB3-DA83-64DBF5975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34" y="1598544"/>
                <a:ext cx="10956268" cy="3843809"/>
              </a:xfrm>
              <a:prstGeom prst="rect">
                <a:avLst/>
              </a:prstGeom>
              <a:blipFill>
                <a:blip r:embed="rId5"/>
                <a:stretch>
                  <a:fillRect l="-890" t="-951" r="-83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32DA45BB-A195-EAB1-7F89-CD28B2A46FE1}"/>
              </a:ext>
            </a:extLst>
          </p:cNvPr>
          <p:cNvSpPr/>
          <p:nvPr/>
        </p:nvSpPr>
        <p:spPr>
          <a:xfrm>
            <a:off x="573898" y="1693570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1DE131-5E3C-681D-2939-5ABE2C24E35C}"/>
              </a:ext>
            </a:extLst>
          </p:cNvPr>
          <p:cNvSpPr txBox="1"/>
          <p:nvPr/>
        </p:nvSpPr>
        <p:spPr>
          <a:xfrm>
            <a:off x="592209" y="791578"/>
            <a:ext cx="966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Conceptos más críticos del código AASHTO LRFD para puentes</a:t>
            </a:r>
          </a:p>
        </p:txBody>
      </p:sp>
    </p:spTree>
    <p:extLst>
      <p:ext uri="{BB962C8B-B14F-4D97-AF65-F5344CB8AC3E}">
        <p14:creationId xmlns:p14="http://schemas.microsoft.com/office/powerpoint/2010/main" val="266115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3B2927F-C4E4-2699-AA9C-913EA108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2D1D9ACE-CB8C-39A4-748F-B29ACBEF69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B8C1D9A-C433-EA4A-467B-7985544910C8}"/>
              </a:ext>
            </a:extLst>
          </p:cNvPr>
          <p:cNvSpPr txBox="1"/>
          <p:nvPr/>
        </p:nvSpPr>
        <p:spPr>
          <a:xfrm>
            <a:off x="661834" y="299135"/>
            <a:ext cx="1086833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300" b="1" dirty="0">
                <a:solidFill>
                  <a:srgbClr val="00B0F0"/>
                </a:solidFill>
                <a:latin typeface="Aptos" panose="020B0004020202020204" pitchFamily="34" charset="0"/>
              </a:rPr>
              <a:t>Teoría del Diseño por Capacidad </a:t>
            </a:r>
            <a:endParaRPr sz="3300" b="1" i="0" u="none" strike="noStrike" cap="none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A9F0744-D238-14B3-274D-E26960ED6B05}"/>
              </a:ext>
            </a:extLst>
          </p:cNvPr>
          <p:cNvSpPr/>
          <p:nvPr/>
        </p:nvSpPr>
        <p:spPr>
          <a:xfrm>
            <a:off x="486576" y="263047"/>
            <a:ext cx="45719" cy="72687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6DD314EC-2CB4-E963-02C3-F06092F49F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75" y="1482367"/>
            <a:ext cx="11428650" cy="48624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1E53C5E-6685-5D5B-9E30-4BF0A985C392}"/>
                  </a:ext>
                </a:extLst>
              </p:cNvPr>
              <p:cNvSpPr txBox="1"/>
              <p:nvPr/>
            </p:nvSpPr>
            <p:spPr>
              <a:xfrm>
                <a:off x="830890" y="1693570"/>
                <a:ext cx="10699276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GT" sz="24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Mandato Normativo AASHTO LRFD:</a:t>
                </a:r>
                <a:r>
                  <a:rPr lang="es-GT" sz="24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El diseño del refuerzo transversal (estribos) está estrictamente gobernado por el Cortante Plástico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GT" sz="2400" i="0">
                            <a:solidFill>
                              <a:schemeClr val="bg1"/>
                            </a:solidFill>
                          </a:rPr>
                          <m:t>V</m:t>
                        </m:r>
                      </m:e>
                      <m:sub>
                        <m:r>
                          <a:rPr lang="es-GT" sz="2400" i="0">
                            <a:solidFill>
                              <a:schemeClr val="bg1"/>
                            </a:solidFill>
                          </a:rPr>
                          <m:t>0</m:t>
                        </m:r>
                      </m:sub>
                    </m:sSub>
                  </m:oMath>
                </a14:m>
                <a:r>
                  <a:rPr lang="es-GT" sz="24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). Queda prohibido diseñar a cortante utilizando las demandas elásticas del modelo computacional. Esto garantiza que la columna nunca falle frágilmente por corte antes de desarrollar su ductilidad a flexión.</a:t>
                </a: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4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1E53C5E-6685-5D5B-9E30-4BF0A985C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90" y="1693570"/>
                <a:ext cx="10699276" cy="2677656"/>
              </a:xfrm>
              <a:prstGeom prst="rect">
                <a:avLst/>
              </a:prstGeom>
              <a:blipFill>
                <a:blip r:embed="rId5"/>
                <a:stretch>
                  <a:fillRect l="-855" t="-1822" r="-912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B00DDDE4-C0D4-586B-348B-C256C77611E5}"/>
              </a:ext>
            </a:extLst>
          </p:cNvPr>
          <p:cNvSpPr/>
          <p:nvPr/>
        </p:nvSpPr>
        <p:spPr>
          <a:xfrm>
            <a:off x="573898" y="1693570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9AE227-0ADA-D83A-5497-19FE5B67BB72}"/>
              </a:ext>
            </a:extLst>
          </p:cNvPr>
          <p:cNvSpPr txBox="1"/>
          <p:nvPr/>
        </p:nvSpPr>
        <p:spPr>
          <a:xfrm>
            <a:off x="592209" y="791578"/>
            <a:ext cx="966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Conceptos más críticos del código AASHTO LRFD para puentes</a:t>
            </a:r>
          </a:p>
        </p:txBody>
      </p:sp>
    </p:spTree>
    <p:extLst>
      <p:ext uri="{BB962C8B-B14F-4D97-AF65-F5344CB8AC3E}">
        <p14:creationId xmlns:p14="http://schemas.microsoft.com/office/powerpoint/2010/main" val="3900819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571500" y="26985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34833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34737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958646" y="3556835"/>
            <a:ext cx="68973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Gracias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por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su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atención</a:t>
            </a:r>
            <a:endParaRPr dirty="0"/>
          </a:p>
        </p:txBody>
      </p:sp>
      <p:sp>
        <p:nvSpPr>
          <p:cNvPr id="264" name="Google Shape;264;p23"/>
          <p:cNvSpPr/>
          <p:nvPr/>
        </p:nvSpPr>
        <p:spPr>
          <a:xfrm>
            <a:off x="699320" y="3571008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</TotalTime>
  <Words>962</Words>
  <Application>Microsoft Office PowerPoint</Application>
  <PresentationFormat>Panorámica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Arial</vt:lpstr>
      <vt:lpstr>Calibri</vt:lpstr>
      <vt:lpstr>Montserrat</vt:lpstr>
      <vt:lpstr>Inter Medium</vt:lpstr>
      <vt:lpstr>Cambria Math</vt:lpstr>
      <vt:lpstr>Montserrat ExtraBold</vt:lpstr>
      <vt:lpstr>Times New Roman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</cp:lastModifiedBy>
  <cp:revision>87</cp:revision>
  <dcterms:modified xsi:type="dcterms:W3CDTF">2026-09-18T02:43:58Z</dcterms:modified>
</cp:coreProperties>
</file>