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9"/>
  </p:notesMasterIdLst>
  <p:sldIdLst>
    <p:sldId id="256" r:id="rId2"/>
    <p:sldId id="312" r:id="rId3"/>
    <p:sldId id="308" r:id="rId4"/>
    <p:sldId id="326" r:id="rId5"/>
    <p:sldId id="327" r:id="rId6"/>
    <p:sldId id="328" r:id="rId7"/>
    <p:sldId id="266" r:id="rId8"/>
  </p:sldIdLst>
  <p:sldSz cx="12192000" cy="6858000"/>
  <p:notesSz cx="6858000" cy="9144000"/>
  <p:embeddedFontLst>
    <p:embeddedFont>
      <p:font typeface="Cambria Math" panose="02040503050406030204" pitchFamily="18" charset="0"/>
      <p:regular r:id="rId10"/>
    </p:embeddedFont>
    <p:embeddedFont>
      <p:font typeface="Inter Medium" panose="020B0604020202020204" charset="0"/>
      <p:regular r:id="rId11"/>
      <p:bold r:id="rId12"/>
      <p:italic r:id="rId13"/>
      <p:boldItalic r:id="rId14"/>
    </p:embeddedFont>
    <p:embeddedFont>
      <p:font typeface="Montserrat" panose="00000500000000000000" pitchFamily="2" charset="0"/>
      <p:regular r:id="rId15"/>
      <p:bold r:id="rId16"/>
      <p:italic r:id="rId17"/>
      <p:boldItalic r:id="rId18"/>
    </p:embeddedFont>
    <p:embeddedFont>
      <p:font typeface="Montserrat ExtraBold" panose="00000900000000000000" pitchFamily="2" charset="0"/>
      <p:bold r:id="rId19"/>
      <p:boldItalic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6.fntdata"/><Relationship Id="rId23" Type="http://schemas.openxmlformats.org/officeDocument/2006/relationships/theme" Target="theme/theme1.xml"/><Relationship Id="rId10" Type="http://schemas.openxmlformats.org/officeDocument/2006/relationships/font" Target="fonts/font1.fntdata"/><Relationship Id="rId19"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a:extLst>
            <a:ext uri="{FF2B5EF4-FFF2-40B4-BE49-F238E27FC236}">
              <a16:creationId xmlns:a16="http://schemas.microsoft.com/office/drawing/2014/main" id="{49DDF5A6-19CA-E55A-B622-D9CC9F4AC81A}"/>
            </a:ext>
          </a:extLst>
        </p:cNvPr>
        <p:cNvGrpSpPr/>
        <p:nvPr/>
      </p:nvGrpSpPr>
      <p:grpSpPr>
        <a:xfrm>
          <a:off x="0" y="0"/>
          <a:ext cx="0" cy="0"/>
          <a:chOff x="0" y="0"/>
          <a:chExt cx="0" cy="0"/>
        </a:xfrm>
      </p:grpSpPr>
      <p:sp>
        <p:nvSpPr>
          <p:cNvPr id="90" name="Google Shape;90;p2:notes">
            <a:extLst>
              <a:ext uri="{FF2B5EF4-FFF2-40B4-BE49-F238E27FC236}">
                <a16:creationId xmlns:a16="http://schemas.microsoft.com/office/drawing/2014/main" id="{F29830F7-3BF0-4661-3D9C-FD6426A9BE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 name="Google Shape;91;p2:notes">
            <a:extLst>
              <a:ext uri="{FF2B5EF4-FFF2-40B4-BE49-F238E27FC236}">
                <a16:creationId xmlns:a16="http://schemas.microsoft.com/office/drawing/2014/main" id="{E19D13FA-D35F-F6D4-CDD4-6337C3AE03B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831643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a:extLst>
            <a:ext uri="{FF2B5EF4-FFF2-40B4-BE49-F238E27FC236}">
              <a16:creationId xmlns:a16="http://schemas.microsoft.com/office/drawing/2014/main" id="{D0F6C6E8-2A96-4A8B-1B64-18C81E4BEBD3}"/>
            </a:ext>
          </a:extLst>
        </p:cNvPr>
        <p:cNvGrpSpPr/>
        <p:nvPr/>
      </p:nvGrpSpPr>
      <p:grpSpPr>
        <a:xfrm>
          <a:off x="0" y="0"/>
          <a:ext cx="0" cy="0"/>
          <a:chOff x="0" y="0"/>
          <a:chExt cx="0" cy="0"/>
        </a:xfrm>
      </p:grpSpPr>
      <p:sp>
        <p:nvSpPr>
          <p:cNvPr id="90" name="Google Shape;90;p2:notes">
            <a:extLst>
              <a:ext uri="{FF2B5EF4-FFF2-40B4-BE49-F238E27FC236}">
                <a16:creationId xmlns:a16="http://schemas.microsoft.com/office/drawing/2014/main" id="{D8BAB88B-56CE-656E-897D-0A490518211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 name="Google Shape;91;p2:notes">
            <a:extLst>
              <a:ext uri="{FF2B5EF4-FFF2-40B4-BE49-F238E27FC236}">
                <a16:creationId xmlns:a16="http://schemas.microsoft.com/office/drawing/2014/main" id="{860093BA-DAF0-7A79-0F1D-E98F5659375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255199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a:extLst>
            <a:ext uri="{FF2B5EF4-FFF2-40B4-BE49-F238E27FC236}">
              <a16:creationId xmlns:a16="http://schemas.microsoft.com/office/drawing/2014/main" id="{DC0AD88C-18E9-373F-E151-CFBE7A8D14C7}"/>
            </a:ext>
          </a:extLst>
        </p:cNvPr>
        <p:cNvGrpSpPr/>
        <p:nvPr/>
      </p:nvGrpSpPr>
      <p:grpSpPr>
        <a:xfrm>
          <a:off x="0" y="0"/>
          <a:ext cx="0" cy="0"/>
          <a:chOff x="0" y="0"/>
          <a:chExt cx="0" cy="0"/>
        </a:xfrm>
      </p:grpSpPr>
      <p:sp>
        <p:nvSpPr>
          <p:cNvPr id="90" name="Google Shape;90;p2:notes">
            <a:extLst>
              <a:ext uri="{FF2B5EF4-FFF2-40B4-BE49-F238E27FC236}">
                <a16:creationId xmlns:a16="http://schemas.microsoft.com/office/drawing/2014/main" id="{5824A125-1F1E-2AE6-A3D8-FD0EFC779A2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 name="Google Shape;91;p2:notes">
            <a:extLst>
              <a:ext uri="{FF2B5EF4-FFF2-40B4-BE49-F238E27FC236}">
                <a16:creationId xmlns:a16="http://schemas.microsoft.com/office/drawing/2014/main" id="{ABD07708-5241-DEB6-BF02-3F705B07C6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156470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a:extLst>
            <a:ext uri="{FF2B5EF4-FFF2-40B4-BE49-F238E27FC236}">
              <a16:creationId xmlns:a16="http://schemas.microsoft.com/office/drawing/2014/main" id="{B440C53C-9B9B-B990-A01D-309D713FDE43}"/>
            </a:ext>
          </a:extLst>
        </p:cNvPr>
        <p:cNvGrpSpPr/>
        <p:nvPr/>
      </p:nvGrpSpPr>
      <p:grpSpPr>
        <a:xfrm>
          <a:off x="0" y="0"/>
          <a:ext cx="0" cy="0"/>
          <a:chOff x="0" y="0"/>
          <a:chExt cx="0" cy="0"/>
        </a:xfrm>
      </p:grpSpPr>
      <p:sp>
        <p:nvSpPr>
          <p:cNvPr id="90" name="Google Shape;90;p2:notes">
            <a:extLst>
              <a:ext uri="{FF2B5EF4-FFF2-40B4-BE49-F238E27FC236}">
                <a16:creationId xmlns:a16="http://schemas.microsoft.com/office/drawing/2014/main" id="{4BD23179-78FB-6E2A-0968-59D59AE2365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 name="Google Shape;91;p2:notes">
            <a:extLst>
              <a:ext uri="{FF2B5EF4-FFF2-40B4-BE49-F238E27FC236}">
                <a16:creationId xmlns:a16="http://schemas.microsoft.com/office/drawing/2014/main" id="{02EF0957-FEB5-F5BD-F44D-F775920A6C3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616990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a:extLst>
            <a:ext uri="{FF2B5EF4-FFF2-40B4-BE49-F238E27FC236}">
              <a16:creationId xmlns:a16="http://schemas.microsoft.com/office/drawing/2014/main" id="{987DA505-77F5-B17E-5254-7EBE8528C684}"/>
            </a:ext>
          </a:extLst>
        </p:cNvPr>
        <p:cNvGrpSpPr/>
        <p:nvPr/>
      </p:nvGrpSpPr>
      <p:grpSpPr>
        <a:xfrm>
          <a:off x="0" y="0"/>
          <a:ext cx="0" cy="0"/>
          <a:chOff x="0" y="0"/>
          <a:chExt cx="0" cy="0"/>
        </a:xfrm>
      </p:grpSpPr>
      <p:sp>
        <p:nvSpPr>
          <p:cNvPr id="90" name="Google Shape;90;p2:notes">
            <a:extLst>
              <a:ext uri="{FF2B5EF4-FFF2-40B4-BE49-F238E27FC236}">
                <a16:creationId xmlns:a16="http://schemas.microsoft.com/office/drawing/2014/main" id="{1AD96572-098F-7D83-2D64-410AEEE338F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 name="Google Shape;91;p2:notes">
            <a:extLst>
              <a:ext uri="{FF2B5EF4-FFF2-40B4-BE49-F238E27FC236}">
                <a16:creationId xmlns:a16="http://schemas.microsoft.com/office/drawing/2014/main" id="{C3C24D2B-A464-BBC1-1FC3-C7771E35083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562001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5" name="Google Shape;24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86" name="Google Shape;86;p13"/>
          <p:cNvSpPr txBox="1"/>
          <p:nvPr/>
        </p:nvSpPr>
        <p:spPr>
          <a:xfrm>
            <a:off x="990600" y="2728020"/>
            <a:ext cx="11201400" cy="140196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US" sz="4800" b="0" i="0" u="none" strike="noStrike" cap="none">
                <a:solidFill>
                  <a:srgbClr val="F8FAFC"/>
                </a:solidFill>
                <a:latin typeface="Montserrat ExtraBold"/>
                <a:ea typeface="Montserrat ExtraBold"/>
                <a:cs typeface="Montserrat ExtraBold"/>
                <a:sym typeface="Montserrat ExtraBold"/>
              </a:rPr>
              <a:t>Diseño Sismorresistente</a:t>
            </a:r>
            <a:br>
              <a:rPr lang="en-US" sz="1800" b="0" i="0" u="none" strike="noStrike" cap="none">
                <a:solidFill>
                  <a:schemeClr val="dk1"/>
                </a:solidFill>
                <a:latin typeface="Calibri"/>
                <a:ea typeface="Calibri"/>
                <a:cs typeface="Calibri"/>
                <a:sym typeface="Calibri"/>
              </a:rPr>
            </a:br>
            <a:r>
              <a:rPr lang="en-US" sz="4800" b="0" i="0" u="none" strike="noStrike" cap="none">
                <a:solidFill>
                  <a:srgbClr val="F8FAFC"/>
                </a:solidFill>
                <a:latin typeface="Montserrat ExtraBold"/>
                <a:ea typeface="Montserrat ExtraBold"/>
                <a:cs typeface="Montserrat ExtraBold"/>
                <a:sym typeface="Montserrat ExtraBold"/>
              </a:rPr>
              <a:t> de </a:t>
            </a:r>
            <a:r>
              <a:rPr lang="en-US" sz="4800" b="0" i="0" u="none" strike="noStrike" cap="none">
                <a:solidFill>
                  <a:srgbClr val="38BDF8"/>
                </a:solidFill>
                <a:latin typeface="Montserrat ExtraBold"/>
                <a:ea typeface="Montserrat ExtraBold"/>
                <a:cs typeface="Montserrat ExtraBold"/>
                <a:sym typeface="Montserrat ExtraBold"/>
              </a:rPr>
              <a:t>Puentes</a:t>
            </a:r>
            <a:endParaRPr/>
          </a:p>
        </p:txBody>
      </p:sp>
      <p:sp>
        <p:nvSpPr>
          <p:cNvPr id="87" name="Google Shape;87;p13"/>
          <p:cNvSpPr txBox="1"/>
          <p:nvPr/>
        </p:nvSpPr>
        <p:spPr>
          <a:xfrm>
            <a:off x="952500" y="4347120"/>
            <a:ext cx="10668000" cy="553998"/>
          </a:xfrm>
          <a:prstGeom prst="rect">
            <a:avLst/>
          </a:prstGeom>
          <a:noFill/>
          <a:ln>
            <a:noFill/>
          </a:ln>
        </p:spPr>
        <p:txBody>
          <a:bodyPr spcFirstLastPara="1" wrap="square" lIns="0" tIns="0" rIns="0" bIns="0" anchor="t" anchorCtr="0">
            <a:spAutoFit/>
          </a:bodyPr>
          <a:lstStyle/>
          <a:p>
            <a:pPr lvl="0"/>
            <a:r>
              <a:rPr lang="en-US" sz="1800" b="0" i="0" u="none" strike="noStrike" cap="none" dirty="0">
                <a:solidFill>
                  <a:schemeClr val="tx2">
                    <a:lumMod val="50000"/>
                  </a:schemeClr>
                </a:solidFill>
                <a:latin typeface="Inter Medium"/>
                <a:ea typeface="Inter Medium"/>
                <a:cs typeface="Inter Medium"/>
                <a:sym typeface="Inter Medium"/>
              </a:rPr>
              <a:t>Clase 7</a:t>
            </a:r>
            <a:r>
              <a:rPr lang="en-US" sz="1800" dirty="0">
                <a:solidFill>
                  <a:schemeClr val="tx2">
                    <a:lumMod val="50000"/>
                  </a:schemeClr>
                </a:solidFill>
                <a:latin typeface="Inter Medium"/>
                <a:ea typeface="Inter Medium"/>
                <a:cs typeface="Inter Medium"/>
                <a:sym typeface="Inter Medium"/>
              </a:rPr>
              <a:t>: </a:t>
            </a:r>
            <a:r>
              <a:rPr lang="es-GT" sz="1800" dirty="0">
                <a:solidFill>
                  <a:schemeClr val="tx2">
                    <a:lumMod val="50000"/>
                  </a:schemeClr>
                </a:solidFill>
              </a:rPr>
              <a:t>Diseño por Capacidad de Elementos Adyacentes (Vigas Cabezales, Nodos y Cimentación)</a:t>
            </a:r>
          </a:p>
          <a:p>
            <a:pPr lvl="0"/>
            <a:r>
              <a:rPr lang="es-GT" sz="1800" dirty="0">
                <a:solidFill>
                  <a:schemeClr val="tx2">
                    <a:lumMod val="50000"/>
                  </a:schemeClr>
                </a:solidFill>
              </a:rPr>
              <a:t>	 </a:t>
            </a:r>
            <a:endParaRPr dirty="0">
              <a:solidFill>
                <a:schemeClr val="tx2">
                  <a:lumMod val="50000"/>
                </a:schemeClr>
              </a:solidFill>
            </a:endParaRPr>
          </a:p>
        </p:txBody>
      </p:sp>
      <p:sp>
        <p:nvSpPr>
          <p:cNvPr id="88" name="Google Shape;88;p13"/>
          <p:cNvSpPr txBox="1"/>
          <p:nvPr/>
        </p:nvSpPr>
        <p:spPr>
          <a:xfrm>
            <a:off x="1040350" y="5677470"/>
            <a:ext cx="10668000" cy="443198"/>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dirty="0" err="1">
                <a:solidFill>
                  <a:srgbClr val="94A3B8"/>
                </a:solidFill>
                <a:latin typeface="Inter Medium"/>
                <a:ea typeface="Inter Medium"/>
                <a:cs typeface="Inter Medium"/>
                <a:sym typeface="Inter Medium"/>
              </a:rPr>
              <a:t>Msc</a:t>
            </a:r>
            <a:r>
              <a:rPr lang="en-US" sz="1800" dirty="0">
                <a:solidFill>
                  <a:srgbClr val="94A3B8"/>
                </a:solidFill>
                <a:latin typeface="Inter Medium"/>
                <a:ea typeface="Inter Medium"/>
                <a:cs typeface="Inter Medium"/>
                <a:sym typeface="Inter Medium"/>
              </a:rPr>
              <a:t>. Cindy Carolina Colomo De León  						10/10/26</a:t>
            </a:r>
            <a:endParaRPr dirty="0"/>
          </a:p>
        </p:txBody>
      </p:sp>
      <p:sp>
        <p:nvSpPr>
          <p:cNvPr id="3" name="Google Shape;87;p13">
            <a:extLst>
              <a:ext uri="{FF2B5EF4-FFF2-40B4-BE49-F238E27FC236}">
                <a16:creationId xmlns:a16="http://schemas.microsoft.com/office/drawing/2014/main" id="{DC544CEF-DA07-7A1B-2E12-64AAD0F5B105}"/>
              </a:ext>
            </a:extLst>
          </p:cNvPr>
          <p:cNvSpPr txBox="1"/>
          <p:nvPr/>
        </p:nvSpPr>
        <p:spPr>
          <a:xfrm>
            <a:off x="952500" y="2012620"/>
            <a:ext cx="10668000" cy="443198"/>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dirty="0">
                <a:solidFill>
                  <a:srgbClr val="0070C0"/>
                </a:solidFill>
                <a:latin typeface="Inter Medium"/>
                <a:ea typeface="Inter Medium"/>
                <a:cs typeface="Inter Medium"/>
                <a:sym typeface="Inter Medium"/>
              </a:rPr>
              <a:t>MAESTR</a:t>
            </a:r>
            <a:r>
              <a:rPr lang="es-GT" sz="1800" dirty="0">
                <a:solidFill>
                  <a:srgbClr val="0070C0"/>
                </a:solidFill>
                <a:latin typeface="Inter Medium"/>
                <a:ea typeface="Inter Medium"/>
                <a:cs typeface="Inter Medium"/>
                <a:sym typeface="Inter Medium"/>
              </a:rPr>
              <a:t>ÍA EN INGENIERÍA ESTRUCTURAL Y SISMORRESISTENTE - CUNOC</a:t>
            </a:r>
            <a:endParaRPr dirty="0">
              <a:solidFill>
                <a:srgbClr val="0070C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2">
          <a:extLst>
            <a:ext uri="{FF2B5EF4-FFF2-40B4-BE49-F238E27FC236}">
              <a16:creationId xmlns:a16="http://schemas.microsoft.com/office/drawing/2014/main" id="{B92D157A-1E6E-CF47-C91A-7DA4F4F7F9A6}"/>
            </a:ext>
          </a:extLst>
        </p:cNvPr>
        <p:cNvGrpSpPr/>
        <p:nvPr/>
      </p:nvGrpSpPr>
      <p:grpSpPr>
        <a:xfrm>
          <a:off x="0" y="0"/>
          <a:ext cx="0" cy="0"/>
          <a:chOff x="0" y="0"/>
          <a:chExt cx="0" cy="0"/>
        </a:xfrm>
      </p:grpSpPr>
      <p:pic>
        <p:nvPicPr>
          <p:cNvPr id="93" name="Google Shape;93;p14" descr="image.png">
            <a:extLst>
              <a:ext uri="{FF2B5EF4-FFF2-40B4-BE49-F238E27FC236}">
                <a16:creationId xmlns:a16="http://schemas.microsoft.com/office/drawing/2014/main" id="{D88A3861-C5A5-B6D0-76AC-805895F519C3}"/>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95" name="Google Shape;95;p14">
            <a:extLst>
              <a:ext uri="{FF2B5EF4-FFF2-40B4-BE49-F238E27FC236}">
                <a16:creationId xmlns:a16="http://schemas.microsoft.com/office/drawing/2014/main" id="{5644A457-78C3-50FA-C4AB-F06F7340253B}"/>
              </a:ext>
            </a:extLst>
          </p:cNvPr>
          <p:cNvSpPr/>
          <p:nvPr/>
        </p:nvSpPr>
        <p:spPr>
          <a:xfrm>
            <a:off x="553063" y="203178"/>
            <a:ext cx="57150" cy="906684"/>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9" name="Google Shape;108;p15" descr="image.png">
            <a:extLst>
              <a:ext uri="{FF2B5EF4-FFF2-40B4-BE49-F238E27FC236}">
                <a16:creationId xmlns:a16="http://schemas.microsoft.com/office/drawing/2014/main" id="{FC87B931-E794-CD97-4D24-926A24CECEF5}"/>
              </a:ext>
            </a:extLst>
          </p:cNvPr>
          <p:cNvPicPr preferRelativeResize="0"/>
          <p:nvPr/>
        </p:nvPicPr>
        <p:blipFill rotWithShape="1">
          <a:blip r:embed="rId4">
            <a:alphaModFix/>
          </a:blip>
          <a:srcRect/>
          <a:stretch/>
        </p:blipFill>
        <p:spPr>
          <a:xfrm>
            <a:off x="382728" y="1234065"/>
            <a:ext cx="11426544" cy="5279957"/>
          </a:xfrm>
          <a:prstGeom prst="rect">
            <a:avLst/>
          </a:prstGeom>
          <a:noFill/>
          <a:ln>
            <a:noFill/>
          </a:ln>
        </p:spPr>
      </p:pic>
      <p:sp>
        <p:nvSpPr>
          <p:cNvPr id="11" name="CuadroTexto 10">
            <a:extLst>
              <a:ext uri="{FF2B5EF4-FFF2-40B4-BE49-F238E27FC236}">
                <a16:creationId xmlns:a16="http://schemas.microsoft.com/office/drawing/2014/main" id="{7784C3EE-3AA7-C009-15DB-74C30B12F68C}"/>
              </a:ext>
            </a:extLst>
          </p:cNvPr>
          <p:cNvSpPr txBox="1"/>
          <p:nvPr/>
        </p:nvSpPr>
        <p:spPr>
          <a:xfrm>
            <a:off x="762000" y="1356820"/>
            <a:ext cx="10858501" cy="4832092"/>
          </a:xfrm>
          <a:prstGeom prst="rect">
            <a:avLst/>
          </a:prstGeom>
          <a:noFill/>
        </p:spPr>
        <p:txBody>
          <a:bodyPr wrap="square">
            <a:spAutoFit/>
          </a:bodyPr>
          <a:lstStyle/>
          <a:p>
            <a:pPr algn="just"/>
            <a:r>
              <a:rPr lang="es-GT" sz="2200" dirty="0">
                <a:solidFill>
                  <a:schemeClr val="bg1"/>
                </a:solidFill>
                <a:latin typeface="Aptos" panose="020B0004020202020204" pitchFamily="34" charset="0"/>
              </a:rPr>
              <a:t>Es el principio normativo rector de la ingeniería sismorresistente que dicta que cualquier componente estructural conectado directamente al "fusible" dúctil (la rótula plástica de la columna) debe diseñarse para ser inquebrantable frente a las fuerzas extremas que dicho fusible le inyectará durante un sismo</a:t>
            </a:r>
          </a:p>
          <a:p>
            <a:pPr algn="just"/>
            <a:endParaRPr lang="es-GT" sz="2200" dirty="0">
              <a:solidFill>
                <a:schemeClr val="bg1"/>
              </a:solidFill>
              <a:latin typeface="Aptos" panose="020B0004020202020204" pitchFamily="34" charset="0"/>
            </a:endParaRPr>
          </a:p>
          <a:p>
            <a:pPr algn="just"/>
            <a:r>
              <a:rPr lang="es-GT" sz="2200" dirty="0">
                <a:solidFill>
                  <a:schemeClr val="bg1"/>
                </a:solidFill>
                <a:latin typeface="Aptos" panose="020B0004020202020204" pitchFamily="34" charset="0"/>
              </a:rPr>
              <a:t>En el diseño de puentes bajo la normativa AASHTO LRFD, este concepto aterriza la filosofía de "Viga Fuerte / Columna Débil“</a:t>
            </a:r>
          </a:p>
          <a:p>
            <a:pPr algn="just"/>
            <a:endParaRPr lang="es-GT" sz="2200" dirty="0">
              <a:solidFill>
                <a:schemeClr val="bg1"/>
              </a:solidFill>
              <a:latin typeface="Aptos" panose="020B0004020202020204" pitchFamily="34" charset="0"/>
            </a:endParaRPr>
          </a:p>
          <a:p>
            <a:pPr marL="342900" indent="-342900" algn="just">
              <a:buFont typeface="Arial" panose="020B0604020202020204" pitchFamily="34" charset="0"/>
              <a:buChar char="•"/>
            </a:pPr>
            <a:r>
              <a:rPr lang="es-GT" sz="2200" dirty="0">
                <a:solidFill>
                  <a:schemeClr val="bg1"/>
                </a:solidFill>
                <a:latin typeface="Aptos" panose="020B0004020202020204" pitchFamily="34" charset="0"/>
              </a:rPr>
              <a:t>Bloque 1: El Principio de Elementos Protegidos</a:t>
            </a:r>
          </a:p>
          <a:p>
            <a:pPr marL="342900" indent="-342900" algn="just">
              <a:buFont typeface="Arial" panose="020B0604020202020204" pitchFamily="34" charset="0"/>
              <a:buChar char="•"/>
            </a:pPr>
            <a:r>
              <a:rPr lang="es-GT" sz="2200" dirty="0">
                <a:solidFill>
                  <a:schemeClr val="bg1"/>
                </a:solidFill>
                <a:latin typeface="Aptos" panose="020B0004020202020204" pitchFamily="34" charset="0"/>
              </a:rPr>
              <a:t>Bloque 2: Diseño de la Viga Cabezal y el Nodo</a:t>
            </a:r>
          </a:p>
          <a:p>
            <a:pPr marL="342900" indent="-342900" algn="just">
              <a:buFont typeface="Arial" panose="020B0604020202020204" pitchFamily="34" charset="0"/>
              <a:buChar char="•"/>
            </a:pPr>
            <a:r>
              <a:rPr lang="es-GT" sz="2200" dirty="0">
                <a:solidFill>
                  <a:schemeClr val="bg1"/>
                </a:solidFill>
                <a:latin typeface="Aptos" panose="020B0004020202020204" pitchFamily="34" charset="0"/>
              </a:rPr>
              <a:t>Bloque 3: Estabilidad de la Cimentación ante el Colapso</a:t>
            </a:r>
          </a:p>
          <a:p>
            <a:pPr marL="342900" indent="-342900" algn="just">
              <a:buFont typeface="Arial" panose="020B0604020202020204" pitchFamily="34" charset="0"/>
              <a:buChar char="•"/>
            </a:pPr>
            <a:r>
              <a:rPr lang="es-GT" sz="2200" dirty="0">
                <a:solidFill>
                  <a:schemeClr val="bg1"/>
                </a:solidFill>
                <a:latin typeface="Aptos" panose="020B0004020202020204" pitchFamily="34" charset="0"/>
              </a:rPr>
              <a:t>Bloque 4: Taller y Transición a la Fase 5 del Proyecto</a:t>
            </a:r>
          </a:p>
          <a:p>
            <a:pPr algn="just"/>
            <a:endParaRPr lang="es-GT" sz="2200" dirty="0">
              <a:solidFill>
                <a:schemeClr val="bg1"/>
              </a:solidFill>
              <a:latin typeface="Aptos" panose="020B0004020202020204" pitchFamily="34" charset="0"/>
            </a:endParaRPr>
          </a:p>
          <a:p>
            <a:pPr algn="just"/>
            <a:endParaRPr lang="es-GT" sz="2200" dirty="0">
              <a:solidFill>
                <a:schemeClr val="bg1"/>
              </a:solidFill>
              <a:latin typeface="Aptos" panose="020B0004020202020204" pitchFamily="34" charset="0"/>
            </a:endParaRPr>
          </a:p>
        </p:txBody>
      </p:sp>
      <p:sp>
        <p:nvSpPr>
          <p:cNvPr id="99" name="Google Shape;99;p14">
            <a:extLst>
              <a:ext uri="{FF2B5EF4-FFF2-40B4-BE49-F238E27FC236}">
                <a16:creationId xmlns:a16="http://schemas.microsoft.com/office/drawing/2014/main" id="{C72B322D-E645-DCB3-A04F-20DE55D8206D}"/>
              </a:ext>
            </a:extLst>
          </p:cNvPr>
          <p:cNvSpPr/>
          <p:nvPr/>
        </p:nvSpPr>
        <p:spPr>
          <a:xfrm>
            <a:off x="571499" y="1457838"/>
            <a:ext cx="45719" cy="969390"/>
          </a:xfrm>
          <a:prstGeom prst="rect">
            <a:avLst/>
          </a:prstGeom>
          <a:solidFill>
            <a:srgbClr val="FCD3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 name="Google Shape;94;p14">
            <a:extLst>
              <a:ext uri="{FF2B5EF4-FFF2-40B4-BE49-F238E27FC236}">
                <a16:creationId xmlns:a16="http://schemas.microsoft.com/office/drawing/2014/main" id="{10E79BED-E965-5F8C-C595-71056F4AFB42}"/>
              </a:ext>
            </a:extLst>
          </p:cNvPr>
          <p:cNvSpPr txBox="1"/>
          <p:nvPr/>
        </p:nvSpPr>
        <p:spPr>
          <a:xfrm>
            <a:off x="762000" y="203178"/>
            <a:ext cx="11186036" cy="1046440"/>
          </a:xfrm>
          <a:prstGeom prst="rect">
            <a:avLst/>
          </a:prstGeom>
          <a:noFill/>
          <a:ln>
            <a:noFill/>
          </a:ln>
        </p:spPr>
        <p:txBody>
          <a:bodyPr spcFirstLastPara="1" wrap="square" lIns="0" tIns="0" rIns="0" bIns="0" anchor="t" anchorCtr="0">
            <a:spAutoFit/>
          </a:bodyPr>
          <a:lstStyle/>
          <a:p>
            <a:pPr lvl="0"/>
            <a:r>
              <a:rPr lang="es-GT" sz="3400" b="1" dirty="0">
                <a:solidFill>
                  <a:srgbClr val="00B0F0"/>
                </a:solidFill>
                <a:latin typeface="Aptos" panose="020B0004020202020204" pitchFamily="34" charset="0"/>
              </a:rPr>
              <a:t>Diseño por Capacidad de Elementos Adyacentes (Vigas Cabezales, Nodos y Cimentación)</a:t>
            </a:r>
            <a:endParaRPr lang="es-GT" sz="3400" b="1" dirty="0">
              <a:solidFill>
                <a:srgbClr val="00B0F0"/>
              </a:solidFill>
              <a:latin typeface="Aptos" panose="020B0004020202020204" pitchFamily="34" charset="0"/>
              <a:ea typeface="Montserrat"/>
              <a:cs typeface="Montserrat"/>
              <a:sym typeface="Montserrat"/>
            </a:endParaRPr>
          </a:p>
        </p:txBody>
      </p:sp>
    </p:spTree>
    <p:extLst>
      <p:ext uri="{BB962C8B-B14F-4D97-AF65-F5344CB8AC3E}">
        <p14:creationId xmlns:p14="http://schemas.microsoft.com/office/powerpoint/2010/main" val="19797854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2">
          <a:extLst>
            <a:ext uri="{FF2B5EF4-FFF2-40B4-BE49-F238E27FC236}">
              <a16:creationId xmlns:a16="http://schemas.microsoft.com/office/drawing/2014/main" id="{65AB25E3-FFAF-23F4-44C9-8B0F419C2CFC}"/>
            </a:ext>
          </a:extLst>
        </p:cNvPr>
        <p:cNvGrpSpPr/>
        <p:nvPr/>
      </p:nvGrpSpPr>
      <p:grpSpPr>
        <a:xfrm>
          <a:off x="0" y="0"/>
          <a:ext cx="0" cy="0"/>
          <a:chOff x="0" y="0"/>
          <a:chExt cx="0" cy="0"/>
        </a:xfrm>
      </p:grpSpPr>
      <p:pic>
        <p:nvPicPr>
          <p:cNvPr id="93" name="Google Shape;93;p14" descr="image.png">
            <a:extLst>
              <a:ext uri="{FF2B5EF4-FFF2-40B4-BE49-F238E27FC236}">
                <a16:creationId xmlns:a16="http://schemas.microsoft.com/office/drawing/2014/main" id="{E552C736-B99A-541E-E742-70024B88082C}"/>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95" name="Google Shape;95;p14">
            <a:extLst>
              <a:ext uri="{FF2B5EF4-FFF2-40B4-BE49-F238E27FC236}">
                <a16:creationId xmlns:a16="http://schemas.microsoft.com/office/drawing/2014/main" id="{1B0F08EF-3399-04A9-78EA-974351E705A0}"/>
              </a:ext>
            </a:extLst>
          </p:cNvPr>
          <p:cNvSpPr/>
          <p:nvPr/>
        </p:nvSpPr>
        <p:spPr>
          <a:xfrm>
            <a:off x="542924" y="103763"/>
            <a:ext cx="57150" cy="906684"/>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9" name="Google Shape;108;p15" descr="image.png">
            <a:extLst>
              <a:ext uri="{FF2B5EF4-FFF2-40B4-BE49-F238E27FC236}">
                <a16:creationId xmlns:a16="http://schemas.microsoft.com/office/drawing/2014/main" id="{662342DF-6A9F-4D79-0164-3A76DB386A51}"/>
              </a:ext>
            </a:extLst>
          </p:cNvPr>
          <p:cNvPicPr preferRelativeResize="0"/>
          <p:nvPr/>
        </p:nvPicPr>
        <p:blipFill rotWithShape="1">
          <a:blip r:embed="rId4">
            <a:alphaModFix/>
          </a:blip>
          <a:srcRect/>
          <a:stretch/>
        </p:blipFill>
        <p:spPr>
          <a:xfrm>
            <a:off x="382728" y="1196608"/>
            <a:ext cx="11426544" cy="5443648"/>
          </a:xfrm>
          <a:prstGeom prst="rect">
            <a:avLst/>
          </a:prstGeom>
          <a:noFill/>
          <a:ln>
            <a:noFill/>
          </a:ln>
        </p:spPr>
      </p:pic>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E117484D-F4CF-B814-83EE-9B9F54117678}"/>
                  </a:ext>
                </a:extLst>
              </p:cNvPr>
              <p:cNvSpPr txBox="1"/>
              <p:nvPr/>
            </p:nvSpPr>
            <p:spPr>
              <a:xfrm>
                <a:off x="693174" y="1389012"/>
                <a:ext cx="10875706" cy="4211346"/>
              </a:xfrm>
              <a:prstGeom prst="rect">
                <a:avLst/>
              </a:prstGeom>
              <a:noFill/>
            </p:spPr>
            <p:txBody>
              <a:bodyPr wrap="square">
                <a:spAutoFit/>
              </a:bodyPr>
              <a:lstStyle/>
              <a:p>
                <a:pPr algn="just"/>
                <a:r>
                  <a:rPr lang="es-GT" sz="2200" b="1" dirty="0">
                    <a:solidFill>
                      <a:srgbClr val="00B0F0"/>
                    </a:solidFill>
                    <a:latin typeface="Aptos" panose="020B0004020202020204" pitchFamily="34" charset="0"/>
                  </a:rPr>
                  <a:t>1. Esfuerzos Principales en el Nodo (Joint Shear): </a:t>
                </a:r>
                <a:r>
                  <a:rPr lang="es-GT" sz="2200" dirty="0">
                    <a:solidFill>
                      <a:schemeClr val="bg1"/>
                    </a:solidFill>
                    <a:latin typeface="Aptos" panose="020B0004020202020204" pitchFamily="34" charset="0"/>
                  </a:rPr>
                  <a:t>Introducir los lineamientos de </a:t>
                </a:r>
                <a:r>
                  <a:rPr lang="es-GT" sz="2200" dirty="0" err="1">
                    <a:solidFill>
                      <a:schemeClr val="bg1"/>
                    </a:solidFill>
                    <a:latin typeface="Aptos" panose="020B0004020202020204" pitchFamily="34" charset="0"/>
                  </a:rPr>
                  <a:t>Caltrans</a:t>
                </a:r>
                <a:r>
                  <a:rPr lang="es-GT" sz="2200" dirty="0">
                    <a:solidFill>
                      <a:schemeClr val="bg1"/>
                    </a:solidFill>
                    <a:latin typeface="Aptos" panose="020B0004020202020204" pitchFamily="34" charset="0"/>
                  </a:rPr>
                  <a:t> SDC/AASHTO para revisar el esfuerzo principal de tensión y compresión dentro de la conexión viga-columna. </a:t>
                </a:r>
              </a:p>
              <a:p>
                <a:pPr algn="just"/>
                <a:endParaRPr lang="es-GT" sz="2200" dirty="0">
                  <a:solidFill>
                    <a:schemeClr val="bg1"/>
                  </a:solidFill>
                  <a:latin typeface="Aptos" panose="020B0004020202020204" pitchFamily="34" charset="0"/>
                </a:endParaRPr>
              </a:p>
              <a:p>
                <a:pPr algn="just"/>
                <a:r>
                  <a:rPr lang="es-GT" sz="2200" dirty="0">
                    <a:solidFill>
                      <a:schemeClr val="bg1"/>
                    </a:solidFill>
                    <a:latin typeface="Aptos" panose="020B0004020202020204" pitchFamily="34" charset="0"/>
                  </a:rPr>
                  <a:t>Explicar cómo el </a:t>
                </a:r>
                <a14:m>
                  <m:oMath xmlns:m="http://schemas.openxmlformats.org/officeDocument/2006/math">
                    <m:sSub>
                      <m:sSubPr>
                        <m:ctrlPr>
                          <a:rPr lang="es-GT" sz="2200" i="1">
                            <a:solidFill>
                              <a:schemeClr val="bg1"/>
                            </a:solidFill>
                            <a:latin typeface="Cambria Math" panose="02040503050406030204" pitchFamily="18" charset="0"/>
                          </a:rPr>
                        </m:ctrlPr>
                      </m:sSubPr>
                      <m:e>
                        <m:r>
                          <a:rPr lang="es-GT" sz="2200" i="1">
                            <a:solidFill>
                              <a:schemeClr val="bg1"/>
                            </a:solidFill>
                            <a:latin typeface="Cambria Math" panose="02040503050406030204" pitchFamily="18" charset="0"/>
                          </a:rPr>
                          <m:t>𝑀</m:t>
                        </m:r>
                      </m:e>
                      <m:sub>
                        <m:r>
                          <a:rPr lang="es-GT" sz="2200" i="1">
                            <a:solidFill>
                              <a:schemeClr val="bg1"/>
                            </a:solidFill>
                            <a:latin typeface="Cambria Math" panose="02040503050406030204" pitchFamily="18" charset="0"/>
                          </a:rPr>
                          <m:t>𝑝𝑜</m:t>
                        </m:r>
                      </m:sub>
                    </m:sSub>
                  </m:oMath>
                </a14:m>
                <a:r>
                  <a:rPr lang="es-GT" sz="2200" dirty="0">
                    <a:solidFill>
                      <a:schemeClr val="bg1"/>
                    </a:solidFill>
                    <a:latin typeface="Aptos" panose="020B0004020202020204" pitchFamily="34" charset="0"/>
                  </a:rPr>
                  <a:t> genera un par de fuerzas masivo (tracción/compresión) que intenta fracturar el nodo en diagonal.</a:t>
                </a:r>
              </a:p>
              <a:p>
                <a:pPr algn="just"/>
                <a:endParaRPr lang="es-GT" sz="2200" dirty="0">
                  <a:solidFill>
                    <a:schemeClr val="bg1"/>
                  </a:solidFill>
                  <a:latin typeface="Aptos" panose="020B0004020202020204" pitchFamily="34" charset="0"/>
                </a:endParaRPr>
              </a:p>
              <a:p>
                <a:pPr algn="just"/>
                <a:r>
                  <a:rPr lang="es-GT" sz="2200" b="1" dirty="0">
                    <a:solidFill>
                      <a:schemeClr val="tx2">
                        <a:lumMod val="50000"/>
                      </a:schemeClr>
                    </a:solidFill>
                    <a:latin typeface="Aptos" panose="020B0004020202020204" pitchFamily="34" charset="0"/>
                  </a:rPr>
                  <a:t>La Física del Par de Fuerzas:</a:t>
                </a:r>
                <a:r>
                  <a:rPr lang="es-GT" sz="2200" dirty="0">
                    <a:solidFill>
                      <a:schemeClr val="tx2">
                        <a:lumMod val="50000"/>
                      </a:schemeClr>
                    </a:solidFill>
                    <a:latin typeface="Aptos" panose="020B0004020202020204" pitchFamily="34" charset="0"/>
                  </a:rPr>
                  <a:t> </a:t>
                </a:r>
                <a:r>
                  <a:rPr lang="es-GT" sz="2200" dirty="0">
                    <a:solidFill>
                      <a:schemeClr val="bg1"/>
                    </a:solidFill>
                    <a:latin typeface="Aptos" panose="020B0004020202020204" pitchFamily="34" charset="0"/>
                  </a:rPr>
                  <a:t>Cuando la columna alcanza su </a:t>
                </a:r>
                <a14:m>
                  <m:oMath xmlns:m="http://schemas.openxmlformats.org/officeDocument/2006/math">
                    <m:sSub>
                      <m:sSubPr>
                        <m:ctrlPr>
                          <a:rPr lang="es-GT" sz="2200" i="1">
                            <a:solidFill>
                              <a:schemeClr val="bg1"/>
                            </a:solidFill>
                            <a:latin typeface="Cambria Math" panose="02040503050406030204" pitchFamily="18" charset="0"/>
                          </a:rPr>
                        </m:ctrlPr>
                      </m:sSubPr>
                      <m:e>
                        <m:r>
                          <a:rPr lang="es-GT" sz="2200" i="1">
                            <a:solidFill>
                              <a:schemeClr val="bg1"/>
                            </a:solidFill>
                            <a:latin typeface="Cambria Math" panose="02040503050406030204" pitchFamily="18" charset="0"/>
                          </a:rPr>
                          <m:t>𝑀</m:t>
                        </m:r>
                      </m:e>
                      <m:sub>
                        <m:r>
                          <a:rPr lang="es-GT" sz="2200" i="1">
                            <a:solidFill>
                              <a:schemeClr val="bg1"/>
                            </a:solidFill>
                            <a:latin typeface="Cambria Math" panose="02040503050406030204" pitchFamily="18" charset="0"/>
                          </a:rPr>
                          <m:t>𝑝𝑜</m:t>
                        </m:r>
                      </m:sub>
                    </m:sSub>
                  </m:oMath>
                </a14:m>
                <a:r>
                  <a:rPr lang="es-GT" sz="2200" dirty="0">
                    <a:solidFill>
                      <a:schemeClr val="bg1"/>
                    </a:solidFill>
                    <a:latin typeface="Aptos" panose="020B0004020202020204" pitchFamily="34" charset="0"/>
                  </a:rPr>
                  <a:t> (los </a:t>
                </a:r>
                <a14:m>
                  <m:oMath xmlns:m="http://schemas.openxmlformats.org/officeDocument/2006/math">
                    <m:r>
                      <a:rPr lang="es-GT" sz="2200" i="1">
                        <a:solidFill>
                          <a:schemeClr val="bg1"/>
                        </a:solidFill>
                        <a:latin typeface="Cambria Math" panose="02040503050406030204" pitchFamily="18" charset="0"/>
                      </a:rPr>
                      <m:t>14,906</m:t>
                    </m:r>
                  </m:oMath>
                </a14:m>
                <a:r>
                  <a:rPr lang="es-GT" sz="2200" dirty="0">
                    <a:solidFill>
                      <a:schemeClr val="bg1"/>
                    </a:solidFill>
                    <a:latin typeface="Aptos" panose="020B0004020202020204" pitchFamily="34" charset="0"/>
                  </a:rPr>
                  <a:t> del proyecto), las 26 varillas longitudinales No. 14 fluyen a su esfuerzo esperado (</a:t>
                </a:r>
                <a14:m>
                  <m:oMath xmlns:m="http://schemas.openxmlformats.org/officeDocument/2006/math">
                    <m:r>
                      <a:rPr lang="es-GT" sz="2200" i="1">
                        <a:solidFill>
                          <a:schemeClr val="bg1"/>
                        </a:solidFill>
                        <a:latin typeface="Cambria Math" panose="02040503050406030204" pitchFamily="18" charset="0"/>
                      </a:rPr>
                      <m:t>66</m:t>
                    </m:r>
                  </m:oMath>
                </a14:m>
                <a:r>
                  <a:rPr lang="es-GT" sz="2200" dirty="0">
                    <a:solidFill>
                      <a:schemeClr val="bg1"/>
                    </a:solidFill>
                    <a:latin typeface="Aptos" panose="020B0004020202020204" pitchFamily="34" charset="0"/>
                  </a:rPr>
                  <a:t>). La varilla traccionada "jala" el concreto del nodo hacia abajo, mientras el bloque de compresión lo "empuja" hacia arriba.</a:t>
                </a:r>
              </a:p>
              <a:p>
                <a:endParaRPr lang="es-GT" sz="2200" dirty="0">
                  <a:solidFill>
                    <a:schemeClr val="bg1"/>
                  </a:solidFill>
                  <a:latin typeface="Aptos" panose="020B0004020202020204" pitchFamily="34" charset="0"/>
                </a:endParaRPr>
              </a:p>
            </p:txBody>
          </p:sp>
        </mc:Choice>
        <mc:Fallback xmlns="">
          <p:sp>
            <p:nvSpPr>
              <p:cNvPr id="11" name="CuadroTexto 10">
                <a:extLst>
                  <a:ext uri="{FF2B5EF4-FFF2-40B4-BE49-F238E27FC236}">
                    <a16:creationId xmlns:a16="http://schemas.microsoft.com/office/drawing/2014/main" id="{E117484D-F4CF-B814-83EE-9B9F54117678}"/>
                  </a:ext>
                </a:extLst>
              </p:cNvPr>
              <p:cNvSpPr txBox="1">
                <a:spLocks noRot="1" noChangeAspect="1" noMove="1" noResize="1" noEditPoints="1" noAdjustHandles="1" noChangeArrowheads="1" noChangeShapeType="1" noTextEdit="1"/>
              </p:cNvSpPr>
              <p:nvPr/>
            </p:nvSpPr>
            <p:spPr>
              <a:xfrm>
                <a:off x="693174" y="1389012"/>
                <a:ext cx="10875706" cy="4211346"/>
              </a:xfrm>
              <a:prstGeom prst="rect">
                <a:avLst/>
              </a:prstGeom>
              <a:blipFill>
                <a:blip r:embed="rId5"/>
                <a:stretch>
                  <a:fillRect l="-729" t="-1013" r="-729"/>
                </a:stretch>
              </a:blipFill>
            </p:spPr>
            <p:txBody>
              <a:bodyPr/>
              <a:lstStyle/>
              <a:p>
                <a:r>
                  <a:rPr lang="es-GT">
                    <a:noFill/>
                  </a:rPr>
                  <a:t> </a:t>
                </a:r>
              </a:p>
            </p:txBody>
          </p:sp>
        </mc:Fallback>
      </mc:AlternateContent>
      <p:sp>
        <p:nvSpPr>
          <p:cNvPr id="99" name="Google Shape;99;p14">
            <a:extLst>
              <a:ext uri="{FF2B5EF4-FFF2-40B4-BE49-F238E27FC236}">
                <a16:creationId xmlns:a16="http://schemas.microsoft.com/office/drawing/2014/main" id="{8A4BCBA5-9B26-2A56-1DBD-B7D1A64C43BB}"/>
              </a:ext>
            </a:extLst>
          </p:cNvPr>
          <p:cNvSpPr/>
          <p:nvPr/>
        </p:nvSpPr>
        <p:spPr>
          <a:xfrm>
            <a:off x="531682" y="1389012"/>
            <a:ext cx="45719" cy="969390"/>
          </a:xfrm>
          <a:prstGeom prst="rect">
            <a:avLst/>
          </a:prstGeom>
          <a:solidFill>
            <a:srgbClr val="FCD3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 name="Google Shape;94;p14">
            <a:extLst>
              <a:ext uri="{FF2B5EF4-FFF2-40B4-BE49-F238E27FC236}">
                <a16:creationId xmlns:a16="http://schemas.microsoft.com/office/drawing/2014/main" id="{B57891E2-A8E8-F193-88D6-1EFB2B84CBB3}"/>
              </a:ext>
            </a:extLst>
          </p:cNvPr>
          <p:cNvSpPr txBox="1"/>
          <p:nvPr/>
        </p:nvSpPr>
        <p:spPr>
          <a:xfrm>
            <a:off x="762000" y="150168"/>
            <a:ext cx="11186036" cy="523220"/>
          </a:xfrm>
          <a:prstGeom prst="rect">
            <a:avLst/>
          </a:prstGeom>
          <a:noFill/>
          <a:ln>
            <a:noFill/>
          </a:ln>
        </p:spPr>
        <p:txBody>
          <a:bodyPr spcFirstLastPara="1" wrap="square" lIns="0" tIns="0" rIns="0" bIns="0" anchor="t" anchorCtr="0">
            <a:spAutoFit/>
          </a:bodyPr>
          <a:lstStyle/>
          <a:p>
            <a:pPr lvl="0"/>
            <a:r>
              <a:rPr lang="es-GT" sz="3400" b="1" dirty="0">
                <a:solidFill>
                  <a:srgbClr val="00B0F0"/>
                </a:solidFill>
                <a:latin typeface="Aptos" panose="020B0004020202020204" pitchFamily="34" charset="0"/>
              </a:rPr>
              <a:t>Diseño por Capacidad de Elementos Adyacentes</a:t>
            </a:r>
            <a:endParaRPr lang="es-GT" sz="3400" b="1" dirty="0">
              <a:solidFill>
                <a:srgbClr val="00B0F0"/>
              </a:solidFill>
              <a:latin typeface="Aptos" panose="020B0004020202020204" pitchFamily="34" charset="0"/>
              <a:ea typeface="Montserrat"/>
              <a:cs typeface="Montserrat"/>
              <a:sym typeface="Montserrat"/>
            </a:endParaRPr>
          </a:p>
        </p:txBody>
      </p:sp>
      <p:sp>
        <p:nvSpPr>
          <p:cNvPr id="3" name="CuadroTexto 2">
            <a:extLst>
              <a:ext uri="{FF2B5EF4-FFF2-40B4-BE49-F238E27FC236}">
                <a16:creationId xmlns:a16="http://schemas.microsoft.com/office/drawing/2014/main" id="{3729A946-5CD6-D668-0822-D7764397AF3D}"/>
              </a:ext>
            </a:extLst>
          </p:cNvPr>
          <p:cNvSpPr txBox="1"/>
          <p:nvPr/>
        </p:nvSpPr>
        <p:spPr>
          <a:xfrm>
            <a:off x="693174" y="673388"/>
            <a:ext cx="7910052" cy="430887"/>
          </a:xfrm>
          <a:prstGeom prst="rect">
            <a:avLst/>
          </a:prstGeom>
          <a:noFill/>
        </p:spPr>
        <p:txBody>
          <a:bodyPr wrap="square">
            <a:spAutoFit/>
          </a:bodyPr>
          <a:lstStyle/>
          <a:p>
            <a:r>
              <a:rPr lang="es-GT" sz="2200" b="1" dirty="0">
                <a:solidFill>
                  <a:schemeClr val="tx2">
                    <a:lumMod val="50000"/>
                  </a:schemeClr>
                </a:solidFill>
              </a:rPr>
              <a:t>Bloque 2: Diseño de la Viga cabezal y el Nodo</a:t>
            </a:r>
            <a:endParaRPr lang="es-GT" sz="2200" dirty="0">
              <a:solidFill>
                <a:schemeClr val="tx2">
                  <a:lumMod val="50000"/>
                </a:schemeClr>
              </a:solidFill>
            </a:endParaRPr>
          </a:p>
        </p:txBody>
      </p:sp>
    </p:spTree>
    <p:extLst>
      <p:ext uri="{BB962C8B-B14F-4D97-AF65-F5344CB8AC3E}">
        <p14:creationId xmlns:p14="http://schemas.microsoft.com/office/powerpoint/2010/main" val="34115961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2">
          <a:extLst>
            <a:ext uri="{FF2B5EF4-FFF2-40B4-BE49-F238E27FC236}">
              <a16:creationId xmlns:a16="http://schemas.microsoft.com/office/drawing/2014/main" id="{53CCBA78-7C19-ADAB-E729-204DAB96FC4C}"/>
            </a:ext>
          </a:extLst>
        </p:cNvPr>
        <p:cNvGrpSpPr/>
        <p:nvPr/>
      </p:nvGrpSpPr>
      <p:grpSpPr>
        <a:xfrm>
          <a:off x="0" y="0"/>
          <a:ext cx="0" cy="0"/>
          <a:chOff x="0" y="0"/>
          <a:chExt cx="0" cy="0"/>
        </a:xfrm>
      </p:grpSpPr>
      <p:pic>
        <p:nvPicPr>
          <p:cNvPr id="93" name="Google Shape;93;p14" descr="image.png">
            <a:extLst>
              <a:ext uri="{FF2B5EF4-FFF2-40B4-BE49-F238E27FC236}">
                <a16:creationId xmlns:a16="http://schemas.microsoft.com/office/drawing/2014/main" id="{8BDDF153-D66B-6D2E-B0A8-C609A2DD69BC}"/>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95" name="Google Shape;95;p14">
            <a:extLst>
              <a:ext uri="{FF2B5EF4-FFF2-40B4-BE49-F238E27FC236}">
                <a16:creationId xmlns:a16="http://schemas.microsoft.com/office/drawing/2014/main" id="{60FA659E-7342-5659-AB4F-6F1B96A6D47E}"/>
              </a:ext>
            </a:extLst>
          </p:cNvPr>
          <p:cNvSpPr/>
          <p:nvPr/>
        </p:nvSpPr>
        <p:spPr>
          <a:xfrm>
            <a:off x="542924" y="103763"/>
            <a:ext cx="57150" cy="906684"/>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9" name="Google Shape;108;p15" descr="image.png">
            <a:extLst>
              <a:ext uri="{FF2B5EF4-FFF2-40B4-BE49-F238E27FC236}">
                <a16:creationId xmlns:a16="http://schemas.microsoft.com/office/drawing/2014/main" id="{3C6502FF-630E-5BDF-3EC1-D650DD4507AB}"/>
              </a:ext>
            </a:extLst>
          </p:cNvPr>
          <p:cNvPicPr preferRelativeResize="0"/>
          <p:nvPr/>
        </p:nvPicPr>
        <p:blipFill rotWithShape="1">
          <a:blip r:embed="rId4">
            <a:alphaModFix/>
          </a:blip>
          <a:srcRect/>
          <a:stretch/>
        </p:blipFill>
        <p:spPr>
          <a:xfrm>
            <a:off x="382728" y="1196608"/>
            <a:ext cx="11426544" cy="5443648"/>
          </a:xfrm>
          <a:prstGeom prst="rect">
            <a:avLst/>
          </a:prstGeom>
          <a:noFill/>
          <a:ln>
            <a:noFill/>
          </a:ln>
        </p:spPr>
      </p:pic>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0ADE1983-8EBB-B11B-0782-7851D006C35E}"/>
                  </a:ext>
                </a:extLst>
              </p:cNvPr>
              <p:cNvSpPr txBox="1"/>
              <p:nvPr/>
            </p:nvSpPr>
            <p:spPr>
              <a:xfrm>
                <a:off x="693174" y="1389012"/>
                <a:ext cx="10879394" cy="4903522"/>
              </a:xfrm>
              <a:prstGeom prst="rect">
                <a:avLst/>
              </a:prstGeom>
              <a:noFill/>
            </p:spPr>
            <p:txBody>
              <a:bodyPr wrap="square">
                <a:spAutoFit/>
              </a:bodyPr>
              <a:lstStyle/>
              <a:p>
                <a:pPr algn="just"/>
                <a:r>
                  <a:rPr lang="es-GT" sz="2200" b="1" dirty="0">
                    <a:solidFill>
                      <a:schemeClr val="tx2">
                        <a:lumMod val="50000"/>
                      </a:schemeClr>
                    </a:solidFill>
                  </a:rPr>
                  <a:t>Esfuerzos Principales (</a:t>
                </a:r>
                <a14:m>
                  <m:oMath xmlns:m="http://schemas.openxmlformats.org/officeDocument/2006/math">
                    <m:sSub>
                      <m:sSubPr>
                        <m:ctrlPr>
                          <a:rPr lang="es-GT" sz="2200" i="1">
                            <a:solidFill>
                              <a:schemeClr val="tx2">
                                <a:lumMod val="50000"/>
                              </a:schemeClr>
                            </a:solidFill>
                            <a:latin typeface="Cambria Math" panose="02040503050406030204" pitchFamily="18" charset="0"/>
                          </a:rPr>
                        </m:ctrlPr>
                      </m:sSubPr>
                      <m:e>
                        <m:r>
                          <a:rPr lang="es-GT" sz="2200" i="1">
                            <a:solidFill>
                              <a:schemeClr val="tx2">
                                <a:lumMod val="50000"/>
                              </a:schemeClr>
                            </a:solidFill>
                            <a:latin typeface="Cambria Math" panose="02040503050406030204" pitchFamily="18" charset="0"/>
                          </a:rPr>
                          <m:t>𝑝</m:t>
                        </m:r>
                      </m:e>
                      <m:sub>
                        <m:r>
                          <a:rPr lang="es-GT" sz="2200" i="1">
                            <a:solidFill>
                              <a:schemeClr val="tx2">
                                <a:lumMod val="50000"/>
                              </a:schemeClr>
                            </a:solidFill>
                            <a:latin typeface="Cambria Math" panose="02040503050406030204" pitchFamily="18" charset="0"/>
                          </a:rPr>
                          <m:t>𝑡</m:t>
                        </m:r>
                      </m:sub>
                    </m:sSub>
                  </m:oMath>
                </a14:m>
                <a:r>
                  <a:rPr lang="es-GT" sz="2200" b="1" dirty="0">
                    <a:solidFill>
                      <a:schemeClr val="tx2">
                        <a:lumMod val="50000"/>
                      </a:schemeClr>
                    </a:solidFill>
                  </a:rPr>
                  <a:t> y </a:t>
                </a:r>
                <a14:m>
                  <m:oMath xmlns:m="http://schemas.openxmlformats.org/officeDocument/2006/math">
                    <m:sSub>
                      <m:sSubPr>
                        <m:ctrlPr>
                          <a:rPr lang="es-GT" sz="2200" i="1">
                            <a:solidFill>
                              <a:schemeClr val="tx2">
                                <a:lumMod val="50000"/>
                              </a:schemeClr>
                            </a:solidFill>
                            <a:latin typeface="Cambria Math" panose="02040503050406030204" pitchFamily="18" charset="0"/>
                          </a:rPr>
                        </m:ctrlPr>
                      </m:sSubPr>
                      <m:e>
                        <m:r>
                          <a:rPr lang="es-GT" sz="2200" i="1">
                            <a:solidFill>
                              <a:schemeClr val="tx2">
                                <a:lumMod val="50000"/>
                              </a:schemeClr>
                            </a:solidFill>
                            <a:latin typeface="Cambria Math" panose="02040503050406030204" pitchFamily="18" charset="0"/>
                          </a:rPr>
                          <m:t>𝑝</m:t>
                        </m:r>
                      </m:e>
                      <m:sub>
                        <m:r>
                          <a:rPr lang="es-GT" sz="2200" i="1">
                            <a:solidFill>
                              <a:schemeClr val="tx2">
                                <a:lumMod val="50000"/>
                              </a:schemeClr>
                            </a:solidFill>
                            <a:latin typeface="Cambria Math" panose="02040503050406030204" pitchFamily="18" charset="0"/>
                          </a:rPr>
                          <m:t>𝑐</m:t>
                        </m:r>
                      </m:sub>
                    </m:sSub>
                  </m:oMath>
                </a14:m>
                <a:r>
                  <a:rPr lang="es-GT" sz="2200" b="1" dirty="0">
                    <a:solidFill>
                      <a:schemeClr val="tx2">
                        <a:lumMod val="50000"/>
                      </a:schemeClr>
                    </a:solidFill>
                  </a:rPr>
                  <a:t>):</a:t>
                </a:r>
                <a:r>
                  <a:rPr lang="es-GT" sz="2200" dirty="0">
                    <a:solidFill>
                      <a:schemeClr val="tx2">
                        <a:lumMod val="50000"/>
                      </a:schemeClr>
                    </a:solidFill>
                  </a:rPr>
                  <a:t> </a:t>
                </a:r>
                <a:r>
                  <a:rPr lang="es-GT" sz="2200" dirty="0">
                    <a:solidFill>
                      <a:schemeClr val="bg1"/>
                    </a:solidFill>
                  </a:rPr>
                  <a:t>Utilizando el Círculo de Mohr, </a:t>
                </a:r>
                <a:r>
                  <a:rPr lang="es-GT" sz="2200" dirty="0" err="1">
                    <a:solidFill>
                      <a:schemeClr val="bg1"/>
                    </a:solidFill>
                  </a:rPr>
                  <a:t>Caltrans</a:t>
                </a:r>
                <a:r>
                  <a:rPr lang="es-GT" sz="2200" dirty="0">
                    <a:solidFill>
                      <a:schemeClr val="bg1"/>
                    </a:solidFill>
                  </a:rPr>
                  <a:t> exige transformar ese cortante en un Esfuerzo Principal de Tensión (</a:t>
                </a:r>
                <a14:m>
                  <m:oMath xmlns:m="http://schemas.openxmlformats.org/officeDocument/2006/math">
                    <m:sSub>
                      <m:sSubPr>
                        <m:ctrlPr>
                          <a:rPr lang="es-GT" sz="2200" i="1">
                            <a:solidFill>
                              <a:schemeClr val="bg1"/>
                            </a:solidFill>
                            <a:latin typeface="Cambria Math" panose="02040503050406030204" pitchFamily="18" charset="0"/>
                          </a:rPr>
                        </m:ctrlPr>
                      </m:sSubPr>
                      <m:e>
                        <m:r>
                          <a:rPr lang="es-GT" sz="2200" i="1">
                            <a:solidFill>
                              <a:schemeClr val="bg1"/>
                            </a:solidFill>
                            <a:latin typeface="Cambria Math" panose="02040503050406030204" pitchFamily="18" charset="0"/>
                          </a:rPr>
                          <m:t>𝑝</m:t>
                        </m:r>
                      </m:e>
                      <m:sub>
                        <m:r>
                          <a:rPr lang="es-GT" sz="2200" i="1">
                            <a:solidFill>
                              <a:schemeClr val="bg1"/>
                            </a:solidFill>
                            <a:latin typeface="Cambria Math" panose="02040503050406030204" pitchFamily="18" charset="0"/>
                          </a:rPr>
                          <m:t>𝑡</m:t>
                        </m:r>
                      </m:sub>
                    </m:sSub>
                  </m:oMath>
                </a14:m>
                <a:r>
                  <a:rPr lang="es-GT" sz="2200" dirty="0">
                    <a:solidFill>
                      <a:schemeClr val="bg1"/>
                    </a:solidFill>
                  </a:rPr>
                  <a:t>) y un Esfuerzo Principal de Compresión (</a:t>
                </a:r>
                <a14:m>
                  <m:oMath xmlns:m="http://schemas.openxmlformats.org/officeDocument/2006/math">
                    <m:sSub>
                      <m:sSubPr>
                        <m:ctrlPr>
                          <a:rPr lang="es-GT" sz="2200" i="1">
                            <a:solidFill>
                              <a:schemeClr val="bg1"/>
                            </a:solidFill>
                            <a:latin typeface="Cambria Math" panose="02040503050406030204" pitchFamily="18" charset="0"/>
                          </a:rPr>
                        </m:ctrlPr>
                      </m:sSubPr>
                      <m:e>
                        <m:r>
                          <a:rPr lang="es-GT" sz="2200" i="1">
                            <a:solidFill>
                              <a:schemeClr val="bg1"/>
                            </a:solidFill>
                            <a:latin typeface="Cambria Math" panose="02040503050406030204" pitchFamily="18" charset="0"/>
                          </a:rPr>
                          <m:t>𝑝</m:t>
                        </m:r>
                      </m:e>
                      <m:sub>
                        <m:r>
                          <a:rPr lang="es-GT" sz="2200" i="1">
                            <a:solidFill>
                              <a:schemeClr val="bg1"/>
                            </a:solidFill>
                            <a:latin typeface="Cambria Math" panose="02040503050406030204" pitchFamily="18" charset="0"/>
                          </a:rPr>
                          <m:t>𝑐</m:t>
                        </m:r>
                      </m:sub>
                    </m:sSub>
                  </m:oMath>
                </a14:m>
                <a:r>
                  <a:rPr lang="es-GT" sz="2200" dirty="0">
                    <a:solidFill>
                      <a:schemeClr val="bg1"/>
                    </a:solidFill>
                  </a:rPr>
                  <a:t>).</a:t>
                </a:r>
              </a:p>
              <a:p>
                <a:pPr algn="just"/>
                <a:endParaRPr lang="es-GT" sz="2200" dirty="0">
                  <a:solidFill>
                    <a:schemeClr val="bg1"/>
                  </a:solidFill>
                </a:endParaRPr>
              </a:p>
              <a:p>
                <a:pPr marL="342900" lvl="1" indent="-342900" algn="just">
                  <a:buFont typeface="Arial" panose="020B0604020202020204" pitchFamily="34" charset="0"/>
                  <a:buChar char="•"/>
                </a:pPr>
                <a:r>
                  <a:rPr lang="es-GT" sz="2200" dirty="0">
                    <a:solidFill>
                      <a:schemeClr val="bg1"/>
                    </a:solidFill>
                  </a:rPr>
                  <a:t>Si </a:t>
                </a:r>
                <a14:m>
                  <m:oMath xmlns:m="http://schemas.openxmlformats.org/officeDocument/2006/math">
                    <m:sSub>
                      <m:sSubPr>
                        <m:ctrlPr>
                          <a:rPr lang="es-GT" sz="2200" i="1">
                            <a:solidFill>
                              <a:schemeClr val="bg1"/>
                            </a:solidFill>
                            <a:latin typeface="Cambria Math" panose="02040503050406030204" pitchFamily="18" charset="0"/>
                          </a:rPr>
                        </m:ctrlPr>
                      </m:sSubPr>
                      <m:e>
                        <m:r>
                          <a:rPr lang="es-GT" sz="2200" i="1">
                            <a:solidFill>
                              <a:schemeClr val="bg1"/>
                            </a:solidFill>
                            <a:latin typeface="Cambria Math" panose="02040503050406030204" pitchFamily="18" charset="0"/>
                          </a:rPr>
                          <m:t>𝑝</m:t>
                        </m:r>
                      </m:e>
                      <m:sub>
                        <m:r>
                          <a:rPr lang="es-GT" sz="2200" i="1">
                            <a:solidFill>
                              <a:schemeClr val="bg1"/>
                            </a:solidFill>
                            <a:latin typeface="Cambria Math" panose="02040503050406030204" pitchFamily="18" charset="0"/>
                          </a:rPr>
                          <m:t>𝑐</m:t>
                        </m:r>
                      </m:sub>
                    </m:sSub>
                  </m:oMath>
                </a14:m>
                <a:r>
                  <a:rPr lang="es-GT" sz="2200" dirty="0">
                    <a:solidFill>
                      <a:schemeClr val="bg1"/>
                    </a:solidFill>
                  </a:rPr>
                  <a:t> excede el límite normativo (usualmente </a:t>
                </a:r>
                <a14:m>
                  <m:oMath xmlns:m="http://schemas.openxmlformats.org/officeDocument/2006/math">
                    <m:r>
                      <a:rPr lang="es-GT" sz="2200" i="1">
                        <a:solidFill>
                          <a:schemeClr val="bg1"/>
                        </a:solidFill>
                        <a:latin typeface="Cambria Math" panose="02040503050406030204" pitchFamily="18" charset="0"/>
                      </a:rPr>
                      <m:t>0.25</m:t>
                    </m:r>
                    <m:r>
                      <a:rPr lang="es-GT" sz="2200" i="1">
                        <a:solidFill>
                          <a:schemeClr val="bg1"/>
                        </a:solidFill>
                        <a:latin typeface="Cambria Math" panose="02040503050406030204" pitchFamily="18" charset="0"/>
                      </a:rPr>
                      <m:t>𝑓</m:t>
                    </m:r>
                    <m:sSub>
                      <m:sSubPr>
                        <m:ctrlPr>
                          <a:rPr lang="es-GT" sz="2200" i="1">
                            <a:solidFill>
                              <a:schemeClr val="bg1"/>
                            </a:solidFill>
                            <a:latin typeface="Cambria Math" panose="02040503050406030204" pitchFamily="18" charset="0"/>
                          </a:rPr>
                        </m:ctrlPr>
                      </m:sSubPr>
                      <m:e>
                        <m:r>
                          <a:rPr lang="es-GT" sz="2200" i="1">
                            <a:solidFill>
                              <a:schemeClr val="bg1"/>
                            </a:solidFill>
                            <a:latin typeface="Cambria Math" panose="02040503050406030204" pitchFamily="18" charset="0"/>
                          </a:rPr>
                          <m:t>′</m:t>
                        </m:r>
                      </m:e>
                      <m:sub>
                        <m:r>
                          <a:rPr lang="es-GT" sz="2200" i="1">
                            <a:solidFill>
                              <a:schemeClr val="bg1"/>
                            </a:solidFill>
                            <a:latin typeface="Cambria Math" panose="02040503050406030204" pitchFamily="18" charset="0"/>
                          </a:rPr>
                          <m:t>𝑐</m:t>
                        </m:r>
                      </m:sub>
                    </m:sSub>
                  </m:oMath>
                </a14:m>
                <a:r>
                  <a:rPr lang="es-GT" sz="2200" dirty="0">
                    <a:solidFill>
                      <a:schemeClr val="bg1"/>
                    </a:solidFill>
                  </a:rPr>
                  <a:t>), el nodo estalla por aplastamiento diagonal. La única solución es rediseñar aumentando las dimensiones de la viga cabezal o de la columna.</a:t>
                </a:r>
              </a:p>
              <a:p>
                <a:pPr lvl="1"/>
                <a:endParaRPr lang="es-GT" sz="2200" dirty="0">
                  <a:solidFill>
                    <a:schemeClr val="bg1"/>
                  </a:solidFill>
                </a:endParaRPr>
              </a:p>
              <a:p>
                <a:pPr marL="342900" lvl="1" indent="-342900" algn="just">
                  <a:buFont typeface="Arial" panose="020B0604020202020204" pitchFamily="34" charset="0"/>
                  <a:buChar char="•"/>
                </a:pPr>
                <a:r>
                  <a:rPr lang="es-GT" sz="2200" dirty="0">
                    <a:solidFill>
                      <a:schemeClr val="bg1"/>
                    </a:solidFill>
                  </a:rPr>
                  <a:t>Si </a:t>
                </a:r>
                <a14:m>
                  <m:oMath xmlns:m="http://schemas.openxmlformats.org/officeDocument/2006/math">
                    <m:sSub>
                      <m:sSubPr>
                        <m:ctrlPr>
                          <a:rPr lang="es-GT" sz="2200" i="1">
                            <a:solidFill>
                              <a:schemeClr val="bg1"/>
                            </a:solidFill>
                            <a:latin typeface="Cambria Math" panose="02040503050406030204" pitchFamily="18" charset="0"/>
                          </a:rPr>
                        </m:ctrlPr>
                      </m:sSubPr>
                      <m:e>
                        <m:r>
                          <a:rPr lang="es-GT" sz="2200" i="1">
                            <a:solidFill>
                              <a:schemeClr val="bg1"/>
                            </a:solidFill>
                            <a:latin typeface="Cambria Math" panose="02040503050406030204" pitchFamily="18" charset="0"/>
                          </a:rPr>
                          <m:t>𝑝</m:t>
                        </m:r>
                      </m:e>
                      <m:sub>
                        <m:r>
                          <a:rPr lang="es-GT" sz="2200" i="1">
                            <a:solidFill>
                              <a:schemeClr val="bg1"/>
                            </a:solidFill>
                            <a:latin typeface="Cambria Math" panose="02040503050406030204" pitchFamily="18" charset="0"/>
                          </a:rPr>
                          <m:t>𝑡</m:t>
                        </m:r>
                      </m:sub>
                    </m:sSub>
                  </m:oMath>
                </a14:m>
                <a:r>
                  <a:rPr lang="es-GT" sz="2200" dirty="0">
                    <a:solidFill>
                      <a:schemeClr val="bg1"/>
                    </a:solidFill>
                  </a:rPr>
                  <a:t> supera la resistencia a tensión del concreto (aprox. </a:t>
                </a:r>
                <a14:m>
                  <m:oMath xmlns:m="http://schemas.openxmlformats.org/officeDocument/2006/math">
                    <m:r>
                      <a:rPr lang="es-GT" sz="2200" i="1">
                        <a:solidFill>
                          <a:schemeClr val="bg1"/>
                        </a:solidFill>
                        <a:latin typeface="Cambria Math" panose="02040503050406030204" pitchFamily="18" charset="0"/>
                      </a:rPr>
                      <m:t>3.5</m:t>
                    </m:r>
                    <m:rad>
                      <m:radPr>
                        <m:degHide m:val="on"/>
                        <m:ctrlPr>
                          <a:rPr lang="es-GT" sz="2200" i="1">
                            <a:solidFill>
                              <a:schemeClr val="bg1"/>
                            </a:solidFill>
                            <a:latin typeface="Cambria Math" panose="02040503050406030204" pitchFamily="18" charset="0"/>
                          </a:rPr>
                        </m:ctrlPr>
                      </m:radPr>
                      <m:deg/>
                      <m:e>
                        <m:r>
                          <a:rPr lang="es-GT" sz="2200" i="1">
                            <a:solidFill>
                              <a:schemeClr val="bg1"/>
                            </a:solidFill>
                            <a:latin typeface="Cambria Math" panose="02040503050406030204" pitchFamily="18" charset="0"/>
                          </a:rPr>
                          <m:t>𝑓</m:t>
                        </m:r>
                        <m:sSub>
                          <m:sSubPr>
                            <m:ctrlPr>
                              <a:rPr lang="es-GT" sz="2200" i="1">
                                <a:solidFill>
                                  <a:schemeClr val="bg1"/>
                                </a:solidFill>
                                <a:latin typeface="Cambria Math" panose="02040503050406030204" pitchFamily="18" charset="0"/>
                              </a:rPr>
                            </m:ctrlPr>
                          </m:sSubPr>
                          <m:e>
                            <m:r>
                              <a:rPr lang="es-GT" sz="2200" i="1">
                                <a:solidFill>
                                  <a:schemeClr val="bg1"/>
                                </a:solidFill>
                                <a:latin typeface="Cambria Math" panose="02040503050406030204" pitchFamily="18" charset="0"/>
                              </a:rPr>
                              <m:t>′</m:t>
                            </m:r>
                          </m:e>
                          <m:sub>
                            <m:r>
                              <a:rPr lang="es-GT" sz="2200" i="1">
                                <a:solidFill>
                                  <a:schemeClr val="bg1"/>
                                </a:solidFill>
                                <a:latin typeface="Cambria Math" panose="02040503050406030204" pitchFamily="18" charset="0"/>
                              </a:rPr>
                              <m:t>𝑐</m:t>
                            </m:r>
                          </m:sub>
                        </m:sSub>
                      </m:e>
                    </m:rad>
                  </m:oMath>
                </a14:m>
                <a:r>
                  <a:rPr lang="es-GT" sz="2200" dirty="0">
                    <a:solidFill>
                      <a:schemeClr val="bg1"/>
                    </a:solidFill>
                  </a:rPr>
                  <a:t>), el nodo se agrieta transversalmente en forma de "X", requiriendo refuerzo especial.</a:t>
                </a:r>
              </a:p>
              <a:p>
                <a:pPr algn="just"/>
                <a:endParaRPr lang="es-GT" sz="2200" dirty="0">
                  <a:solidFill>
                    <a:schemeClr val="bg1"/>
                  </a:solidFill>
                  <a:latin typeface="Aptos" panose="020B0004020202020204" pitchFamily="34" charset="0"/>
                </a:endParaRPr>
              </a:p>
              <a:p>
                <a:pPr algn="just"/>
                <a:endParaRPr lang="es-GT" sz="2200" dirty="0">
                  <a:solidFill>
                    <a:schemeClr val="bg1"/>
                  </a:solidFill>
                  <a:latin typeface="Aptos" panose="020B0004020202020204" pitchFamily="34" charset="0"/>
                </a:endParaRPr>
              </a:p>
              <a:p>
                <a:pPr marL="457200" indent="-457200" algn="just">
                  <a:buAutoNum type="arabicPeriod"/>
                </a:pPr>
                <a:endParaRPr lang="es-GT" sz="2200" b="1" dirty="0">
                  <a:solidFill>
                    <a:srgbClr val="00B0F0"/>
                  </a:solidFill>
                  <a:latin typeface="Aptos" panose="020B0004020202020204" pitchFamily="34" charset="0"/>
                </a:endParaRPr>
              </a:p>
              <a:p>
                <a:pPr algn="just"/>
                <a:endParaRPr lang="es-GT" sz="2200" dirty="0">
                  <a:solidFill>
                    <a:schemeClr val="bg1"/>
                  </a:solidFill>
                  <a:latin typeface="Aptos" panose="020B0004020202020204" pitchFamily="34" charset="0"/>
                </a:endParaRPr>
              </a:p>
            </p:txBody>
          </p:sp>
        </mc:Choice>
        <mc:Fallback xmlns="">
          <p:sp>
            <p:nvSpPr>
              <p:cNvPr id="11" name="CuadroTexto 10">
                <a:extLst>
                  <a:ext uri="{FF2B5EF4-FFF2-40B4-BE49-F238E27FC236}">
                    <a16:creationId xmlns:a16="http://schemas.microsoft.com/office/drawing/2014/main" id="{0ADE1983-8EBB-B11B-0782-7851D006C35E}"/>
                  </a:ext>
                </a:extLst>
              </p:cNvPr>
              <p:cNvSpPr txBox="1">
                <a:spLocks noRot="1" noChangeAspect="1" noMove="1" noResize="1" noEditPoints="1" noAdjustHandles="1" noChangeArrowheads="1" noChangeShapeType="1" noTextEdit="1"/>
              </p:cNvSpPr>
              <p:nvPr/>
            </p:nvSpPr>
            <p:spPr>
              <a:xfrm>
                <a:off x="693174" y="1389012"/>
                <a:ext cx="10879394" cy="4903522"/>
              </a:xfrm>
              <a:prstGeom prst="rect">
                <a:avLst/>
              </a:prstGeom>
              <a:blipFill>
                <a:blip r:embed="rId5"/>
                <a:stretch>
                  <a:fillRect l="-729" t="-746" r="-729"/>
                </a:stretch>
              </a:blipFill>
            </p:spPr>
            <p:txBody>
              <a:bodyPr/>
              <a:lstStyle/>
              <a:p>
                <a:r>
                  <a:rPr lang="es-GT">
                    <a:noFill/>
                  </a:rPr>
                  <a:t> </a:t>
                </a:r>
              </a:p>
            </p:txBody>
          </p:sp>
        </mc:Fallback>
      </mc:AlternateContent>
      <p:sp>
        <p:nvSpPr>
          <p:cNvPr id="99" name="Google Shape;99;p14">
            <a:extLst>
              <a:ext uri="{FF2B5EF4-FFF2-40B4-BE49-F238E27FC236}">
                <a16:creationId xmlns:a16="http://schemas.microsoft.com/office/drawing/2014/main" id="{4EF56181-2909-261A-1090-5A79D77F0063}"/>
              </a:ext>
            </a:extLst>
          </p:cNvPr>
          <p:cNvSpPr/>
          <p:nvPr/>
        </p:nvSpPr>
        <p:spPr>
          <a:xfrm>
            <a:off x="531682" y="1389012"/>
            <a:ext cx="45719" cy="969390"/>
          </a:xfrm>
          <a:prstGeom prst="rect">
            <a:avLst/>
          </a:prstGeom>
          <a:solidFill>
            <a:srgbClr val="FCD3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 name="Google Shape;94;p14">
            <a:extLst>
              <a:ext uri="{FF2B5EF4-FFF2-40B4-BE49-F238E27FC236}">
                <a16:creationId xmlns:a16="http://schemas.microsoft.com/office/drawing/2014/main" id="{59B64808-C07E-2CED-62FB-A7FD3507DA84}"/>
              </a:ext>
            </a:extLst>
          </p:cNvPr>
          <p:cNvSpPr txBox="1"/>
          <p:nvPr/>
        </p:nvSpPr>
        <p:spPr>
          <a:xfrm>
            <a:off x="762000" y="150168"/>
            <a:ext cx="11186036" cy="523220"/>
          </a:xfrm>
          <a:prstGeom prst="rect">
            <a:avLst/>
          </a:prstGeom>
          <a:noFill/>
          <a:ln>
            <a:noFill/>
          </a:ln>
        </p:spPr>
        <p:txBody>
          <a:bodyPr spcFirstLastPara="1" wrap="square" lIns="0" tIns="0" rIns="0" bIns="0" anchor="t" anchorCtr="0">
            <a:spAutoFit/>
          </a:bodyPr>
          <a:lstStyle/>
          <a:p>
            <a:pPr lvl="0"/>
            <a:r>
              <a:rPr lang="es-GT" sz="3400" b="1" dirty="0">
                <a:solidFill>
                  <a:srgbClr val="00B0F0"/>
                </a:solidFill>
                <a:latin typeface="Aptos" panose="020B0004020202020204" pitchFamily="34" charset="0"/>
              </a:rPr>
              <a:t>Diseño por Capacidad de Elementos Adyacentes</a:t>
            </a:r>
            <a:endParaRPr lang="es-GT" sz="3400" b="1" dirty="0">
              <a:solidFill>
                <a:srgbClr val="00B0F0"/>
              </a:solidFill>
              <a:latin typeface="Aptos" panose="020B0004020202020204" pitchFamily="34" charset="0"/>
              <a:ea typeface="Montserrat"/>
              <a:cs typeface="Montserrat"/>
              <a:sym typeface="Montserrat"/>
            </a:endParaRPr>
          </a:p>
        </p:txBody>
      </p:sp>
      <p:sp>
        <p:nvSpPr>
          <p:cNvPr id="3" name="CuadroTexto 2">
            <a:extLst>
              <a:ext uri="{FF2B5EF4-FFF2-40B4-BE49-F238E27FC236}">
                <a16:creationId xmlns:a16="http://schemas.microsoft.com/office/drawing/2014/main" id="{2FB367A4-FEC0-3868-5518-B819C773ADE4}"/>
              </a:ext>
            </a:extLst>
          </p:cNvPr>
          <p:cNvSpPr txBox="1"/>
          <p:nvPr/>
        </p:nvSpPr>
        <p:spPr>
          <a:xfrm>
            <a:off x="693174" y="673388"/>
            <a:ext cx="7910052" cy="430887"/>
          </a:xfrm>
          <a:prstGeom prst="rect">
            <a:avLst/>
          </a:prstGeom>
          <a:noFill/>
        </p:spPr>
        <p:txBody>
          <a:bodyPr wrap="square">
            <a:spAutoFit/>
          </a:bodyPr>
          <a:lstStyle/>
          <a:p>
            <a:r>
              <a:rPr lang="es-GT" sz="2200" b="1" dirty="0">
                <a:solidFill>
                  <a:schemeClr val="tx2">
                    <a:lumMod val="50000"/>
                  </a:schemeClr>
                </a:solidFill>
              </a:rPr>
              <a:t>Bloque 2: Diseño de la Viga cabezal y el Nodo</a:t>
            </a:r>
            <a:endParaRPr lang="es-GT" sz="2200" dirty="0">
              <a:solidFill>
                <a:schemeClr val="tx2">
                  <a:lumMod val="50000"/>
                </a:schemeClr>
              </a:solidFill>
            </a:endParaRPr>
          </a:p>
        </p:txBody>
      </p:sp>
    </p:spTree>
    <p:extLst>
      <p:ext uri="{BB962C8B-B14F-4D97-AF65-F5344CB8AC3E}">
        <p14:creationId xmlns:p14="http://schemas.microsoft.com/office/powerpoint/2010/main" val="33135082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2">
          <a:extLst>
            <a:ext uri="{FF2B5EF4-FFF2-40B4-BE49-F238E27FC236}">
              <a16:creationId xmlns:a16="http://schemas.microsoft.com/office/drawing/2014/main" id="{58E1629A-75DA-7B15-43DB-F5621E9F4225}"/>
            </a:ext>
          </a:extLst>
        </p:cNvPr>
        <p:cNvGrpSpPr/>
        <p:nvPr/>
      </p:nvGrpSpPr>
      <p:grpSpPr>
        <a:xfrm>
          <a:off x="0" y="0"/>
          <a:ext cx="0" cy="0"/>
          <a:chOff x="0" y="0"/>
          <a:chExt cx="0" cy="0"/>
        </a:xfrm>
      </p:grpSpPr>
      <p:pic>
        <p:nvPicPr>
          <p:cNvPr id="93" name="Google Shape;93;p14" descr="image.png">
            <a:extLst>
              <a:ext uri="{FF2B5EF4-FFF2-40B4-BE49-F238E27FC236}">
                <a16:creationId xmlns:a16="http://schemas.microsoft.com/office/drawing/2014/main" id="{F3359C83-A5E5-5D43-7F34-6C218B3CA07E}"/>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95" name="Google Shape;95;p14">
            <a:extLst>
              <a:ext uri="{FF2B5EF4-FFF2-40B4-BE49-F238E27FC236}">
                <a16:creationId xmlns:a16="http://schemas.microsoft.com/office/drawing/2014/main" id="{0E357B14-9A65-DDAC-03F6-41F938FFF10A}"/>
              </a:ext>
            </a:extLst>
          </p:cNvPr>
          <p:cNvSpPr/>
          <p:nvPr/>
        </p:nvSpPr>
        <p:spPr>
          <a:xfrm>
            <a:off x="542924" y="103763"/>
            <a:ext cx="57150" cy="906684"/>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9" name="Google Shape;108;p15" descr="image.png">
            <a:extLst>
              <a:ext uri="{FF2B5EF4-FFF2-40B4-BE49-F238E27FC236}">
                <a16:creationId xmlns:a16="http://schemas.microsoft.com/office/drawing/2014/main" id="{228717BE-643E-6481-F0B4-923AC3CFA60D}"/>
              </a:ext>
            </a:extLst>
          </p:cNvPr>
          <p:cNvPicPr preferRelativeResize="0"/>
          <p:nvPr/>
        </p:nvPicPr>
        <p:blipFill rotWithShape="1">
          <a:blip r:embed="rId4">
            <a:alphaModFix/>
          </a:blip>
          <a:srcRect/>
          <a:stretch/>
        </p:blipFill>
        <p:spPr>
          <a:xfrm>
            <a:off x="382728" y="1196608"/>
            <a:ext cx="11426544" cy="5443648"/>
          </a:xfrm>
          <a:prstGeom prst="rect">
            <a:avLst/>
          </a:prstGeom>
          <a:noFill/>
          <a:ln>
            <a:noFill/>
          </a:ln>
        </p:spPr>
      </p:pic>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3D989FBA-0084-6772-043C-DA63E0B06130}"/>
                  </a:ext>
                </a:extLst>
              </p:cNvPr>
              <p:cNvSpPr txBox="1"/>
              <p:nvPr/>
            </p:nvSpPr>
            <p:spPr>
              <a:xfrm>
                <a:off x="693174" y="1293100"/>
                <a:ext cx="10879394" cy="5170646"/>
              </a:xfrm>
              <a:prstGeom prst="rect">
                <a:avLst/>
              </a:prstGeom>
              <a:noFill/>
            </p:spPr>
            <p:txBody>
              <a:bodyPr wrap="square">
                <a:spAutoFit/>
              </a:bodyPr>
              <a:lstStyle/>
              <a:p>
                <a:pPr lvl="0" algn="just"/>
                <a:r>
                  <a:rPr lang="es-GT" sz="2200" b="1" dirty="0">
                    <a:solidFill>
                      <a:srgbClr val="00B0F0"/>
                    </a:solidFill>
                    <a:latin typeface="Aptos" panose="020B0004020202020204" pitchFamily="34" charset="0"/>
                  </a:rPr>
                  <a:t>2. Detallado del Nodo:</a:t>
                </a:r>
                <a:r>
                  <a:rPr lang="es-GT" sz="2200" dirty="0">
                    <a:solidFill>
                      <a:srgbClr val="00B0F0"/>
                    </a:solidFill>
                    <a:latin typeface="Aptos" panose="020B0004020202020204" pitchFamily="34" charset="0"/>
                  </a:rPr>
                  <a:t> </a:t>
                </a:r>
                <a:r>
                  <a:rPr lang="es-GT" sz="2200" dirty="0">
                    <a:solidFill>
                      <a:schemeClr val="bg1"/>
                    </a:solidFill>
                    <a:latin typeface="Aptos" panose="020B0004020202020204" pitchFamily="34" charset="0"/>
                  </a:rPr>
                  <a:t>Demostrar cómo el acero longitudinal de la columna debe anclarse dentro de la viga cabezal y por qué el acero de confinamiento (los estribos a espaciamiento cerrado que calcularon la clase pasada) debe continuar ininterrumpidamente dentro del nodo.</a:t>
                </a:r>
              </a:p>
              <a:p>
                <a:pPr lvl="0" algn="just"/>
                <a:endParaRPr lang="es-GT" sz="2200" b="1" dirty="0">
                  <a:solidFill>
                    <a:schemeClr val="bg1"/>
                  </a:solidFill>
                  <a:latin typeface="Aptos" panose="020B0004020202020204" pitchFamily="34" charset="0"/>
                </a:endParaRPr>
              </a:p>
              <a:p>
                <a:pPr lvl="0" algn="just"/>
                <a:r>
                  <a:rPr lang="es-GT" sz="2200" b="1" dirty="0">
                    <a:solidFill>
                      <a:schemeClr val="tx2">
                        <a:lumMod val="50000"/>
                      </a:schemeClr>
                    </a:solidFill>
                    <a:latin typeface="Aptos" panose="020B0004020202020204" pitchFamily="34" charset="0"/>
                  </a:rPr>
                  <a:t>El Anclaje Longitudinal:</a:t>
                </a:r>
                <a:r>
                  <a:rPr lang="es-GT" sz="2200" dirty="0">
                    <a:solidFill>
                      <a:schemeClr val="tx2">
                        <a:lumMod val="50000"/>
                      </a:schemeClr>
                    </a:solidFill>
                    <a:latin typeface="Aptos" panose="020B0004020202020204" pitchFamily="34" charset="0"/>
                  </a:rPr>
                  <a:t> </a:t>
                </a:r>
                <a:r>
                  <a:rPr lang="es-GT" sz="2200" dirty="0">
                    <a:solidFill>
                      <a:schemeClr val="bg1"/>
                    </a:solidFill>
                    <a:latin typeface="Aptos" panose="020B0004020202020204" pitchFamily="34" charset="0"/>
                  </a:rPr>
                  <a:t>Las varillas No. 14 necesitan una longitud de desarrollo (</a:t>
                </a:r>
                <a14:m>
                  <m:oMath xmlns:m="http://schemas.openxmlformats.org/officeDocument/2006/math">
                    <m:sSub>
                      <m:sSubPr>
                        <m:ctrlPr>
                          <a:rPr lang="es-GT" sz="2200" i="1">
                            <a:solidFill>
                              <a:schemeClr val="bg1"/>
                            </a:solidFill>
                            <a:latin typeface="Cambria Math" panose="02040503050406030204" pitchFamily="18" charset="0"/>
                          </a:rPr>
                        </m:ctrlPr>
                      </m:sSubPr>
                      <m:e>
                        <m:r>
                          <a:rPr lang="es-GT" sz="2200" i="1">
                            <a:solidFill>
                              <a:schemeClr val="bg1"/>
                            </a:solidFill>
                            <a:latin typeface="Cambria Math" panose="02040503050406030204" pitchFamily="18" charset="0"/>
                          </a:rPr>
                          <m:t>𝑙</m:t>
                        </m:r>
                      </m:e>
                      <m:sub>
                        <m:r>
                          <a:rPr lang="es-GT" sz="2200" i="1">
                            <a:solidFill>
                              <a:schemeClr val="bg1"/>
                            </a:solidFill>
                            <a:latin typeface="Cambria Math" panose="02040503050406030204" pitchFamily="18" charset="0"/>
                          </a:rPr>
                          <m:t>𝑑ℎ</m:t>
                        </m:r>
                      </m:sub>
                    </m:sSub>
                  </m:oMath>
                </a14:m>
                <a:r>
                  <a:rPr lang="es-GT" sz="2200" dirty="0">
                    <a:solidFill>
                      <a:schemeClr val="bg1"/>
                    </a:solidFill>
                    <a:latin typeface="Aptos" panose="020B0004020202020204" pitchFamily="34" charset="0"/>
                  </a:rPr>
                  <a:t>) estricta dentro del peralte de la viga cabezal. Si el peralte de la viga es menor que la longitud requerida para que el acero alcance los </a:t>
                </a:r>
                <a14:m>
                  <m:oMath xmlns:m="http://schemas.openxmlformats.org/officeDocument/2006/math">
                    <m:r>
                      <a:rPr lang="es-GT" sz="2200" i="1">
                        <a:solidFill>
                          <a:schemeClr val="bg1"/>
                        </a:solidFill>
                        <a:latin typeface="Cambria Math" panose="02040503050406030204" pitchFamily="18" charset="0"/>
                      </a:rPr>
                      <m:t>66</m:t>
                    </m:r>
                  </m:oMath>
                </a14:m>
                <a:r>
                  <a:rPr lang="es-GT" sz="2200" dirty="0">
                    <a:solidFill>
                      <a:schemeClr val="bg1"/>
                    </a:solidFill>
                    <a:latin typeface="Aptos" panose="020B0004020202020204" pitchFamily="34" charset="0"/>
                  </a:rPr>
                  <a:t>, la varilla se deslizará antes de que se forme la rótula plástica, invalidando todo el diseño por capacidad.</a:t>
                </a:r>
              </a:p>
              <a:p>
                <a:pPr algn="just"/>
                <a:r>
                  <a:rPr lang="es-GT" sz="2200" b="1" dirty="0">
                    <a:solidFill>
                      <a:schemeClr val="tx2">
                        <a:lumMod val="50000"/>
                      </a:schemeClr>
                    </a:solidFill>
                    <a:latin typeface="Aptos" panose="020B0004020202020204" pitchFamily="34" charset="0"/>
                  </a:rPr>
                  <a:t>La Continuidad de los Aros:</a:t>
                </a:r>
                <a:r>
                  <a:rPr lang="es-GT" sz="2200" dirty="0">
                    <a:solidFill>
                      <a:schemeClr val="tx2">
                        <a:lumMod val="50000"/>
                      </a:schemeClr>
                    </a:solidFill>
                    <a:latin typeface="Aptos" panose="020B0004020202020204" pitchFamily="34" charset="0"/>
                  </a:rPr>
                  <a:t> </a:t>
                </a:r>
                <a:r>
                  <a:rPr lang="es-GT" sz="2200" dirty="0">
                    <a:solidFill>
                      <a:schemeClr val="bg1"/>
                    </a:solidFill>
                    <a:latin typeface="Aptos" panose="020B0004020202020204" pitchFamily="34" charset="0"/>
                  </a:rPr>
                  <a:t>Una vez que el Esfuerzo Principal de Tensión (</a:t>
                </a:r>
                <a14:m>
                  <m:oMath xmlns:m="http://schemas.openxmlformats.org/officeDocument/2006/math">
                    <m:sSub>
                      <m:sSubPr>
                        <m:ctrlPr>
                          <a:rPr lang="es-GT" sz="2200" i="1">
                            <a:solidFill>
                              <a:schemeClr val="bg1"/>
                            </a:solidFill>
                            <a:latin typeface="Cambria Math" panose="02040503050406030204" pitchFamily="18" charset="0"/>
                          </a:rPr>
                        </m:ctrlPr>
                      </m:sSubPr>
                      <m:e>
                        <m:r>
                          <a:rPr lang="es-GT" sz="2200" i="1">
                            <a:solidFill>
                              <a:schemeClr val="bg1"/>
                            </a:solidFill>
                            <a:latin typeface="Cambria Math" panose="02040503050406030204" pitchFamily="18" charset="0"/>
                          </a:rPr>
                          <m:t>𝑝</m:t>
                        </m:r>
                      </m:e>
                      <m:sub>
                        <m:r>
                          <a:rPr lang="es-GT" sz="2200" i="1">
                            <a:solidFill>
                              <a:schemeClr val="bg1"/>
                            </a:solidFill>
                            <a:latin typeface="Cambria Math" panose="02040503050406030204" pitchFamily="18" charset="0"/>
                          </a:rPr>
                          <m:t>𝑡</m:t>
                        </m:r>
                      </m:sub>
                    </m:sSub>
                  </m:oMath>
                </a14:m>
                <a:r>
                  <a:rPr lang="es-GT" sz="2200" dirty="0">
                    <a:solidFill>
                      <a:schemeClr val="bg1"/>
                    </a:solidFill>
                    <a:latin typeface="Aptos" panose="020B0004020202020204" pitchFamily="34" charset="0"/>
                  </a:rPr>
                  <a:t>) agrieta el nodo, el concreto pierde toda su cohesión. En ese instante, lo único que evita que el empalme estalle y el puente colapse son los aros de confinamiento. Por lo tanto, los aros No. 8 espaciados a 3.09 pulgadas no pueden detenerse al llegar a la viga; deben extenderse hasta el lecho superior del refuerzo de la viga cabezal, cosiendo las fisuras diagonales.</a:t>
                </a:r>
              </a:p>
            </p:txBody>
          </p:sp>
        </mc:Choice>
        <mc:Fallback xmlns="">
          <p:sp>
            <p:nvSpPr>
              <p:cNvPr id="11" name="CuadroTexto 10">
                <a:extLst>
                  <a:ext uri="{FF2B5EF4-FFF2-40B4-BE49-F238E27FC236}">
                    <a16:creationId xmlns:a16="http://schemas.microsoft.com/office/drawing/2014/main" id="{3D989FBA-0084-6772-043C-DA63E0B06130}"/>
                  </a:ext>
                </a:extLst>
              </p:cNvPr>
              <p:cNvSpPr txBox="1">
                <a:spLocks noRot="1" noChangeAspect="1" noMove="1" noResize="1" noEditPoints="1" noAdjustHandles="1" noChangeArrowheads="1" noChangeShapeType="1" noTextEdit="1"/>
              </p:cNvSpPr>
              <p:nvPr/>
            </p:nvSpPr>
            <p:spPr>
              <a:xfrm>
                <a:off x="693174" y="1293100"/>
                <a:ext cx="10879394" cy="5170646"/>
              </a:xfrm>
              <a:prstGeom prst="rect">
                <a:avLst/>
              </a:prstGeom>
              <a:blipFill>
                <a:blip r:embed="rId5"/>
                <a:stretch>
                  <a:fillRect l="-729" t="-825" r="-729" b="-1533"/>
                </a:stretch>
              </a:blipFill>
            </p:spPr>
            <p:txBody>
              <a:bodyPr/>
              <a:lstStyle/>
              <a:p>
                <a:r>
                  <a:rPr lang="es-GT">
                    <a:noFill/>
                  </a:rPr>
                  <a:t> </a:t>
                </a:r>
              </a:p>
            </p:txBody>
          </p:sp>
        </mc:Fallback>
      </mc:AlternateContent>
      <p:sp>
        <p:nvSpPr>
          <p:cNvPr id="99" name="Google Shape;99;p14">
            <a:extLst>
              <a:ext uri="{FF2B5EF4-FFF2-40B4-BE49-F238E27FC236}">
                <a16:creationId xmlns:a16="http://schemas.microsoft.com/office/drawing/2014/main" id="{54CBBC88-FA12-0D20-4031-DB2F327ADD00}"/>
              </a:ext>
            </a:extLst>
          </p:cNvPr>
          <p:cNvSpPr/>
          <p:nvPr/>
        </p:nvSpPr>
        <p:spPr>
          <a:xfrm>
            <a:off x="531682" y="1389012"/>
            <a:ext cx="45719" cy="969390"/>
          </a:xfrm>
          <a:prstGeom prst="rect">
            <a:avLst/>
          </a:prstGeom>
          <a:solidFill>
            <a:srgbClr val="FCD3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 name="Google Shape;94;p14">
            <a:extLst>
              <a:ext uri="{FF2B5EF4-FFF2-40B4-BE49-F238E27FC236}">
                <a16:creationId xmlns:a16="http://schemas.microsoft.com/office/drawing/2014/main" id="{3DE401C2-DE59-82B8-E88F-01525F230FAE}"/>
              </a:ext>
            </a:extLst>
          </p:cNvPr>
          <p:cNvSpPr txBox="1"/>
          <p:nvPr/>
        </p:nvSpPr>
        <p:spPr>
          <a:xfrm>
            <a:off x="762000" y="150168"/>
            <a:ext cx="11186036" cy="523220"/>
          </a:xfrm>
          <a:prstGeom prst="rect">
            <a:avLst/>
          </a:prstGeom>
          <a:noFill/>
          <a:ln>
            <a:noFill/>
          </a:ln>
        </p:spPr>
        <p:txBody>
          <a:bodyPr spcFirstLastPara="1" wrap="square" lIns="0" tIns="0" rIns="0" bIns="0" anchor="t" anchorCtr="0">
            <a:spAutoFit/>
          </a:bodyPr>
          <a:lstStyle/>
          <a:p>
            <a:pPr lvl="0"/>
            <a:r>
              <a:rPr lang="es-GT" sz="3400" b="1" dirty="0">
                <a:solidFill>
                  <a:srgbClr val="00B0F0"/>
                </a:solidFill>
                <a:latin typeface="Aptos" panose="020B0004020202020204" pitchFamily="34" charset="0"/>
              </a:rPr>
              <a:t>Diseño por Capacidad de Elementos Adyacentes</a:t>
            </a:r>
            <a:endParaRPr lang="es-GT" sz="3400" b="1" dirty="0">
              <a:solidFill>
                <a:srgbClr val="00B0F0"/>
              </a:solidFill>
              <a:latin typeface="Aptos" panose="020B0004020202020204" pitchFamily="34" charset="0"/>
              <a:ea typeface="Montserrat"/>
              <a:cs typeface="Montserrat"/>
              <a:sym typeface="Montserrat"/>
            </a:endParaRPr>
          </a:p>
        </p:txBody>
      </p:sp>
      <p:sp>
        <p:nvSpPr>
          <p:cNvPr id="3" name="CuadroTexto 2">
            <a:extLst>
              <a:ext uri="{FF2B5EF4-FFF2-40B4-BE49-F238E27FC236}">
                <a16:creationId xmlns:a16="http://schemas.microsoft.com/office/drawing/2014/main" id="{1D0D12F0-D8D4-B744-840F-93D24CE5A3C5}"/>
              </a:ext>
            </a:extLst>
          </p:cNvPr>
          <p:cNvSpPr txBox="1"/>
          <p:nvPr/>
        </p:nvSpPr>
        <p:spPr>
          <a:xfrm>
            <a:off x="693174" y="673388"/>
            <a:ext cx="7910052" cy="430887"/>
          </a:xfrm>
          <a:prstGeom prst="rect">
            <a:avLst/>
          </a:prstGeom>
          <a:noFill/>
        </p:spPr>
        <p:txBody>
          <a:bodyPr wrap="square">
            <a:spAutoFit/>
          </a:bodyPr>
          <a:lstStyle/>
          <a:p>
            <a:r>
              <a:rPr lang="es-GT" sz="2200" b="1" dirty="0">
                <a:solidFill>
                  <a:schemeClr val="tx2">
                    <a:lumMod val="50000"/>
                  </a:schemeClr>
                </a:solidFill>
              </a:rPr>
              <a:t>Bloque 2: Diseño de la Viga cabezal y el Nodo</a:t>
            </a:r>
            <a:endParaRPr lang="es-GT" sz="2200" dirty="0">
              <a:solidFill>
                <a:schemeClr val="tx2">
                  <a:lumMod val="50000"/>
                </a:schemeClr>
              </a:solidFill>
            </a:endParaRPr>
          </a:p>
        </p:txBody>
      </p:sp>
    </p:spTree>
    <p:extLst>
      <p:ext uri="{BB962C8B-B14F-4D97-AF65-F5344CB8AC3E}">
        <p14:creationId xmlns:p14="http://schemas.microsoft.com/office/powerpoint/2010/main" val="3906600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2">
          <a:extLst>
            <a:ext uri="{FF2B5EF4-FFF2-40B4-BE49-F238E27FC236}">
              <a16:creationId xmlns:a16="http://schemas.microsoft.com/office/drawing/2014/main" id="{1F7ACF2B-9D00-D8EB-4788-1EB12FF5B167}"/>
            </a:ext>
          </a:extLst>
        </p:cNvPr>
        <p:cNvGrpSpPr/>
        <p:nvPr/>
      </p:nvGrpSpPr>
      <p:grpSpPr>
        <a:xfrm>
          <a:off x="0" y="0"/>
          <a:ext cx="0" cy="0"/>
          <a:chOff x="0" y="0"/>
          <a:chExt cx="0" cy="0"/>
        </a:xfrm>
      </p:grpSpPr>
      <p:pic>
        <p:nvPicPr>
          <p:cNvPr id="93" name="Google Shape;93;p14" descr="image.png">
            <a:extLst>
              <a:ext uri="{FF2B5EF4-FFF2-40B4-BE49-F238E27FC236}">
                <a16:creationId xmlns:a16="http://schemas.microsoft.com/office/drawing/2014/main" id="{E8A763D2-A736-5AB4-4F26-470DEE0D1F87}"/>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95" name="Google Shape;95;p14">
            <a:extLst>
              <a:ext uri="{FF2B5EF4-FFF2-40B4-BE49-F238E27FC236}">
                <a16:creationId xmlns:a16="http://schemas.microsoft.com/office/drawing/2014/main" id="{D9CFC4C0-6D2A-333D-A913-880E5ED5B476}"/>
              </a:ext>
            </a:extLst>
          </p:cNvPr>
          <p:cNvSpPr/>
          <p:nvPr/>
        </p:nvSpPr>
        <p:spPr>
          <a:xfrm>
            <a:off x="542924" y="103763"/>
            <a:ext cx="57150" cy="906684"/>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9" name="Google Shape;108;p15" descr="image.png">
            <a:extLst>
              <a:ext uri="{FF2B5EF4-FFF2-40B4-BE49-F238E27FC236}">
                <a16:creationId xmlns:a16="http://schemas.microsoft.com/office/drawing/2014/main" id="{67ADABC8-47A2-0C9D-E73B-FBDF93497C1E}"/>
              </a:ext>
            </a:extLst>
          </p:cNvPr>
          <p:cNvPicPr preferRelativeResize="0"/>
          <p:nvPr/>
        </p:nvPicPr>
        <p:blipFill rotWithShape="1">
          <a:blip r:embed="rId4">
            <a:alphaModFix/>
          </a:blip>
          <a:srcRect/>
          <a:stretch/>
        </p:blipFill>
        <p:spPr>
          <a:xfrm>
            <a:off x="382728" y="1196608"/>
            <a:ext cx="11426544" cy="5443648"/>
          </a:xfrm>
          <a:prstGeom prst="rect">
            <a:avLst/>
          </a:prstGeom>
          <a:noFill/>
          <a:ln>
            <a:noFill/>
          </a:ln>
        </p:spPr>
      </p:pic>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544FC407-78AA-0C4C-8F51-DC18370790EE}"/>
                  </a:ext>
                </a:extLst>
              </p:cNvPr>
              <p:cNvSpPr txBox="1"/>
              <p:nvPr/>
            </p:nvSpPr>
            <p:spPr>
              <a:xfrm>
                <a:off x="693174" y="1293100"/>
                <a:ext cx="10879394" cy="4523803"/>
              </a:xfrm>
              <a:prstGeom prst="rect">
                <a:avLst/>
              </a:prstGeom>
              <a:noFill/>
            </p:spPr>
            <p:txBody>
              <a:bodyPr wrap="square">
                <a:spAutoFit/>
              </a:bodyPr>
              <a:lstStyle/>
              <a:p>
                <a:pPr lvl="0" algn="just"/>
                <a:r>
                  <a:rPr lang="es-GT" sz="2200" b="1" dirty="0">
                    <a:solidFill>
                      <a:srgbClr val="00B0F0"/>
                    </a:solidFill>
                    <a:latin typeface="Aptos" panose="020B0004020202020204" pitchFamily="34" charset="0"/>
                  </a:rPr>
                  <a:t>3. Diseño a Flexión de la Viga Cabezal:</a:t>
                </a:r>
                <a:r>
                  <a:rPr lang="es-GT" sz="2200" dirty="0">
                    <a:solidFill>
                      <a:srgbClr val="00B0F0"/>
                    </a:solidFill>
                    <a:latin typeface="Aptos" panose="020B0004020202020204" pitchFamily="34" charset="0"/>
                  </a:rPr>
                  <a:t> </a:t>
                </a:r>
                <a:r>
                  <a:rPr lang="es-GT" sz="2200" dirty="0">
                    <a:solidFill>
                      <a:schemeClr val="bg1"/>
                    </a:solidFill>
                    <a:latin typeface="Aptos" panose="020B0004020202020204" pitchFamily="34" charset="0"/>
                  </a:rPr>
                  <a:t>Establecer la desigualdad de diseño: la capacidad a flexión de la viga cabezal debe superar al momento plástico inyectado, garantizando que fluya la columna, no la viga.</a:t>
                </a:r>
              </a:p>
              <a:p>
                <a:pPr lvl="0" algn="just"/>
                <a:endParaRPr lang="es-GT" sz="2200" b="1" dirty="0">
                  <a:solidFill>
                    <a:schemeClr val="bg1"/>
                  </a:solidFill>
                  <a:latin typeface="Aptos" panose="020B0004020202020204" pitchFamily="34" charset="0"/>
                </a:endParaRPr>
              </a:p>
              <a:p>
                <a:pPr lvl="0" algn="just"/>
                <a:r>
                  <a:rPr lang="es-GT" sz="2200" b="1" dirty="0">
                    <a:solidFill>
                      <a:schemeClr val="tx2">
                        <a:lumMod val="50000"/>
                      </a:schemeClr>
                    </a:solidFill>
                    <a:latin typeface="Aptos" panose="020B0004020202020204" pitchFamily="34" charset="0"/>
                  </a:rPr>
                  <a:t>La Columna:</a:t>
                </a:r>
                <a:r>
                  <a:rPr lang="es-GT" sz="2200" dirty="0">
                    <a:solidFill>
                      <a:schemeClr val="tx2">
                        <a:lumMod val="50000"/>
                      </a:schemeClr>
                    </a:solidFill>
                    <a:latin typeface="Aptos" panose="020B0004020202020204" pitchFamily="34" charset="0"/>
                  </a:rPr>
                  <a:t> </a:t>
                </a:r>
                <a:r>
                  <a:rPr lang="es-GT" sz="2200" dirty="0">
                    <a:solidFill>
                      <a:schemeClr val="bg1"/>
                    </a:solidFill>
                    <a:latin typeface="Aptos" panose="020B0004020202020204" pitchFamily="34" charset="0"/>
                  </a:rPr>
                  <a:t>El sismo inyecta energía cinética, obligando a la columna a golpear a la viga cabezal con una fuerza destructiva igual a su </a:t>
                </a:r>
                <a14:m>
                  <m:oMath xmlns:m="http://schemas.openxmlformats.org/officeDocument/2006/math">
                    <m:sSub>
                      <m:sSubPr>
                        <m:ctrlPr>
                          <a:rPr lang="es-GT" sz="2200" i="1">
                            <a:solidFill>
                              <a:schemeClr val="bg1"/>
                            </a:solidFill>
                            <a:latin typeface="Cambria Math" panose="02040503050406030204" pitchFamily="18" charset="0"/>
                          </a:rPr>
                        </m:ctrlPr>
                      </m:sSubPr>
                      <m:e>
                        <m:r>
                          <a:rPr lang="es-GT" sz="2200" i="1">
                            <a:solidFill>
                              <a:schemeClr val="bg1"/>
                            </a:solidFill>
                            <a:latin typeface="Cambria Math" panose="02040503050406030204" pitchFamily="18" charset="0"/>
                          </a:rPr>
                          <m:t>𝑀</m:t>
                        </m:r>
                      </m:e>
                      <m:sub>
                        <m:r>
                          <a:rPr lang="es-GT" sz="2200" i="1">
                            <a:solidFill>
                              <a:schemeClr val="bg1"/>
                            </a:solidFill>
                            <a:latin typeface="Cambria Math" panose="02040503050406030204" pitchFamily="18" charset="0"/>
                          </a:rPr>
                          <m:t>𝑝𝑜</m:t>
                        </m:r>
                      </m:sub>
                    </m:sSub>
                  </m:oMath>
                </a14:m>
                <a:r>
                  <a:rPr lang="es-GT" sz="2200" dirty="0">
                    <a:solidFill>
                      <a:schemeClr val="bg1"/>
                    </a:solidFill>
                    <a:latin typeface="Aptos" panose="020B0004020202020204" pitchFamily="34" charset="0"/>
                  </a:rPr>
                  <a:t>.</a:t>
                </a:r>
              </a:p>
              <a:p>
                <a:pPr lvl="0" algn="just"/>
                <a:endParaRPr lang="es-GT" sz="2200" dirty="0">
                  <a:solidFill>
                    <a:schemeClr val="bg1"/>
                  </a:solidFill>
                  <a:latin typeface="Aptos" panose="020B0004020202020204" pitchFamily="34" charset="0"/>
                </a:endParaRPr>
              </a:p>
              <a:p>
                <a:pPr lvl="0" algn="just"/>
                <a:r>
                  <a:rPr lang="es-GT" sz="2200" b="1" dirty="0">
                    <a:solidFill>
                      <a:schemeClr val="tx2">
                        <a:lumMod val="50000"/>
                      </a:schemeClr>
                    </a:solidFill>
                    <a:latin typeface="Aptos" panose="020B0004020202020204" pitchFamily="34" charset="0"/>
                  </a:rPr>
                  <a:t>La Viga Cabezal:</a:t>
                </a:r>
                <a:r>
                  <a:rPr lang="es-GT" sz="2200" dirty="0">
                    <a:solidFill>
                      <a:schemeClr val="tx2">
                        <a:lumMod val="50000"/>
                      </a:schemeClr>
                    </a:solidFill>
                    <a:latin typeface="Aptos" panose="020B0004020202020204" pitchFamily="34" charset="0"/>
                  </a:rPr>
                  <a:t> </a:t>
                </a:r>
                <a:r>
                  <a:rPr lang="es-GT" sz="2200" dirty="0">
                    <a:solidFill>
                      <a:schemeClr val="bg1"/>
                    </a:solidFill>
                    <a:latin typeface="Aptos" panose="020B0004020202020204" pitchFamily="34" charset="0"/>
                  </a:rPr>
                  <a:t>Para que la columna se deforme (rote plásticamente y disipe energía), la viga cabezal debe ser indeformable. Si la viga cabezal es más débil que la columna, la viga fluirá primero. Al fluir la viga, el puente pierde su capacidad de soportar las cargas gravitacionales (las vigas AASHTO y la losa de asfalto caerían), resultando en un colapso catastrófico.</a:t>
                </a:r>
              </a:p>
              <a:p>
                <a:pPr lvl="0" algn="just"/>
                <a:endParaRPr lang="es-GT" sz="2200" b="1" dirty="0">
                  <a:solidFill>
                    <a:schemeClr val="bg1"/>
                  </a:solidFill>
                  <a:latin typeface="Aptos" panose="020B0004020202020204" pitchFamily="34" charset="0"/>
                </a:endParaRPr>
              </a:p>
            </p:txBody>
          </p:sp>
        </mc:Choice>
        <mc:Fallback xmlns="">
          <p:sp>
            <p:nvSpPr>
              <p:cNvPr id="11" name="CuadroTexto 10">
                <a:extLst>
                  <a:ext uri="{FF2B5EF4-FFF2-40B4-BE49-F238E27FC236}">
                    <a16:creationId xmlns:a16="http://schemas.microsoft.com/office/drawing/2014/main" id="{544FC407-78AA-0C4C-8F51-DC18370790EE}"/>
                  </a:ext>
                </a:extLst>
              </p:cNvPr>
              <p:cNvSpPr txBox="1">
                <a:spLocks noRot="1" noChangeAspect="1" noMove="1" noResize="1" noEditPoints="1" noAdjustHandles="1" noChangeArrowheads="1" noChangeShapeType="1" noTextEdit="1"/>
              </p:cNvSpPr>
              <p:nvPr/>
            </p:nvSpPr>
            <p:spPr>
              <a:xfrm>
                <a:off x="693174" y="1293100"/>
                <a:ext cx="10879394" cy="4523803"/>
              </a:xfrm>
              <a:prstGeom prst="rect">
                <a:avLst/>
              </a:prstGeom>
              <a:blipFill>
                <a:blip r:embed="rId5"/>
                <a:stretch>
                  <a:fillRect l="-729" t="-943" r="-729"/>
                </a:stretch>
              </a:blipFill>
            </p:spPr>
            <p:txBody>
              <a:bodyPr/>
              <a:lstStyle/>
              <a:p>
                <a:r>
                  <a:rPr lang="es-GT">
                    <a:noFill/>
                  </a:rPr>
                  <a:t> </a:t>
                </a:r>
              </a:p>
            </p:txBody>
          </p:sp>
        </mc:Fallback>
      </mc:AlternateContent>
      <p:sp>
        <p:nvSpPr>
          <p:cNvPr id="99" name="Google Shape;99;p14">
            <a:extLst>
              <a:ext uri="{FF2B5EF4-FFF2-40B4-BE49-F238E27FC236}">
                <a16:creationId xmlns:a16="http://schemas.microsoft.com/office/drawing/2014/main" id="{91CAF834-1C53-018B-2BC9-D0333958A294}"/>
              </a:ext>
            </a:extLst>
          </p:cNvPr>
          <p:cNvSpPr/>
          <p:nvPr/>
        </p:nvSpPr>
        <p:spPr>
          <a:xfrm>
            <a:off x="531682" y="1389012"/>
            <a:ext cx="45719" cy="969390"/>
          </a:xfrm>
          <a:prstGeom prst="rect">
            <a:avLst/>
          </a:prstGeom>
          <a:solidFill>
            <a:srgbClr val="FCD3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 name="Google Shape;94;p14">
            <a:extLst>
              <a:ext uri="{FF2B5EF4-FFF2-40B4-BE49-F238E27FC236}">
                <a16:creationId xmlns:a16="http://schemas.microsoft.com/office/drawing/2014/main" id="{2E08D13A-83B8-CB1E-F7F1-E16B6081F051}"/>
              </a:ext>
            </a:extLst>
          </p:cNvPr>
          <p:cNvSpPr txBox="1"/>
          <p:nvPr/>
        </p:nvSpPr>
        <p:spPr>
          <a:xfrm>
            <a:off x="762000" y="150168"/>
            <a:ext cx="11186036" cy="523220"/>
          </a:xfrm>
          <a:prstGeom prst="rect">
            <a:avLst/>
          </a:prstGeom>
          <a:noFill/>
          <a:ln>
            <a:noFill/>
          </a:ln>
        </p:spPr>
        <p:txBody>
          <a:bodyPr spcFirstLastPara="1" wrap="square" lIns="0" tIns="0" rIns="0" bIns="0" anchor="t" anchorCtr="0">
            <a:spAutoFit/>
          </a:bodyPr>
          <a:lstStyle/>
          <a:p>
            <a:pPr lvl="0"/>
            <a:r>
              <a:rPr lang="es-GT" sz="3400" b="1" dirty="0">
                <a:solidFill>
                  <a:srgbClr val="00B0F0"/>
                </a:solidFill>
                <a:latin typeface="Aptos" panose="020B0004020202020204" pitchFamily="34" charset="0"/>
              </a:rPr>
              <a:t>Diseño por Capacidad de Elementos Adyacentes</a:t>
            </a:r>
            <a:endParaRPr lang="es-GT" sz="3400" b="1" dirty="0">
              <a:solidFill>
                <a:srgbClr val="00B0F0"/>
              </a:solidFill>
              <a:latin typeface="Aptos" panose="020B0004020202020204" pitchFamily="34" charset="0"/>
              <a:ea typeface="Montserrat"/>
              <a:cs typeface="Montserrat"/>
              <a:sym typeface="Montserrat"/>
            </a:endParaRPr>
          </a:p>
        </p:txBody>
      </p:sp>
      <p:sp>
        <p:nvSpPr>
          <p:cNvPr id="3" name="CuadroTexto 2">
            <a:extLst>
              <a:ext uri="{FF2B5EF4-FFF2-40B4-BE49-F238E27FC236}">
                <a16:creationId xmlns:a16="http://schemas.microsoft.com/office/drawing/2014/main" id="{F1DB6C79-1E48-F6AB-6592-AD3BDE68C5A0}"/>
              </a:ext>
            </a:extLst>
          </p:cNvPr>
          <p:cNvSpPr txBox="1"/>
          <p:nvPr/>
        </p:nvSpPr>
        <p:spPr>
          <a:xfrm>
            <a:off x="693174" y="673388"/>
            <a:ext cx="7910052" cy="430887"/>
          </a:xfrm>
          <a:prstGeom prst="rect">
            <a:avLst/>
          </a:prstGeom>
          <a:noFill/>
        </p:spPr>
        <p:txBody>
          <a:bodyPr wrap="square">
            <a:spAutoFit/>
          </a:bodyPr>
          <a:lstStyle/>
          <a:p>
            <a:r>
              <a:rPr lang="es-GT" sz="2200" b="1" dirty="0">
                <a:solidFill>
                  <a:schemeClr val="tx2">
                    <a:lumMod val="50000"/>
                  </a:schemeClr>
                </a:solidFill>
              </a:rPr>
              <a:t>Bloque 2: Diseño de la Viga cabezal y el Nodo</a:t>
            </a:r>
            <a:endParaRPr lang="es-GT" sz="2200" dirty="0">
              <a:solidFill>
                <a:schemeClr val="tx2">
                  <a:lumMod val="50000"/>
                </a:schemeClr>
              </a:solidFill>
            </a:endParaRPr>
          </a:p>
        </p:txBody>
      </p:sp>
    </p:spTree>
    <p:extLst>
      <p:ext uri="{BB962C8B-B14F-4D97-AF65-F5344CB8AC3E}">
        <p14:creationId xmlns:p14="http://schemas.microsoft.com/office/powerpoint/2010/main" val="32609348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pic>
        <p:nvPicPr>
          <p:cNvPr id="247" name="Google Shape;247;p2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48" name="Google Shape;248;p23"/>
          <p:cNvSpPr/>
          <p:nvPr/>
        </p:nvSpPr>
        <p:spPr>
          <a:xfrm>
            <a:off x="571500" y="2698551"/>
            <a:ext cx="11049000" cy="78477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9" name="Google Shape;249;p23"/>
          <p:cNvSpPr/>
          <p:nvPr/>
        </p:nvSpPr>
        <p:spPr>
          <a:xfrm>
            <a:off x="571500" y="3483322"/>
            <a:ext cx="11049000" cy="78477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0" name="Google Shape;250;p23"/>
          <p:cNvSpPr/>
          <p:nvPr/>
        </p:nvSpPr>
        <p:spPr>
          <a:xfrm>
            <a:off x="571500" y="3473797"/>
            <a:ext cx="1104900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2" name="Google Shape;252;p23"/>
          <p:cNvSpPr/>
          <p:nvPr/>
        </p:nvSpPr>
        <p:spPr>
          <a:xfrm>
            <a:off x="571500" y="4258567"/>
            <a:ext cx="1104900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3" name="Google Shape;253;p23"/>
          <p:cNvSpPr/>
          <p:nvPr/>
        </p:nvSpPr>
        <p:spPr>
          <a:xfrm>
            <a:off x="571500" y="4258567"/>
            <a:ext cx="1104900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3" name="Google Shape;263;p23"/>
          <p:cNvSpPr txBox="1"/>
          <p:nvPr/>
        </p:nvSpPr>
        <p:spPr>
          <a:xfrm>
            <a:off x="958646" y="3556835"/>
            <a:ext cx="6897329" cy="609398"/>
          </a:xfrm>
          <a:prstGeom prst="rect">
            <a:avLst/>
          </a:prstGeom>
          <a:noFill/>
          <a:ln>
            <a:noFill/>
          </a:ln>
        </p:spPr>
        <p:txBody>
          <a:bodyPr spcFirstLastPara="1" wrap="square" lIns="0" tIns="0" rIns="0" bIns="0" anchor="t" anchorCtr="0">
            <a:spAutoFit/>
          </a:bodyPr>
          <a:lstStyle/>
          <a:p>
            <a:pPr marL="0" marR="0" lvl="0" indent="0" algn="l" rtl="0">
              <a:lnSpc>
                <a:spcPct val="119969"/>
              </a:lnSpc>
              <a:spcBef>
                <a:spcPts val="0"/>
              </a:spcBef>
              <a:spcAft>
                <a:spcPts val="0"/>
              </a:spcAft>
              <a:buNone/>
            </a:pPr>
            <a:r>
              <a:rPr lang="en-US" sz="3300" b="1" dirty="0">
                <a:solidFill>
                  <a:srgbClr val="F8FAFC"/>
                </a:solidFill>
                <a:latin typeface="Montserrat"/>
                <a:sym typeface="Montserrat"/>
              </a:rPr>
              <a:t>Gracias </a:t>
            </a:r>
            <a:r>
              <a:rPr lang="en-US" sz="3300" b="1" dirty="0" err="1">
                <a:solidFill>
                  <a:srgbClr val="F8FAFC"/>
                </a:solidFill>
                <a:latin typeface="Montserrat"/>
                <a:sym typeface="Montserrat"/>
              </a:rPr>
              <a:t>por</a:t>
            </a:r>
            <a:r>
              <a:rPr lang="en-US" sz="3300" b="1" dirty="0">
                <a:solidFill>
                  <a:srgbClr val="F8FAFC"/>
                </a:solidFill>
                <a:latin typeface="Montserrat"/>
                <a:sym typeface="Montserrat"/>
              </a:rPr>
              <a:t> </a:t>
            </a:r>
            <a:r>
              <a:rPr lang="en-US" sz="3300" b="1" dirty="0" err="1">
                <a:solidFill>
                  <a:srgbClr val="F8FAFC"/>
                </a:solidFill>
                <a:latin typeface="Montserrat"/>
                <a:sym typeface="Montserrat"/>
              </a:rPr>
              <a:t>su</a:t>
            </a:r>
            <a:r>
              <a:rPr lang="en-US" sz="3300" b="1" dirty="0">
                <a:solidFill>
                  <a:srgbClr val="F8FAFC"/>
                </a:solidFill>
                <a:latin typeface="Montserrat"/>
                <a:sym typeface="Montserrat"/>
              </a:rPr>
              <a:t> </a:t>
            </a:r>
            <a:r>
              <a:rPr lang="en-US" sz="3300" b="1" dirty="0" err="1">
                <a:solidFill>
                  <a:srgbClr val="F8FAFC"/>
                </a:solidFill>
                <a:latin typeface="Montserrat"/>
                <a:sym typeface="Montserrat"/>
              </a:rPr>
              <a:t>atención</a:t>
            </a:r>
            <a:endParaRPr dirty="0"/>
          </a:p>
        </p:txBody>
      </p:sp>
      <p:sp>
        <p:nvSpPr>
          <p:cNvPr id="264" name="Google Shape;264;p23"/>
          <p:cNvSpPr/>
          <p:nvPr/>
        </p:nvSpPr>
        <p:spPr>
          <a:xfrm>
            <a:off x="699320" y="3571008"/>
            <a:ext cx="57150" cy="50289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5333</TotalTime>
  <Words>809</Words>
  <Application>Microsoft Office PowerPoint</Application>
  <PresentationFormat>Panorámica</PresentationFormat>
  <Paragraphs>44</Paragraphs>
  <Slides>7</Slides>
  <Notes>7</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7</vt:i4>
      </vt:variant>
    </vt:vector>
  </HeadingPairs>
  <TitlesOfParts>
    <vt:vector size="15" baseType="lpstr">
      <vt:lpstr>Calibri</vt:lpstr>
      <vt:lpstr>Inter Medium</vt:lpstr>
      <vt:lpstr>Montserrat</vt:lpstr>
      <vt:lpstr>Montserrat ExtraBold</vt:lpstr>
      <vt:lpstr>Aptos</vt:lpstr>
      <vt:lpstr>Cambria Math</vt:lpstr>
      <vt:lpstr>Arial</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Luis</cp:lastModifiedBy>
  <cp:revision>160</cp:revision>
  <dcterms:modified xsi:type="dcterms:W3CDTF">2026-10-10T04:51:47Z</dcterms:modified>
</cp:coreProperties>
</file>