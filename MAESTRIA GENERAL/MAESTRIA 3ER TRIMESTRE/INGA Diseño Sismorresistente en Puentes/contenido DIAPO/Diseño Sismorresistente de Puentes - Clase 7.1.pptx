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1"/>
  </p:notesMasterIdLst>
  <p:sldIdLst>
    <p:sldId id="256" r:id="rId2"/>
    <p:sldId id="316" r:id="rId3"/>
    <p:sldId id="319" r:id="rId4"/>
    <p:sldId id="320" r:id="rId5"/>
    <p:sldId id="321" r:id="rId6"/>
    <p:sldId id="322" r:id="rId7"/>
    <p:sldId id="323" r:id="rId8"/>
    <p:sldId id="325" r:id="rId9"/>
    <p:sldId id="266" r:id="rId10"/>
  </p:sldIdLst>
  <p:sldSz cx="12192000" cy="6858000"/>
  <p:notesSz cx="6858000" cy="9144000"/>
  <p:embeddedFontLst>
    <p:embeddedFont>
      <p:font typeface="Cambria Math" panose="02040503050406030204" pitchFamily="18" charset="0"/>
      <p:regular r:id="rId12"/>
    </p:embeddedFont>
    <p:embeddedFont>
      <p:font typeface="Inter Medium" panose="020B0604020202020204" charset="0"/>
      <p:regular r:id="rId13"/>
      <p:bold r:id="rId14"/>
      <p:italic r:id="rId15"/>
      <p:boldItalic r:id="rId16"/>
    </p:embeddedFont>
    <p:embeddedFont>
      <p:font typeface="Montserrat" panose="00000500000000000000" pitchFamily="2" charset="0"/>
      <p:regular r:id="rId17"/>
      <p:bold r:id="rId18"/>
      <p:italic r:id="rId19"/>
      <p:boldItalic r:id="rId20"/>
    </p:embeddedFont>
    <p:embeddedFont>
      <p:font typeface="Montserrat ExtraBold" panose="00000900000000000000" pitchFamily="2" charset="0"/>
      <p:bold r:id="rId21"/>
      <p:boldItalic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10.fntdata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font" Target="fonts/font1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>
          <a:extLst>
            <a:ext uri="{FF2B5EF4-FFF2-40B4-BE49-F238E27FC236}">
              <a16:creationId xmlns:a16="http://schemas.microsoft.com/office/drawing/2014/main" id="{1710A82A-23AB-58F0-1B63-5E41956C72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>
            <a:extLst>
              <a:ext uri="{FF2B5EF4-FFF2-40B4-BE49-F238E27FC236}">
                <a16:creationId xmlns:a16="http://schemas.microsoft.com/office/drawing/2014/main" id="{CF23D46C-B86B-FA9C-6B04-7AE33E67599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2:notes">
            <a:extLst>
              <a:ext uri="{FF2B5EF4-FFF2-40B4-BE49-F238E27FC236}">
                <a16:creationId xmlns:a16="http://schemas.microsoft.com/office/drawing/2014/main" id="{943655FA-1C55-DF8F-56EA-C4B5013DF43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5433793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>
          <a:extLst>
            <a:ext uri="{FF2B5EF4-FFF2-40B4-BE49-F238E27FC236}">
              <a16:creationId xmlns:a16="http://schemas.microsoft.com/office/drawing/2014/main" id="{ACACEF77-3784-6858-A623-3AAB64AA8E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>
            <a:extLst>
              <a:ext uri="{FF2B5EF4-FFF2-40B4-BE49-F238E27FC236}">
                <a16:creationId xmlns:a16="http://schemas.microsoft.com/office/drawing/2014/main" id="{C91FEAF8-D57F-1626-0980-566E21F78E7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2:notes">
            <a:extLst>
              <a:ext uri="{FF2B5EF4-FFF2-40B4-BE49-F238E27FC236}">
                <a16:creationId xmlns:a16="http://schemas.microsoft.com/office/drawing/2014/main" id="{00F476C2-514F-DFD2-FF40-2098DFFF6F3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63185638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>
          <a:extLst>
            <a:ext uri="{FF2B5EF4-FFF2-40B4-BE49-F238E27FC236}">
              <a16:creationId xmlns:a16="http://schemas.microsoft.com/office/drawing/2014/main" id="{579883F5-6B90-F46D-23A9-74B2AAE678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>
            <a:extLst>
              <a:ext uri="{FF2B5EF4-FFF2-40B4-BE49-F238E27FC236}">
                <a16:creationId xmlns:a16="http://schemas.microsoft.com/office/drawing/2014/main" id="{70110F1F-2DC6-5EF7-F7F6-F6AAE837D8A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2:notes">
            <a:extLst>
              <a:ext uri="{FF2B5EF4-FFF2-40B4-BE49-F238E27FC236}">
                <a16:creationId xmlns:a16="http://schemas.microsoft.com/office/drawing/2014/main" id="{55AFD2BF-4976-93B4-A9E1-26D3AB909D6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37309057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>
          <a:extLst>
            <a:ext uri="{FF2B5EF4-FFF2-40B4-BE49-F238E27FC236}">
              <a16:creationId xmlns:a16="http://schemas.microsoft.com/office/drawing/2014/main" id="{FA2E831C-57D3-5E16-5A7C-4842509667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>
            <a:extLst>
              <a:ext uri="{FF2B5EF4-FFF2-40B4-BE49-F238E27FC236}">
                <a16:creationId xmlns:a16="http://schemas.microsoft.com/office/drawing/2014/main" id="{6F3FFFC0-9B1F-DFA4-1642-6D4422CCAAC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2:notes">
            <a:extLst>
              <a:ext uri="{FF2B5EF4-FFF2-40B4-BE49-F238E27FC236}">
                <a16:creationId xmlns:a16="http://schemas.microsoft.com/office/drawing/2014/main" id="{EBA00CA7-D96E-D328-1FCE-DECC4BE4D21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8346806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>
          <a:extLst>
            <a:ext uri="{FF2B5EF4-FFF2-40B4-BE49-F238E27FC236}">
              <a16:creationId xmlns:a16="http://schemas.microsoft.com/office/drawing/2014/main" id="{64B83EB6-D6C8-101A-6C4E-8165D1B1A3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>
            <a:extLst>
              <a:ext uri="{FF2B5EF4-FFF2-40B4-BE49-F238E27FC236}">
                <a16:creationId xmlns:a16="http://schemas.microsoft.com/office/drawing/2014/main" id="{A30663E5-6764-23A7-C8F9-D6FEFE9E746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2:notes">
            <a:extLst>
              <a:ext uri="{FF2B5EF4-FFF2-40B4-BE49-F238E27FC236}">
                <a16:creationId xmlns:a16="http://schemas.microsoft.com/office/drawing/2014/main" id="{1327E036-5B35-44E7-D53C-3899EA3AA34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7128794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>
          <a:extLst>
            <a:ext uri="{FF2B5EF4-FFF2-40B4-BE49-F238E27FC236}">
              <a16:creationId xmlns:a16="http://schemas.microsoft.com/office/drawing/2014/main" id="{3A9631DC-A57C-3F16-9AB9-ABBB7A26B6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>
            <a:extLst>
              <a:ext uri="{FF2B5EF4-FFF2-40B4-BE49-F238E27FC236}">
                <a16:creationId xmlns:a16="http://schemas.microsoft.com/office/drawing/2014/main" id="{3F359776-2C48-F274-E52D-D466DAD051B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2:notes">
            <a:extLst>
              <a:ext uri="{FF2B5EF4-FFF2-40B4-BE49-F238E27FC236}">
                <a16:creationId xmlns:a16="http://schemas.microsoft.com/office/drawing/2014/main" id="{E5A974CC-7E31-12B0-DC5D-7C1A3D7154C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1759212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>
          <a:extLst>
            <a:ext uri="{FF2B5EF4-FFF2-40B4-BE49-F238E27FC236}">
              <a16:creationId xmlns:a16="http://schemas.microsoft.com/office/drawing/2014/main" id="{CFE57465-3EF9-EE7B-D9CA-59105A0106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>
            <a:extLst>
              <a:ext uri="{FF2B5EF4-FFF2-40B4-BE49-F238E27FC236}">
                <a16:creationId xmlns:a16="http://schemas.microsoft.com/office/drawing/2014/main" id="{A2C24470-7E99-FF9D-6343-06BF4C6D7FD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2:notes">
            <a:extLst>
              <a:ext uri="{FF2B5EF4-FFF2-40B4-BE49-F238E27FC236}">
                <a16:creationId xmlns:a16="http://schemas.microsoft.com/office/drawing/2014/main" id="{31A5663E-CE3C-1A94-957E-D3D8B28CDCB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9260525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5" name="Google Shape;245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990600" y="2728020"/>
            <a:ext cx="11201400" cy="1401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0" i="0" u="none" strike="noStrike" cap="none">
                <a:solidFill>
                  <a:srgbClr val="F8FAFC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Diseño Sismorresistente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800" b="0" i="0" u="none" strike="noStrike" cap="none">
                <a:solidFill>
                  <a:srgbClr val="F8FAFC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 de </a:t>
            </a:r>
            <a:r>
              <a:rPr lang="en-US" sz="4800" b="0" i="0" u="none" strike="noStrike" cap="none">
                <a:solidFill>
                  <a:srgbClr val="38BDF8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Puentes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952500" y="4347120"/>
            <a:ext cx="1066800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US" sz="1800" b="0" i="0" u="none" strike="noStrike" cap="none" dirty="0">
                <a:solidFill>
                  <a:schemeClr val="tx2">
                    <a:lumMod val="50000"/>
                  </a:schemeClr>
                </a:solidFill>
                <a:latin typeface="Inter Medium"/>
                <a:ea typeface="Inter Medium"/>
                <a:cs typeface="Inter Medium"/>
                <a:sym typeface="Inter Medium"/>
              </a:rPr>
              <a:t>Clase 7.1</a:t>
            </a:r>
            <a:r>
              <a:rPr lang="en-US" sz="1800" dirty="0">
                <a:solidFill>
                  <a:schemeClr val="tx2">
                    <a:lumMod val="50000"/>
                  </a:schemeClr>
                </a:solidFill>
                <a:latin typeface="Inter Medium"/>
                <a:ea typeface="Inter Medium"/>
                <a:cs typeface="Inter Medium"/>
                <a:sym typeface="Inter Medium"/>
              </a:rPr>
              <a:t>: </a:t>
            </a:r>
            <a:r>
              <a:rPr lang="es-GT" sz="1800" dirty="0">
                <a:solidFill>
                  <a:schemeClr val="tx2">
                    <a:lumMod val="50000"/>
                  </a:schemeClr>
                </a:solidFill>
              </a:rPr>
              <a:t>Introducción a la Fase 2</a:t>
            </a:r>
            <a:endParaRPr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88" name="Google Shape;88;p13"/>
          <p:cNvSpPr txBox="1"/>
          <p:nvPr/>
        </p:nvSpPr>
        <p:spPr>
          <a:xfrm>
            <a:off x="1040350" y="5677470"/>
            <a:ext cx="10668000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 err="1">
                <a:solidFill>
                  <a:srgbClr val="94A3B8"/>
                </a:solidFill>
                <a:latin typeface="Inter Medium"/>
                <a:ea typeface="Inter Medium"/>
                <a:cs typeface="Inter Medium"/>
                <a:sym typeface="Inter Medium"/>
              </a:rPr>
              <a:t>Msc</a:t>
            </a:r>
            <a:r>
              <a:rPr lang="en-US" sz="1800" dirty="0">
                <a:solidFill>
                  <a:srgbClr val="94A3B8"/>
                </a:solidFill>
                <a:latin typeface="Inter Medium"/>
                <a:ea typeface="Inter Medium"/>
                <a:cs typeface="Inter Medium"/>
                <a:sym typeface="Inter Medium"/>
              </a:rPr>
              <a:t>. Cindy Carolina Colomo De León  						10/10/26</a:t>
            </a:r>
            <a:endParaRPr dirty="0"/>
          </a:p>
        </p:txBody>
      </p:sp>
      <p:sp>
        <p:nvSpPr>
          <p:cNvPr id="3" name="Google Shape;87;p13">
            <a:extLst>
              <a:ext uri="{FF2B5EF4-FFF2-40B4-BE49-F238E27FC236}">
                <a16:creationId xmlns:a16="http://schemas.microsoft.com/office/drawing/2014/main" id="{DC544CEF-DA07-7A1B-2E12-64AAD0F5B105}"/>
              </a:ext>
            </a:extLst>
          </p:cNvPr>
          <p:cNvSpPr txBox="1"/>
          <p:nvPr/>
        </p:nvSpPr>
        <p:spPr>
          <a:xfrm>
            <a:off x="952500" y="2012620"/>
            <a:ext cx="10668000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0070C0"/>
                </a:solidFill>
                <a:latin typeface="Inter Medium"/>
                <a:ea typeface="Inter Medium"/>
                <a:cs typeface="Inter Medium"/>
                <a:sym typeface="Inter Medium"/>
              </a:rPr>
              <a:t>MAESTR</a:t>
            </a:r>
            <a:r>
              <a:rPr lang="es-GT" sz="1800" dirty="0">
                <a:solidFill>
                  <a:srgbClr val="0070C0"/>
                </a:solidFill>
                <a:latin typeface="Inter Medium"/>
                <a:ea typeface="Inter Medium"/>
                <a:cs typeface="Inter Medium"/>
                <a:sym typeface="Inter Medium"/>
              </a:rPr>
              <a:t>ÍA EN INGENIERÍA ESTRUCTURAL Y SISMORRESISTENTE - CUNOC</a:t>
            </a:r>
            <a:endParaRPr dirty="0">
              <a:solidFill>
                <a:srgbClr val="0070C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>
          <a:extLst>
            <a:ext uri="{FF2B5EF4-FFF2-40B4-BE49-F238E27FC236}">
              <a16:creationId xmlns:a16="http://schemas.microsoft.com/office/drawing/2014/main" id="{606EDA71-0C90-4DC5-D4CD-479935A4A4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4" descr="image.png">
            <a:extLst>
              <a:ext uri="{FF2B5EF4-FFF2-40B4-BE49-F238E27FC236}">
                <a16:creationId xmlns:a16="http://schemas.microsoft.com/office/drawing/2014/main" id="{C4FA53A7-C8BC-D1C5-55B8-C206A39730C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4">
            <a:extLst>
              <a:ext uri="{FF2B5EF4-FFF2-40B4-BE49-F238E27FC236}">
                <a16:creationId xmlns:a16="http://schemas.microsoft.com/office/drawing/2014/main" id="{D56654BC-200D-DDF2-A6E0-358F0B5F9498}"/>
              </a:ext>
            </a:extLst>
          </p:cNvPr>
          <p:cNvSpPr/>
          <p:nvPr/>
        </p:nvSpPr>
        <p:spPr>
          <a:xfrm>
            <a:off x="542924" y="103763"/>
            <a:ext cx="57150" cy="90668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108;p15" descr="image.png">
            <a:extLst>
              <a:ext uri="{FF2B5EF4-FFF2-40B4-BE49-F238E27FC236}">
                <a16:creationId xmlns:a16="http://schemas.microsoft.com/office/drawing/2014/main" id="{C43F9E56-13F3-62AB-457B-8B0580183F77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82728" y="1159577"/>
            <a:ext cx="11426544" cy="5443648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CuadroTexto 10">
            <a:extLst>
              <a:ext uri="{FF2B5EF4-FFF2-40B4-BE49-F238E27FC236}">
                <a16:creationId xmlns:a16="http://schemas.microsoft.com/office/drawing/2014/main" id="{9F75B90F-EC67-E8CA-9ED3-7DC3F9176660}"/>
              </a:ext>
            </a:extLst>
          </p:cNvPr>
          <p:cNvSpPr txBox="1"/>
          <p:nvPr/>
        </p:nvSpPr>
        <p:spPr>
          <a:xfrm>
            <a:off x="762001" y="1348800"/>
            <a:ext cx="10194577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GT" sz="2200" b="1" dirty="0">
                <a:solidFill>
                  <a:srgbClr val="00B0F0"/>
                </a:solidFill>
                <a:latin typeface="Aptos" panose="020B0004020202020204" pitchFamily="34" charset="0"/>
              </a:rPr>
              <a:t>Paso 1: </a:t>
            </a:r>
            <a:r>
              <a:rPr lang="es-GT" sz="2200" b="1" dirty="0">
                <a:solidFill>
                  <a:schemeClr val="bg1"/>
                </a:solidFill>
                <a:latin typeface="Aptos" panose="020B0004020202020204" pitchFamily="34" charset="0"/>
              </a:rPr>
              <a:t>Identificación de la Pila Crítica y Longitud Tributaria</a:t>
            </a:r>
          </a:p>
          <a:p>
            <a:endParaRPr lang="es-GT" sz="2200" b="1" dirty="0">
              <a:solidFill>
                <a:schemeClr val="bg1"/>
              </a:solidFill>
              <a:latin typeface="Aptos" panose="020B0004020202020204" pitchFamily="34" charset="0"/>
            </a:endParaRPr>
          </a:p>
          <a:p>
            <a:endParaRPr lang="es-GT" sz="2200" b="1" dirty="0">
              <a:solidFill>
                <a:schemeClr val="bg1"/>
              </a:solidFill>
              <a:latin typeface="Aptos" panose="020B0004020202020204" pitchFamily="34" charset="0"/>
            </a:endParaRPr>
          </a:p>
          <a:p>
            <a:endParaRPr lang="es-GT" sz="2200" b="1" dirty="0">
              <a:solidFill>
                <a:schemeClr val="bg1"/>
              </a:solidFill>
              <a:latin typeface="Aptos" panose="020B0004020202020204" pitchFamily="34" charset="0"/>
            </a:endParaRPr>
          </a:p>
          <a:p>
            <a:endParaRPr lang="es-GT" sz="2200" b="1" dirty="0">
              <a:solidFill>
                <a:schemeClr val="bg1"/>
              </a:solidFill>
              <a:latin typeface="Aptos" panose="020B0004020202020204" pitchFamily="34" charset="0"/>
            </a:endParaRPr>
          </a:p>
          <a:p>
            <a:endParaRPr lang="es-GT" sz="2200" b="1" dirty="0">
              <a:solidFill>
                <a:schemeClr val="bg1"/>
              </a:solidFill>
              <a:latin typeface="Aptos" panose="020B0004020202020204" pitchFamily="34" charset="0"/>
            </a:endParaRPr>
          </a:p>
          <a:p>
            <a:endParaRPr lang="es-GT" sz="2200" b="1" dirty="0">
              <a:solidFill>
                <a:schemeClr val="bg1"/>
              </a:solidFill>
              <a:latin typeface="Aptos" panose="020B0004020202020204" pitchFamily="34" charset="0"/>
            </a:endParaRPr>
          </a:p>
          <a:p>
            <a:endParaRPr lang="es-GT" sz="2200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99" name="Google Shape;99;p14">
            <a:extLst>
              <a:ext uri="{FF2B5EF4-FFF2-40B4-BE49-F238E27FC236}">
                <a16:creationId xmlns:a16="http://schemas.microsoft.com/office/drawing/2014/main" id="{17FE408D-E291-B2A7-F4DF-960004DC70E6}"/>
              </a:ext>
            </a:extLst>
          </p:cNvPr>
          <p:cNvSpPr/>
          <p:nvPr/>
        </p:nvSpPr>
        <p:spPr>
          <a:xfrm>
            <a:off x="571499" y="1457838"/>
            <a:ext cx="45719" cy="969390"/>
          </a:xfrm>
          <a:prstGeom prst="rect">
            <a:avLst/>
          </a:prstGeom>
          <a:solidFill>
            <a:srgbClr val="FCD34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Google Shape;94;p14">
            <a:extLst>
              <a:ext uri="{FF2B5EF4-FFF2-40B4-BE49-F238E27FC236}">
                <a16:creationId xmlns:a16="http://schemas.microsoft.com/office/drawing/2014/main" id="{F29B04DE-2D7D-80B1-EFF5-7BD28A2006D9}"/>
              </a:ext>
            </a:extLst>
          </p:cNvPr>
          <p:cNvSpPr txBox="1"/>
          <p:nvPr/>
        </p:nvSpPr>
        <p:spPr>
          <a:xfrm>
            <a:off x="762000" y="150168"/>
            <a:ext cx="11186036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s-GT" sz="3400" b="1" dirty="0">
                <a:solidFill>
                  <a:srgbClr val="00B0F0"/>
                </a:solidFill>
                <a:latin typeface="Aptos" panose="020B0004020202020204" pitchFamily="34" charset="0"/>
              </a:rPr>
              <a:t>Introducción a la fase 2</a:t>
            </a:r>
            <a:endParaRPr lang="es-GT" sz="3400" b="1" dirty="0">
              <a:solidFill>
                <a:srgbClr val="00B0F0"/>
              </a:solidFill>
              <a:latin typeface="Aptos" panose="020B0004020202020204" pitchFamily="34" charset="0"/>
              <a:ea typeface="Montserrat"/>
              <a:cs typeface="Montserrat"/>
              <a:sym typeface="Montserrat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16E5C0D2-1607-7105-814E-757186F5A1E2}"/>
              </a:ext>
            </a:extLst>
          </p:cNvPr>
          <p:cNvSpPr txBox="1"/>
          <p:nvPr/>
        </p:nvSpPr>
        <p:spPr>
          <a:xfrm>
            <a:off x="693173" y="673388"/>
            <a:ext cx="7654413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GT" sz="2200" b="1" dirty="0">
                <a:solidFill>
                  <a:schemeClr val="tx2">
                    <a:lumMod val="50000"/>
                  </a:schemeClr>
                </a:solidFill>
              </a:rPr>
              <a:t>Geometría y cargas</a:t>
            </a:r>
            <a:endParaRPr lang="es-GT" sz="2200" dirty="0">
              <a:solidFill>
                <a:schemeClr val="tx2">
                  <a:lumMod val="50000"/>
                </a:schemeClr>
              </a:solidFill>
            </a:endParaRP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927721B1-0FBE-2596-C88E-D0C4267B75D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26496" y="1835923"/>
            <a:ext cx="9179156" cy="4589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26998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>
          <a:extLst>
            <a:ext uri="{FF2B5EF4-FFF2-40B4-BE49-F238E27FC236}">
              <a16:creationId xmlns:a16="http://schemas.microsoft.com/office/drawing/2014/main" id="{D520E6BB-A705-6DEE-A3F2-98AED19942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4" descr="image.png">
            <a:extLst>
              <a:ext uri="{FF2B5EF4-FFF2-40B4-BE49-F238E27FC236}">
                <a16:creationId xmlns:a16="http://schemas.microsoft.com/office/drawing/2014/main" id="{8532ABE6-E51C-11AA-6867-3971B8ED9A3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4">
            <a:extLst>
              <a:ext uri="{FF2B5EF4-FFF2-40B4-BE49-F238E27FC236}">
                <a16:creationId xmlns:a16="http://schemas.microsoft.com/office/drawing/2014/main" id="{38890803-2CE3-C65B-BCB4-930FDF153568}"/>
              </a:ext>
            </a:extLst>
          </p:cNvPr>
          <p:cNvSpPr/>
          <p:nvPr/>
        </p:nvSpPr>
        <p:spPr>
          <a:xfrm>
            <a:off x="542924" y="103763"/>
            <a:ext cx="57150" cy="90668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108;p15" descr="image.png">
            <a:extLst>
              <a:ext uri="{FF2B5EF4-FFF2-40B4-BE49-F238E27FC236}">
                <a16:creationId xmlns:a16="http://schemas.microsoft.com/office/drawing/2014/main" id="{1E9F6284-D06E-1C71-C2ED-DF515FA0F83F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82728" y="1159577"/>
            <a:ext cx="11426544" cy="5443648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A3CA7696-F944-1BB0-3D50-3BAB96BC4DF0}"/>
                  </a:ext>
                </a:extLst>
              </p:cNvPr>
              <p:cNvSpPr txBox="1"/>
              <p:nvPr/>
            </p:nvSpPr>
            <p:spPr>
              <a:xfrm>
                <a:off x="762002" y="1348801"/>
                <a:ext cx="10858500" cy="483209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s-GT" sz="2200" b="1" dirty="0">
                    <a:solidFill>
                      <a:srgbClr val="00B0F0"/>
                    </a:solidFill>
                    <a:latin typeface="Aptos" panose="020B0004020202020204" pitchFamily="34" charset="0"/>
                  </a:rPr>
                  <a:t>Paso 2: </a:t>
                </a:r>
                <a:r>
                  <a:rPr lang="es-GT" sz="2200" b="1" dirty="0">
                    <a:solidFill>
                      <a:schemeClr val="bg1"/>
                    </a:solidFill>
                    <a:latin typeface="Aptos" panose="020B0004020202020204" pitchFamily="34" charset="0"/>
                  </a:rPr>
                  <a:t>Esquema Geométrico y Pesos Volumétricos</a:t>
                </a:r>
              </a:p>
              <a:p>
                <a:pPr algn="just"/>
                <a:r>
                  <a:rPr lang="es-GT" sz="2200" dirty="0">
                    <a:solidFill>
                      <a:schemeClr val="bg1"/>
                    </a:solidFill>
                    <a:latin typeface="Aptos" panose="020B0004020202020204" pitchFamily="34" charset="0"/>
                  </a:rPr>
                  <a:t>Definimos las dimensiones preliminares del marco rígido y superestructura, asumiendo una sección transversal típica y pesos específicos estándar para concretos y pavimentos normativos:</a:t>
                </a:r>
              </a:p>
              <a:p>
                <a:pPr algn="just"/>
                <a:endParaRPr lang="es-GT" sz="2200" dirty="0">
                  <a:solidFill>
                    <a:schemeClr val="bg1"/>
                  </a:solidFill>
                  <a:latin typeface="Aptos" panose="020B0004020202020204" pitchFamily="34" charset="0"/>
                </a:endParaRPr>
              </a:p>
              <a:p>
                <a:pPr lvl="0" algn="just"/>
                <a:r>
                  <a:rPr lang="es-GT" sz="2200" b="1" dirty="0">
                    <a:solidFill>
                      <a:schemeClr val="tx2">
                        <a:lumMod val="50000"/>
                      </a:schemeClr>
                    </a:solidFill>
                    <a:latin typeface="Aptos" panose="020B0004020202020204" pitchFamily="34" charset="0"/>
                  </a:rPr>
                  <a:t>Ancho total de superestructura:</a:t>
                </a:r>
                <a:r>
                  <a:rPr lang="es-GT" sz="2200" dirty="0">
                    <a:solidFill>
                      <a:schemeClr val="tx2">
                        <a:lumMod val="50000"/>
                      </a:schemeClr>
                    </a:solidFill>
                    <a:latin typeface="Aptos" panose="020B0004020202020204" pitchFamily="34" charset="0"/>
                  </a:rPr>
                  <a:t> </a:t>
                </a:r>
                <a:r>
                  <a:rPr lang="es-GT" sz="2200" dirty="0">
                    <a:solidFill>
                      <a:schemeClr val="bg1"/>
                    </a:solidFill>
                    <a:latin typeface="Aptos" panose="020B0004020202020204" pitchFamily="34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s-GT" sz="22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7.20</m:t>
                    </m:r>
                  </m:oMath>
                </a14:m>
                <a:r>
                  <a:rPr lang="es-GT" sz="2200" dirty="0">
                    <a:solidFill>
                      <a:schemeClr val="bg1"/>
                    </a:solidFill>
                    <a:latin typeface="Aptos" panose="020B0004020202020204" pitchFamily="34" charset="0"/>
                  </a:rPr>
                  <a:t> de calzada + </a:t>
                </a:r>
                <a14:m>
                  <m:oMath xmlns:m="http://schemas.openxmlformats.org/officeDocument/2006/math">
                    <m:r>
                      <a:rPr lang="es-GT" sz="22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2.40</m:t>
                    </m:r>
                  </m:oMath>
                </a14:m>
                <a:r>
                  <a:rPr lang="es-GT" sz="2200" dirty="0">
                    <a:solidFill>
                      <a:schemeClr val="bg1"/>
                    </a:solidFill>
                    <a:latin typeface="Aptos" panose="020B0004020202020204" pitchFamily="34" charset="0"/>
                  </a:rPr>
                  <a:t> de aceras).</a:t>
                </a:r>
              </a:p>
              <a:p>
                <a:pPr lvl="0" algn="just"/>
                <a:r>
                  <a:rPr lang="es-GT" sz="2200" b="1" dirty="0">
                    <a:solidFill>
                      <a:schemeClr val="tx2">
                        <a:lumMod val="50000"/>
                      </a:schemeClr>
                    </a:solidFill>
                    <a:latin typeface="Aptos" panose="020B0004020202020204" pitchFamily="34" charset="0"/>
                  </a:rPr>
                  <a:t>Espesor de losa de rodadura:</a:t>
                </a:r>
                <a:r>
                  <a:rPr lang="es-GT" sz="2200" dirty="0">
                    <a:solidFill>
                      <a:schemeClr val="tx2">
                        <a:lumMod val="50000"/>
                      </a:schemeClr>
                    </a:solidFill>
                    <a:latin typeface="Aptos" panose="020B00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s-GT" sz="22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0.20</m:t>
                    </m:r>
                  </m:oMath>
                </a14:m>
                <a:r>
                  <a:rPr lang="es-GT" sz="2200" dirty="0">
                    <a:solidFill>
                      <a:schemeClr val="bg1"/>
                    </a:solidFill>
                    <a:latin typeface="Aptos" panose="020B0004020202020204" pitchFamily="34" charset="0"/>
                  </a:rPr>
                  <a:t> m</a:t>
                </a:r>
              </a:p>
              <a:p>
                <a:pPr lvl="0" algn="just"/>
                <a:r>
                  <a:rPr lang="es-GT" sz="2200" b="1" dirty="0">
                    <a:solidFill>
                      <a:schemeClr val="tx2">
                        <a:lumMod val="50000"/>
                      </a:schemeClr>
                    </a:solidFill>
                    <a:latin typeface="Aptos" panose="020B0004020202020204" pitchFamily="34" charset="0"/>
                  </a:rPr>
                  <a:t>Vigas principales:</a:t>
                </a:r>
                <a:r>
                  <a:rPr lang="es-GT" sz="2200" dirty="0">
                    <a:solidFill>
                      <a:schemeClr val="tx2">
                        <a:lumMod val="50000"/>
                      </a:schemeClr>
                    </a:solidFill>
                    <a:latin typeface="Aptos" panose="020B0004020202020204" pitchFamily="34" charset="0"/>
                  </a:rPr>
                  <a:t> </a:t>
                </a:r>
                <a:r>
                  <a:rPr lang="es-GT" sz="2200" dirty="0">
                    <a:solidFill>
                      <a:schemeClr val="bg1"/>
                    </a:solidFill>
                    <a:latin typeface="Aptos" panose="020B0004020202020204" pitchFamily="34" charset="0"/>
                  </a:rPr>
                  <a:t>Asumiremos </a:t>
                </a:r>
                <a14:m>
                  <m:oMath xmlns:m="http://schemas.openxmlformats.org/officeDocument/2006/math">
                    <m:r>
                      <a:rPr lang="es-GT" sz="22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lang="es-GT" sz="2200" dirty="0">
                    <a:solidFill>
                      <a:schemeClr val="bg1"/>
                    </a:solidFill>
                    <a:latin typeface="Aptos" panose="020B0004020202020204" pitchFamily="34" charset="0"/>
                  </a:rPr>
                  <a:t> vigas AASHTO Tipo IV o V.</a:t>
                </a:r>
              </a:p>
              <a:p>
                <a:pPr algn="just"/>
                <a:r>
                  <a:rPr lang="es-GT" sz="2200" b="1" dirty="0">
                    <a:solidFill>
                      <a:schemeClr val="tx2">
                        <a:lumMod val="50000"/>
                      </a:schemeClr>
                    </a:solidFill>
                    <a:latin typeface="Aptos" panose="020B0004020202020204" pitchFamily="34" charset="0"/>
                  </a:rPr>
                  <a:t>Viga Cabezal:</a:t>
                </a:r>
                <a:r>
                  <a:rPr lang="es-GT" sz="2200" dirty="0">
                    <a:solidFill>
                      <a:schemeClr val="tx2">
                        <a:lumMod val="50000"/>
                      </a:schemeClr>
                    </a:solidFill>
                    <a:latin typeface="Aptos" panose="020B00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s-GT" sz="22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1.50×1.50×9.60</m:t>
                    </m:r>
                  </m:oMath>
                </a14:m>
                <a:r>
                  <a:rPr lang="es-GT" sz="2200" dirty="0">
                    <a:solidFill>
                      <a:schemeClr val="bg1"/>
                    </a:solidFill>
                    <a:latin typeface="Aptos" panose="020B000402020202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s-GT" sz="22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1.</m:t>
                    </m:r>
                    <m:r>
                      <a:rPr lang="es-GT" sz="22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s-GT" sz="22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0×1.</m:t>
                    </m:r>
                    <m:r>
                      <a:rPr lang="es-GT" sz="22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s-GT" sz="22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0×9.60</m:t>
                    </m:r>
                  </m:oMath>
                </a14:m>
                <a:r>
                  <a:rPr lang="es-GT" sz="2200" dirty="0">
                    <a:solidFill>
                      <a:schemeClr val="bg1"/>
                    </a:solidFill>
                    <a:latin typeface="Aptos" panose="020B0004020202020204" pitchFamily="34" charset="0"/>
                  </a:rPr>
                  <a:t>,</a:t>
                </a:r>
              </a:p>
              <a:p>
                <a:pPr algn="just"/>
                <a:endParaRPr lang="es-GT" sz="2200" dirty="0">
                  <a:solidFill>
                    <a:schemeClr val="bg1"/>
                  </a:solidFill>
                  <a:latin typeface="Aptos" panose="020B0004020202020204" pitchFamily="34" charset="0"/>
                </a:endParaRPr>
              </a:p>
              <a:p>
                <a:pPr lvl="0" algn="just"/>
                <a:r>
                  <a:rPr lang="es-GT" sz="2200" b="1" dirty="0">
                    <a:solidFill>
                      <a:schemeClr val="tx2">
                        <a:lumMod val="50000"/>
                      </a:schemeClr>
                    </a:solidFill>
                    <a:latin typeface="Aptos" panose="020B0004020202020204" pitchFamily="34" charset="0"/>
                  </a:rPr>
                  <a:t>Columnas:</a:t>
                </a:r>
                <a:r>
                  <a:rPr lang="es-GT" sz="2200" dirty="0">
                    <a:solidFill>
                      <a:schemeClr val="tx2">
                        <a:lumMod val="50000"/>
                      </a:schemeClr>
                    </a:solidFill>
                    <a:latin typeface="Aptos" panose="020B0004020202020204" pitchFamily="34" charset="0"/>
                  </a:rPr>
                  <a:t> </a:t>
                </a:r>
                <a:r>
                  <a:rPr lang="es-GT" sz="2200" dirty="0">
                    <a:solidFill>
                      <a:schemeClr val="bg1"/>
                    </a:solidFill>
                    <a:latin typeface="Aptos" panose="020B0004020202020204" pitchFamily="34" charset="0"/>
                  </a:rPr>
                  <a:t>2 columnas circulares de </a:t>
                </a:r>
                <a14:m>
                  <m:oMath xmlns:m="http://schemas.openxmlformats.org/officeDocument/2006/math">
                    <m:r>
                      <a:rPr lang="es-GT" sz="22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1.20</m:t>
                    </m:r>
                  </m:oMath>
                </a14:m>
                <a:r>
                  <a:rPr lang="es-GT" sz="2200" dirty="0">
                    <a:solidFill>
                      <a:schemeClr val="bg1"/>
                    </a:solidFill>
                    <a:latin typeface="Aptos" panose="020B0004020202020204" pitchFamily="34" charset="0"/>
                  </a:rPr>
                  <a:t> a 1.50m de diámetro, con altura libre asumida de </a:t>
                </a:r>
                <a14:m>
                  <m:oMath xmlns:m="http://schemas.openxmlformats.org/officeDocument/2006/math">
                    <m:r>
                      <a:rPr lang="es-GT" sz="22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6.00</m:t>
                    </m:r>
                  </m:oMath>
                </a14:m>
                <a:r>
                  <a:rPr lang="es-GT" sz="2200" dirty="0">
                    <a:solidFill>
                      <a:schemeClr val="bg1"/>
                    </a:solidFill>
                    <a:latin typeface="Aptos" panose="020B0004020202020204" pitchFamily="34" charset="0"/>
                  </a:rPr>
                  <a:t>, 7.00 m, 8.00 m.</a:t>
                </a:r>
              </a:p>
              <a:p>
                <a:pPr lvl="0" algn="just"/>
                <a:r>
                  <a:rPr lang="es-GT" sz="2200" b="1" dirty="0">
                    <a:solidFill>
                      <a:schemeClr val="tx2">
                        <a:lumMod val="50000"/>
                      </a:schemeClr>
                    </a:solidFill>
                    <a:latin typeface="Aptos" panose="020B0004020202020204" pitchFamily="34" charset="0"/>
                  </a:rPr>
                  <a:t>Pesos específicos (</a:t>
                </a:r>
                <a14:m>
                  <m:oMath xmlns:m="http://schemas.openxmlformats.org/officeDocument/2006/math">
                    <m:r>
                      <a:rPr lang="es-GT" sz="2200" i="1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𝛾</m:t>
                    </m:r>
                  </m:oMath>
                </a14:m>
                <a:r>
                  <a:rPr lang="es-GT" sz="2200" b="1" dirty="0">
                    <a:solidFill>
                      <a:schemeClr val="tx2">
                        <a:lumMod val="50000"/>
                      </a:schemeClr>
                    </a:solidFill>
                    <a:latin typeface="Aptos" panose="020B0004020202020204" pitchFamily="34" charset="0"/>
                  </a:rPr>
                  <a:t>):</a:t>
                </a:r>
                <a:r>
                  <a:rPr lang="es-GT" sz="2200" dirty="0">
                    <a:solidFill>
                      <a:schemeClr val="tx2">
                        <a:lumMod val="50000"/>
                      </a:schemeClr>
                    </a:solidFill>
                    <a:latin typeface="Aptos" panose="020B0004020202020204" pitchFamily="34" charset="0"/>
                  </a:rPr>
                  <a:t> </a:t>
                </a:r>
                <a:r>
                  <a:rPr lang="es-GT" sz="2200" dirty="0">
                    <a:solidFill>
                      <a:schemeClr val="bg1"/>
                    </a:solidFill>
                    <a:latin typeface="Aptos" panose="020B0004020202020204" pitchFamily="34" charset="0"/>
                  </a:rPr>
                  <a:t>Concreto reforzado </a:t>
                </a:r>
                <a14:m>
                  <m:oMath xmlns:m="http://schemas.openxmlformats.org/officeDocument/2006/math">
                    <m:r>
                      <a:rPr lang="es-GT" sz="22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=24</m:t>
                    </m:r>
                    <m:sSup>
                      <m:sSupPr>
                        <m:ctrlPr>
                          <a:rPr lang="es-GT" sz="2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GT" sz="2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𝐾𝑁</m:t>
                        </m:r>
                        <m:r>
                          <a:rPr lang="es-GT" sz="2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s-GT" sz="2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s-GT" sz="22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lang="es-GT" sz="2200" dirty="0">
                    <a:solidFill>
                      <a:schemeClr val="bg1"/>
                    </a:solidFill>
                    <a:latin typeface="Aptos" panose="020B0004020202020204" pitchFamily="34" charset="0"/>
                  </a:rPr>
                  <a:t>; Asfalto </a:t>
                </a:r>
                <a14:m>
                  <m:oMath xmlns:m="http://schemas.openxmlformats.org/officeDocument/2006/math">
                    <m:r>
                      <a:rPr lang="es-GT" sz="22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=22.5</m:t>
                    </m:r>
                    <m:r>
                      <a:rPr lang="es-GT" sz="22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𝐾𝑁</m:t>
                    </m:r>
                    <m:r>
                      <a:rPr lang="es-GT" sz="22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/</m:t>
                    </m:r>
                    <m:sSup>
                      <m:sSupPr>
                        <m:ctrlPr>
                          <a:rPr lang="es-GT" sz="2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GT" sz="2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s-GT" sz="22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lang="es-GT" sz="2200" dirty="0">
                    <a:solidFill>
                      <a:schemeClr val="bg1"/>
                    </a:solidFill>
                    <a:latin typeface="Aptos" panose="020B0004020202020204" pitchFamily="34" charset="0"/>
                  </a:rPr>
                  <a:t> (3.5.1-1)</a:t>
                </a:r>
              </a:p>
              <a:p>
                <a:endParaRPr lang="es-GT" sz="2200" b="1" dirty="0">
                  <a:solidFill>
                    <a:schemeClr val="bg1"/>
                  </a:solidFill>
                  <a:latin typeface="Aptos" panose="020B0004020202020204" pitchFamily="34" charset="0"/>
                </a:endParaRPr>
              </a:p>
            </p:txBody>
          </p:sp>
        </mc:Choice>
        <mc:Fallback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A3CA7696-F944-1BB0-3D50-3BAB96BC4D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2" y="1348801"/>
                <a:ext cx="10858500" cy="4832092"/>
              </a:xfrm>
              <a:prstGeom prst="rect">
                <a:avLst/>
              </a:prstGeom>
              <a:blipFill>
                <a:blip r:embed="rId5"/>
                <a:stretch>
                  <a:fillRect l="-730" t="-757" r="-730"/>
                </a:stretch>
              </a:blipFill>
            </p:spPr>
            <p:txBody>
              <a:bodyPr/>
              <a:lstStyle/>
              <a:p>
                <a:r>
                  <a:rPr lang="es-G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9" name="Google Shape;99;p14">
            <a:extLst>
              <a:ext uri="{FF2B5EF4-FFF2-40B4-BE49-F238E27FC236}">
                <a16:creationId xmlns:a16="http://schemas.microsoft.com/office/drawing/2014/main" id="{CD64B5FD-AF82-59DB-8DF7-A8D31B37AFD7}"/>
              </a:ext>
            </a:extLst>
          </p:cNvPr>
          <p:cNvSpPr/>
          <p:nvPr/>
        </p:nvSpPr>
        <p:spPr>
          <a:xfrm>
            <a:off x="571499" y="1457838"/>
            <a:ext cx="45719" cy="969390"/>
          </a:xfrm>
          <a:prstGeom prst="rect">
            <a:avLst/>
          </a:prstGeom>
          <a:solidFill>
            <a:srgbClr val="FCD34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Google Shape;94;p14">
            <a:extLst>
              <a:ext uri="{FF2B5EF4-FFF2-40B4-BE49-F238E27FC236}">
                <a16:creationId xmlns:a16="http://schemas.microsoft.com/office/drawing/2014/main" id="{C0A07609-200F-E54C-75CE-B3A9F2BDFFCD}"/>
              </a:ext>
            </a:extLst>
          </p:cNvPr>
          <p:cNvSpPr txBox="1"/>
          <p:nvPr/>
        </p:nvSpPr>
        <p:spPr>
          <a:xfrm>
            <a:off x="762000" y="150168"/>
            <a:ext cx="11186036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s-GT" sz="3400" b="1" dirty="0">
                <a:solidFill>
                  <a:srgbClr val="00B0F0"/>
                </a:solidFill>
                <a:latin typeface="Aptos" panose="020B0004020202020204" pitchFamily="34" charset="0"/>
              </a:rPr>
              <a:t>Introducción a la fase 2</a:t>
            </a:r>
            <a:endParaRPr lang="es-GT" sz="3400" b="1" dirty="0">
              <a:solidFill>
                <a:srgbClr val="00B0F0"/>
              </a:solidFill>
              <a:latin typeface="Aptos" panose="020B0004020202020204" pitchFamily="34" charset="0"/>
              <a:ea typeface="Montserrat"/>
              <a:cs typeface="Montserrat"/>
              <a:sym typeface="Montserrat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FF6880B5-DA58-05FA-C408-EBB77FBE0FA8}"/>
              </a:ext>
            </a:extLst>
          </p:cNvPr>
          <p:cNvSpPr txBox="1"/>
          <p:nvPr/>
        </p:nvSpPr>
        <p:spPr>
          <a:xfrm>
            <a:off x="693173" y="673388"/>
            <a:ext cx="7654413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GT" sz="2200" b="1" dirty="0">
                <a:solidFill>
                  <a:schemeClr val="tx2">
                    <a:lumMod val="50000"/>
                  </a:schemeClr>
                </a:solidFill>
              </a:rPr>
              <a:t>Geometría y cargas</a:t>
            </a:r>
            <a:endParaRPr lang="es-GT" sz="2200" dirty="0">
              <a:solidFill>
                <a:schemeClr val="tx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765869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>
          <a:extLst>
            <a:ext uri="{FF2B5EF4-FFF2-40B4-BE49-F238E27FC236}">
              <a16:creationId xmlns:a16="http://schemas.microsoft.com/office/drawing/2014/main" id="{B0B71283-81B7-25BF-883C-21450F852A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4" descr="image.png">
            <a:extLst>
              <a:ext uri="{FF2B5EF4-FFF2-40B4-BE49-F238E27FC236}">
                <a16:creationId xmlns:a16="http://schemas.microsoft.com/office/drawing/2014/main" id="{934D73DD-E363-25DD-3067-B8C45C29DD2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4">
            <a:extLst>
              <a:ext uri="{FF2B5EF4-FFF2-40B4-BE49-F238E27FC236}">
                <a16:creationId xmlns:a16="http://schemas.microsoft.com/office/drawing/2014/main" id="{9DD06891-EF06-40E2-C9D2-D6068795F594}"/>
              </a:ext>
            </a:extLst>
          </p:cNvPr>
          <p:cNvSpPr/>
          <p:nvPr/>
        </p:nvSpPr>
        <p:spPr>
          <a:xfrm>
            <a:off x="542924" y="103763"/>
            <a:ext cx="57150" cy="90668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108;p15" descr="image.png">
            <a:extLst>
              <a:ext uri="{FF2B5EF4-FFF2-40B4-BE49-F238E27FC236}">
                <a16:creationId xmlns:a16="http://schemas.microsoft.com/office/drawing/2014/main" id="{230E7653-A8C8-F37B-51AA-E8C33AA2F7F1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82728" y="1159577"/>
            <a:ext cx="11426544" cy="5443648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8E6417B0-EA56-CF6B-70D7-4A9B4B956757}"/>
                  </a:ext>
                </a:extLst>
              </p:cNvPr>
              <p:cNvSpPr txBox="1"/>
              <p:nvPr/>
            </p:nvSpPr>
            <p:spPr>
              <a:xfrm>
                <a:off x="693173" y="1196608"/>
                <a:ext cx="10927327" cy="483209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s-GT" sz="2200" b="1" dirty="0">
                    <a:solidFill>
                      <a:srgbClr val="00B0F0"/>
                    </a:solidFill>
                    <a:latin typeface="Aptos" panose="020B0004020202020204" pitchFamily="34" charset="0"/>
                  </a:rPr>
                  <a:t>Paso 3: </a:t>
                </a:r>
                <a:r>
                  <a:rPr lang="es-GT" sz="2200" b="1" dirty="0">
                    <a:solidFill>
                      <a:schemeClr val="bg1"/>
                    </a:solidFill>
                    <a:latin typeface="Aptos" panose="020B0004020202020204" pitchFamily="34" charset="0"/>
                  </a:rPr>
                  <a:t>Bajada de Cargas de la Superestructura </a:t>
                </a:r>
              </a:p>
              <a:p>
                <a:pPr algn="just"/>
                <a:r>
                  <a:rPr lang="es-GT" sz="2200" dirty="0">
                    <a:solidFill>
                      <a:schemeClr val="bg1"/>
                    </a:solidFill>
                    <a:latin typeface="Aptos" panose="020B0004020202020204" pitchFamily="34" charset="0"/>
                  </a:rPr>
                  <a:t>Calculamos el peso distribuido longitudinalmente (</a:t>
                </a:r>
                <a14:m>
                  <m:oMath xmlns:m="http://schemas.openxmlformats.org/officeDocument/2006/math">
                    <m:r>
                      <a:rPr lang="es-GT" sz="22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es-GT" sz="2200" dirty="0">
                    <a:solidFill>
                      <a:schemeClr val="bg1"/>
                    </a:solidFill>
                    <a:latin typeface="Aptos" panose="020B0004020202020204" pitchFamily="34" charset="0"/>
                  </a:rPr>
                  <a:t>) que la superestructura ejerce antes de multiplicarlo por la longitud tributaria.</a:t>
                </a:r>
              </a:p>
              <a:p>
                <a:pPr algn="just"/>
                <a:endParaRPr lang="es-GT" sz="2200" dirty="0">
                  <a:solidFill>
                    <a:schemeClr val="bg1"/>
                  </a:solidFill>
                  <a:latin typeface="Aptos" panose="020B0004020202020204" pitchFamily="34" charset="0"/>
                </a:endParaRPr>
              </a:p>
              <a:p>
                <a:pPr algn="just"/>
                <a:r>
                  <a:rPr lang="es-GT" sz="2200" b="1" dirty="0">
                    <a:solidFill>
                      <a:schemeClr val="tx2">
                        <a:lumMod val="50000"/>
                      </a:schemeClr>
                    </a:solidFill>
                    <a:latin typeface="Aptos" panose="020B0004020202020204" pitchFamily="34" charset="0"/>
                  </a:rPr>
                  <a:t>Cargas Muertas Estructurales (DC):</a:t>
                </a:r>
                <a:endParaRPr lang="es-GT" sz="2200" dirty="0">
                  <a:solidFill>
                    <a:schemeClr val="tx2">
                      <a:lumMod val="50000"/>
                    </a:schemeClr>
                  </a:solidFill>
                  <a:latin typeface="Aptos" panose="020B0004020202020204" pitchFamily="34" charset="0"/>
                </a:endParaRPr>
              </a:p>
              <a:p>
                <a:pPr lvl="0" algn="just"/>
                <a:r>
                  <a:rPr lang="es-GT" sz="2200" dirty="0">
                    <a:solidFill>
                      <a:schemeClr val="bg1"/>
                    </a:solidFill>
                    <a:latin typeface="Aptos" panose="020B0004020202020204" pitchFamily="34" charset="0"/>
                  </a:rPr>
                  <a:t>Losa de concreto: Espesor  </a:t>
                </a:r>
                <a14:m>
                  <m:oMath xmlns:m="http://schemas.openxmlformats.org/officeDocument/2006/math">
                    <m:r>
                      <a:rPr lang="es-GT" sz="22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s-GT" sz="22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ancho</m:t>
                    </m:r>
                    <m:r>
                      <a:rPr lang="es-GT" sz="22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s-GT" sz="22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total</m:t>
                    </m:r>
                    <m:r>
                      <a:rPr lang="es-GT" sz="22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s-GT" sz="22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superestructura</m:t>
                    </m:r>
                    <m:r>
                      <a:rPr lang="es-GT" sz="22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s-GT" sz="22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peso</m:t>
                    </m:r>
                    <m:r>
                      <a:rPr lang="es-GT" sz="22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s-GT" sz="22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espec</m:t>
                    </m:r>
                    <m:r>
                      <a:rPr lang="es-GT" sz="22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í</m:t>
                    </m:r>
                    <m:r>
                      <m:rPr>
                        <m:sty m:val="p"/>
                      </m:rPr>
                      <a:rPr lang="es-GT" sz="22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fico</m:t>
                    </m:r>
                    <m:r>
                      <a:rPr lang="es-GT" sz="22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s-GT" sz="2200" dirty="0">
                    <a:solidFill>
                      <a:schemeClr val="bg1"/>
                    </a:solidFill>
                    <a:latin typeface="Aptos" panose="020B00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s-GT" sz="2200" i="0" smtClean="0">
                        <a:solidFill>
                          <a:schemeClr val="bg1"/>
                        </a:solidFill>
                        <a:latin typeface="Aptos" panose="020B0004020202020204" pitchFamily="34" charset="0"/>
                      </a:rPr>
                      <m:t>kN/m</m:t>
                    </m:r>
                  </m:oMath>
                </a14:m>
                <a:endParaRPr lang="es-GT" sz="2200" dirty="0">
                  <a:solidFill>
                    <a:schemeClr val="bg1"/>
                  </a:solidFill>
                  <a:latin typeface="Aptos" panose="020B0004020202020204" pitchFamily="34" charset="0"/>
                </a:endParaRPr>
              </a:p>
              <a:p>
                <a:pPr algn="just"/>
                <a:r>
                  <a:rPr lang="es-GT" sz="2200" dirty="0">
                    <a:solidFill>
                      <a:schemeClr val="bg1"/>
                    </a:solidFill>
                    <a:latin typeface="Aptos" panose="020B0004020202020204" pitchFamily="34" charset="0"/>
                  </a:rPr>
                  <a:t>Vigas AASHTO (</a:t>
                </a:r>
                <a14:m>
                  <m:oMath xmlns:m="http://schemas.openxmlformats.org/officeDocument/2006/math">
                    <m:r>
                      <a:rPr lang="es-GT" sz="22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lang="es-GT" sz="2200" dirty="0">
                    <a:solidFill>
                      <a:schemeClr val="bg1"/>
                    </a:solidFill>
                    <a:latin typeface="Aptos" panose="020B0004020202020204" pitchFamily="34" charset="0"/>
                  </a:rPr>
                  <a:t> unidades): </a:t>
                </a:r>
                <a14:m>
                  <m:oMath xmlns:m="http://schemas.openxmlformats.org/officeDocument/2006/math">
                    <m:r>
                      <a:rPr lang="es-GT" sz="22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4⋅</m:t>
                    </m:r>
                    <m:r>
                      <a:rPr lang="es-GT" sz="22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á</m:t>
                    </m:r>
                    <m:r>
                      <m:rPr>
                        <m:sty m:val="p"/>
                      </m:rPr>
                      <a:rPr lang="es-GT" sz="22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rea</m:t>
                    </m:r>
                    <m:r>
                      <a:rPr lang="es-GT" sz="22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s-GT" sz="22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aprox</m:t>
                    </m:r>
                    <m:r>
                      <a:rPr lang="es-GT" sz="22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. </m:t>
                    </m:r>
                    <m:r>
                      <m:rPr>
                        <m:sty m:val="p"/>
                      </m:rPr>
                      <a:rPr lang="es-GT" sz="22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por</m:t>
                    </m:r>
                    <m:r>
                      <a:rPr lang="es-GT" sz="22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s-GT" sz="22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viga</m:t>
                    </m:r>
                  </m:oMath>
                </a14:m>
                <a:r>
                  <a:rPr lang="es-GT" sz="2200" dirty="0">
                    <a:solidFill>
                      <a:schemeClr val="bg1"/>
                    </a:solidFill>
                    <a:latin typeface="Aptos" panose="020B00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s-GT" sz="22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⋅</m:t>
                    </m:r>
                  </m:oMath>
                </a14:m>
                <a:r>
                  <a:rPr lang="es-GT" sz="2200" dirty="0">
                    <a:solidFill>
                      <a:schemeClr val="bg1"/>
                    </a:solidFill>
                    <a:latin typeface="Aptos" panose="020B0004020202020204" pitchFamily="34" charset="0"/>
                  </a:rPr>
                  <a:t> peso específico =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s-GT" sz="2200" i="0">
                        <a:solidFill>
                          <a:schemeClr val="bg1"/>
                        </a:solidFill>
                        <a:latin typeface="Aptos" panose="020B0004020202020204" pitchFamily="34" charset="0"/>
                      </a:rPr>
                      <m:t>kN/m</m:t>
                    </m:r>
                  </m:oMath>
                </a14:m>
                <a:endParaRPr lang="es-GT" sz="2200" dirty="0">
                  <a:solidFill>
                    <a:schemeClr val="bg1"/>
                  </a:solidFill>
                  <a:latin typeface="Aptos" panose="020B0004020202020204" pitchFamily="34" charset="0"/>
                </a:endParaRPr>
              </a:p>
              <a:p>
                <a:pPr algn="just"/>
                <a:r>
                  <a:rPr lang="es-GT" sz="2200" dirty="0">
                    <a:solidFill>
                      <a:schemeClr val="bg1"/>
                    </a:solidFill>
                    <a:latin typeface="Aptos" panose="020B0004020202020204" pitchFamily="34" charset="0"/>
                  </a:rPr>
                  <a:t>Barreras de concreto (asumiendo (ancho) c/u): </a:t>
                </a:r>
                <a14:m>
                  <m:oMath xmlns:m="http://schemas.openxmlformats.org/officeDocument/2006/math">
                    <m:r>
                      <a:rPr lang="es-GT" sz="22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2⋅</m:t>
                    </m:r>
                    <m:r>
                      <m:rPr>
                        <m:sty m:val="p"/>
                      </m:rPr>
                      <a:rPr lang="es-GT" sz="22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ancho</m:t>
                    </m:r>
                    <m:r>
                      <a:rPr lang="es-GT" sz="22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s-GT" sz="2200" b="0" i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s-GT" sz="2200" b="0" i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m</m:t>
                        </m:r>
                      </m:e>
                      <m:sup>
                        <m:r>
                          <a:rPr lang="es-GT" sz="2200" i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s-GT" sz="22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s-GT" sz="22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peso</m:t>
                    </m:r>
                    <m:r>
                      <a:rPr lang="es-GT" sz="22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s-GT" sz="22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espec</m:t>
                    </m:r>
                    <m:r>
                      <a:rPr lang="es-GT" sz="22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í</m:t>
                    </m:r>
                    <m:r>
                      <m:rPr>
                        <m:sty m:val="p"/>
                      </m:rPr>
                      <a:rPr lang="es-GT" sz="22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fico</m:t>
                    </m:r>
                    <m:r>
                      <a:rPr lang="es-GT" sz="22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s-GT" sz="22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s-GT" sz="2200" i="0">
                        <a:solidFill>
                          <a:schemeClr val="bg1"/>
                        </a:solidFill>
                        <a:latin typeface="Aptos" panose="020B0004020202020204" pitchFamily="34" charset="0"/>
                      </a:rPr>
                      <m:t>kN/m</m:t>
                    </m:r>
                  </m:oMath>
                </a14:m>
                <a:endParaRPr lang="es-GT" sz="2200" dirty="0">
                  <a:solidFill>
                    <a:schemeClr val="bg1"/>
                  </a:solidFill>
                  <a:latin typeface="Aptos" panose="020B0004020202020204" pitchFamily="34" charset="0"/>
                </a:endParaRPr>
              </a:p>
              <a:p>
                <a:pPr algn="just"/>
                <a:endParaRPr lang="es-GT" sz="2200" dirty="0">
                  <a:solidFill>
                    <a:schemeClr val="bg1"/>
                  </a:solidFill>
                  <a:latin typeface="Aptos" panose="020B0004020202020204" pitchFamily="34" charset="0"/>
                </a:endParaRPr>
              </a:p>
              <a:p>
                <a:pPr algn="just"/>
                <a:r>
                  <a:rPr lang="es-GT" sz="2200" b="1" dirty="0">
                    <a:solidFill>
                      <a:schemeClr val="bg1"/>
                    </a:solidFill>
                    <a:latin typeface="Aptos" panose="020B0004020202020204" pitchFamily="34" charset="0"/>
                  </a:rPr>
                  <a:t>Total Superestructura DC:</a:t>
                </a:r>
                <a:r>
                  <a:rPr lang="es-GT" sz="2200" dirty="0">
                    <a:solidFill>
                      <a:schemeClr val="bg1"/>
                    </a:solidFill>
                    <a:latin typeface="Aptos" panose="020B00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s-GT" sz="2200" i="0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L</m:t>
                    </m:r>
                    <m:r>
                      <m:rPr>
                        <m:sty m:val="p"/>
                      </m:rPr>
                      <a:rPr lang="es-GT" sz="2200" b="0" i="0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osa</m:t>
                    </m:r>
                    <m:r>
                      <a:rPr lang="es-GT" sz="2200" b="0" i="0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s-GT" sz="2200" b="0" i="0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de</m:t>
                    </m:r>
                    <m:r>
                      <a:rPr lang="es-GT" sz="2200" b="0" i="0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s-GT" sz="2200" b="0" i="0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concreto</m:t>
                    </m:r>
                    <m:r>
                      <a:rPr lang="es-GT" sz="2200" i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s-GT" sz="22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vigas</m:t>
                    </m:r>
                    <m:r>
                      <a:rPr lang="es-GT" sz="22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s-GT" sz="22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AASHTO</m:t>
                    </m:r>
                    <m:r>
                      <a:rPr lang="es-GT" sz="2200" i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s-GT" sz="22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Barreras</m:t>
                    </m:r>
                    <m:r>
                      <a:rPr lang="es-GT" sz="22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s-GT" sz="22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de</m:t>
                    </m:r>
                    <m:r>
                      <a:rPr lang="es-GT" sz="22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s-GT" sz="22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concreto</m:t>
                    </m:r>
                    <m:r>
                      <a:rPr lang="es-GT" sz="2200" i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s-GT" sz="22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s-GT" sz="2200" i="0">
                        <a:solidFill>
                          <a:schemeClr val="bg1"/>
                        </a:solidFill>
                        <a:latin typeface="Aptos" panose="020B0004020202020204" pitchFamily="34" charset="0"/>
                      </a:rPr>
                      <m:t>kN/m</m:t>
                    </m:r>
                  </m:oMath>
                </a14:m>
                <a:endParaRPr lang="es-GT" sz="2200" dirty="0">
                  <a:solidFill>
                    <a:schemeClr val="bg1"/>
                  </a:solidFill>
                  <a:latin typeface="Aptos" panose="020B0004020202020204" pitchFamily="34" charset="0"/>
                </a:endParaRPr>
              </a:p>
              <a:p>
                <a:pPr lvl="0" algn="just"/>
                <a:endParaRPr lang="es-GT" sz="2200" dirty="0">
                  <a:solidFill>
                    <a:schemeClr val="bg1"/>
                  </a:solidFill>
                  <a:latin typeface="Aptos" panose="020B0004020202020204" pitchFamily="34" charset="0"/>
                </a:endParaRPr>
              </a:p>
              <a:p>
                <a:pPr algn="just"/>
                <a:r>
                  <a:rPr lang="es-GT" sz="2200" b="1" dirty="0">
                    <a:solidFill>
                      <a:schemeClr val="tx2">
                        <a:lumMod val="50000"/>
                      </a:schemeClr>
                    </a:solidFill>
                    <a:latin typeface="Aptos" panose="020B0004020202020204" pitchFamily="34" charset="0"/>
                  </a:rPr>
                  <a:t>Carga Muerta Sobreimpuesta (DW - Asfalto de </a:t>
                </a:r>
                <a14:m>
                  <m:oMath xmlns:m="http://schemas.openxmlformats.org/officeDocument/2006/math">
                    <m:r>
                      <a:rPr lang="es-GT" sz="2200" i="1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0.05</m:t>
                    </m:r>
                  </m:oMath>
                </a14:m>
                <a:r>
                  <a:rPr lang="es-GT" sz="2200" b="1" dirty="0">
                    <a:solidFill>
                      <a:schemeClr val="tx2">
                        <a:lumMod val="50000"/>
                      </a:schemeClr>
                    </a:solidFill>
                    <a:latin typeface="Aptos" panose="020B0004020202020204" pitchFamily="34" charset="0"/>
                  </a:rPr>
                  <a:t>):</a:t>
                </a:r>
                <a:endParaRPr lang="es-GT" sz="2200" dirty="0">
                  <a:solidFill>
                    <a:schemeClr val="tx2">
                      <a:lumMod val="50000"/>
                    </a:schemeClr>
                  </a:solidFill>
                  <a:latin typeface="Aptos" panose="020B0004020202020204" pitchFamily="34" charset="0"/>
                </a:endParaRPr>
              </a:p>
              <a:p>
                <a:pPr algn="just"/>
                <a:r>
                  <a:rPr lang="es-GT" sz="2200" dirty="0">
                    <a:solidFill>
                      <a:schemeClr val="bg1"/>
                    </a:solidFill>
                    <a:latin typeface="Aptos" panose="020B0004020202020204" pitchFamily="34" charset="0"/>
                  </a:rPr>
                  <a:t>Capa de rodadura: </a:t>
                </a:r>
                <a14:m>
                  <m:oMath xmlns:m="http://schemas.openxmlformats.org/officeDocument/2006/math">
                    <m:r>
                      <a:rPr lang="es-GT" sz="22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0.05⋅</m:t>
                    </m:r>
                    <m:r>
                      <m:rPr>
                        <m:sty m:val="p"/>
                      </m:rPr>
                      <a:rPr lang="es-GT" sz="22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Barreras</m:t>
                    </m:r>
                    <m:r>
                      <a:rPr lang="es-GT" sz="22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s-GT" sz="22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de</m:t>
                    </m:r>
                    <m:r>
                      <a:rPr lang="es-GT" sz="22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s-GT" sz="22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concreto</m:t>
                    </m:r>
                    <m:r>
                      <a:rPr lang="es-GT" sz="22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s-GT" sz="22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peso</m:t>
                    </m:r>
                    <m:r>
                      <a:rPr lang="es-GT" sz="22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s-GT" sz="22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espec</m:t>
                    </m:r>
                    <m:r>
                      <a:rPr lang="es-GT" sz="22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í</m:t>
                    </m:r>
                    <m:r>
                      <m:rPr>
                        <m:sty m:val="p"/>
                      </m:rPr>
                      <a:rPr lang="es-GT" sz="22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fico</m:t>
                    </m:r>
                    <m:r>
                      <a:rPr lang="es-GT" sz="22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s-GT" sz="22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asfalto</m:t>
                    </m:r>
                    <m:r>
                      <a:rPr lang="es-GT" sz="22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s-GT" sz="2200" b="0" i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s-GT" sz="2200" b="0" i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m</m:t>
                        </m:r>
                      </m:e>
                      <m:sup>
                        <m:r>
                          <a:rPr lang="es-GT" sz="22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s-GT" sz="22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s-GT" sz="2200" dirty="0">
                    <a:solidFill>
                      <a:schemeClr val="bg1"/>
                    </a:solidFill>
                    <a:latin typeface="Aptos" panose="020B00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s-GT" sz="2200" i="0">
                        <a:solidFill>
                          <a:schemeClr val="bg1"/>
                        </a:solidFill>
                        <a:latin typeface="Aptos" panose="020B0004020202020204" pitchFamily="34" charset="0"/>
                      </a:rPr>
                      <m:t>kN/m</m:t>
                    </m:r>
                  </m:oMath>
                </a14:m>
                <a:endParaRPr lang="es-GT" sz="2200" dirty="0">
                  <a:solidFill>
                    <a:schemeClr val="bg1"/>
                  </a:solidFill>
                  <a:latin typeface="Aptos" panose="020B0004020202020204" pitchFamily="34" charset="0"/>
                </a:endParaRPr>
              </a:p>
            </p:txBody>
          </p:sp>
        </mc:Choice>
        <mc:Fallback xmlns=""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8E6417B0-EA56-CF6B-70D7-4A9B4B9567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3173" y="1196608"/>
                <a:ext cx="10927327" cy="4832092"/>
              </a:xfrm>
              <a:prstGeom prst="rect">
                <a:avLst/>
              </a:prstGeom>
              <a:blipFill>
                <a:blip r:embed="rId5"/>
                <a:stretch>
                  <a:fillRect l="-725" t="-757" r="-781" b="-1765"/>
                </a:stretch>
              </a:blipFill>
            </p:spPr>
            <p:txBody>
              <a:bodyPr/>
              <a:lstStyle/>
              <a:p>
                <a:r>
                  <a:rPr lang="es-G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9" name="Google Shape;99;p14">
            <a:extLst>
              <a:ext uri="{FF2B5EF4-FFF2-40B4-BE49-F238E27FC236}">
                <a16:creationId xmlns:a16="http://schemas.microsoft.com/office/drawing/2014/main" id="{5EBA78AF-01A9-6B0C-E3E5-4512E1C22B7D}"/>
              </a:ext>
            </a:extLst>
          </p:cNvPr>
          <p:cNvSpPr/>
          <p:nvPr/>
        </p:nvSpPr>
        <p:spPr>
          <a:xfrm>
            <a:off x="571499" y="1457838"/>
            <a:ext cx="45719" cy="969390"/>
          </a:xfrm>
          <a:prstGeom prst="rect">
            <a:avLst/>
          </a:prstGeom>
          <a:solidFill>
            <a:srgbClr val="FCD34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Google Shape;94;p14">
            <a:extLst>
              <a:ext uri="{FF2B5EF4-FFF2-40B4-BE49-F238E27FC236}">
                <a16:creationId xmlns:a16="http://schemas.microsoft.com/office/drawing/2014/main" id="{948FE97C-9889-7BE8-FEC6-14A4EE5280FD}"/>
              </a:ext>
            </a:extLst>
          </p:cNvPr>
          <p:cNvSpPr txBox="1"/>
          <p:nvPr/>
        </p:nvSpPr>
        <p:spPr>
          <a:xfrm>
            <a:off x="762000" y="150168"/>
            <a:ext cx="11186036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s-GT" sz="3400" b="1" dirty="0">
                <a:solidFill>
                  <a:srgbClr val="00B0F0"/>
                </a:solidFill>
                <a:latin typeface="Aptos" panose="020B0004020202020204" pitchFamily="34" charset="0"/>
              </a:rPr>
              <a:t>Introducción a la fase 2</a:t>
            </a:r>
            <a:endParaRPr lang="es-GT" sz="3400" b="1" dirty="0">
              <a:solidFill>
                <a:srgbClr val="00B0F0"/>
              </a:solidFill>
              <a:latin typeface="Aptos" panose="020B0004020202020204" pitchFamily="34" charset="0"/>
              <a:ea typeface="Montserrat"/>
              <a:cs typeface="Montserrat"/>
              <a:sym typeface="Montserrat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ACFF59D3-E8DB-BEC9-52AD-34A1AC6026FD}"/>
              </a:ext>
            </a:extLst>
          </p:cNvPr>
          <p:cNvSpPr txBox="1"/>
          <p:nvPr/>
        </p:nvSpPr>
        <p:spPr>
          <a:xfrm>
            <a:off x="693173" y="673388"/>
            <a:ext cx="7654413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GT" sz="2200" b="1" dirty="0">
                <a:solidFill>
                  <a:schemeClr val="tx2">
                    <a:lumMod val="50000"/>
                  </a:schemeClr>
                </a:solidFill>
              </a:rPr>
              <a:t>Geometría y cargas</a:t>
            </a:r>
            <a:endParaRPr lang="es-GT" sz="2200" dirty="0">
              <a:solidFill>
                <a:schemeClr val="tx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27079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>
          <a:extLst>
            <a:ext uri="{FF2B5EF4-FFF2-40B4-BE49-F238E27FC236}">
              <a16:creationId xmlns:a16="http://schemas.microsoft.com/office/drawing/2014/main" id="{5AC2BC17-E985-39EE-1244-6F66C68980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4" descr="image.png">
            <a:extLst>
              <a:ext uri="{FF2B5EF4-FFF2-40B4-BE49-F238E27FC236}">
                <a16:creationId xmlns:a16="http://schemas.microsoft.com/office/drawing/2014/main" id="{F8459BF5-87CF-4C49-5054-6965AA28FDF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4">
            <a:extLst>
              <a:ext uri="{FF2B5EF4-FFF2-40B4-BE49-F238E27FC236}">
                <a16:creationId xmlns:a16="http://schemas.microsoft.com/office/drawing/2014/main" id="{C20A97EF-9804-3CFF-DFB1-848538615786}"/>
              </a:ext>
            </a:extLst>
          </p:cNvPr>
          <p:cNvSpPr/>
          <p:nvPr/>
        </p:nvSpPr>
        <p:spPr>
          <a:xfrm>
            <a:off x="542924" y="103763"/>
            <a:ext cx="57150" cy="90668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108;p15" descr="image.png">
            <a:extLst>
              <a:ext uri="{FF2B5EF4-FFF2-40B4-BE49-F238E27FC236}">
                <a16:creationId xmlns:a16="http://schemas.microsoft.com/office/drawing/2014/main" id="{D8ACCEE0-5BE6-0D7F-233B-34216B4A99D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82728" y="1159577"/>
            <a:ext cx="11426544" cy="5443648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1AD94B15-7697-6138-896F-56123CF2C7D4}"/>
                  </a:ext>
                </a:extLst>
              </p:cNvPr>
              <p:cNvSpPr txBox="1"/>
              <p:nvPr/>
            </p:nvSpPr>
            <p:spPr>
              <a:xfrm>
                <a:off x="693174" y="1196608"/>
                <a:ext cx="10879890" cy="517064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s-GT" sz="2200" b="1" dirty="0">
                    <a:solidFill>
                      <a:srgbClr val="00B0F0"/>
                    </a:solidFill>
                    <a:latin typeface="Aptos" panose="020B0004020202020204" pitchFamily="34" charset="0"/>
                  </a:rPr>
                  <a:t>Paso 4: </a:t>
                </a:r>
                <a:r>
                  <a:rPr lang="es-GT" sz="2200" b="1" dirty="0">
                    <a:solidFill>
                      <a:schemeClr val="bg1"/>
                    </a:solidFill>
                    <a:latin typeface="Aptos" panose="020B0004020202020204" pitchFamily="34" charset="0"/>
                  </a:rPr>
                  <a:t>Concentración de Cargas en el Marco Rígido (Pila Crítica)</a:t>
                </a:r>
              </a:p>
              <a:p>
                <a:pPr algn="just"/>
                <a:r>
                  <a:rPr lang="es-GT" sz="2200" dirty="0">
                    <a:solidFill>
                      <a:schemeClr val="bg1"/>
                    </a:solidFill>
                    <a:latin typeface="Aptos" panose="020B0004020202020204" pitchFamily="34" charset="0"/>
                  </a:rPr>
                  <a:t>Multiplicamos las cargas lineales por la longitud tributaria (</a:t>
                </a:r>
                <a14:m>
                  <m:oMath xmlns:m="http://schemas.openxmlformats.org/officeDocument/2006/math">
                    <m:r>
                      <a:rPr lang="es-GT" sz="22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26.25</m:t>
                    </m:r>
                    <m:r>
                      <m:rPr>
                        <m:sty m:val="p"/>
                      </m:rPr>
                      <a:rPr lang="es-GT" sz="22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m</m:t>
                    </m:r>
                  </m:oMath>
                </a14:m>
                <a:r>
                  <a:rPr lang="es-GT" sz="2200" dirty="0">
                    <a:solidFill>
                      <a:schemeClr val="bg1"/>
                    </a:solidFill>
                    <a:latin typeface="Aptos" panose="020B0004020202020204" pitchFamily="34" charset="0"/>
                  </a:rPr>
                  <a:t>) para obtener la reacción total que la superestructura descarga sobre la viga cabezal:</a:t>
                </a:r>
              </a:p>
              <a:p>
                <a:pPr algn="just"/>
                <a:endParaRPr lang="es-GT" sz="2200" dirty="0">
                  <a:solidFill>
                    <a:schemeClr val="bg1"/>
                  </a:solidFill>
                  <a:latin typeface="Aptos" panose="020B0004020202020204" pitchFamily="34" charset="0"/>
                </a:endParaRPr>
              </a:p>
              <a:p>
                <a:pPr lvl="0" algn="just"/>
                <a:r>
                  <a:rPr lang="es-GT" sz="2200" dirty="0">
                    <a:solidFill>
                      <a:schemeClr val="tx2">
                        <a:lumMod val="50000"/>
                      </a:schemeClr>
                    </a:solidFill>
                    <a:latin typeface="Aptos" panose="020B0004020202020204" pitchFamily="34" charset="0"/>
                  </a:rPr>
                  <a:t>Reacción total por DC: </a:t>
                </a:r>
                <a:r>
                  <a:rPr lang="es-GT" sz="2200" dirty="0">
                    <a:solidFill>
                      <a:schemeClr val="bg1"/>
                    </a:solidFill>
                    <a:latin typeface="Aptos" panose="020B0004020202020204" pitchFamily="34" charset="0"/>
                  </a:rPr>
                  <a:t>Total Superestructura DC </a:t>
                </a:r>
                <a14:m>
                  <m:oMath xmlns:m="http://schemas.openxmlformats.org/officeDocument/2006/math">
                    <m:r>
                      <a:rPr lang="es-GT" sz="22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⋅26.25</m:t>
                    </m:r>
                    <m:r>
                      <m:rPr>
                        <m:sty m:val="p"/>
                      </m:rPr>
                      <a:rPr lang="es-GT" sz="22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m</m:t>
                    </m:r>
                    <m:r>
                      <a:rPr lang="es-GT" sz="22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s-GT" sz="2200" dirty="0">
                    <a:solidFill>
                      <a:schemeClr val="bg1"/>
                    </a:solidFill>
                    <a:latin typeface="Aptos" panose="020B00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s-GT" sz="2200" i="0" smtClean="0">
                        <a:solidFill>
                          <a:schemeClr val="bg1"/>
                        </a:solidFill>
                        <a:latin typeface="Aptos" panose="020B0004020202020204" pitchFamily="34" charset="0"/>
                      </a:rPr>
                      <m:t>kN</m:t>
                    </m:r>
                  </m:oMath>
                </a14:m>
                <a:endParaRPr lang="es-GT" sz="2200" dirty="0">
                  <a:solidFill>
                    <a:schemeClr val="bg1"/>
                  </a:solidFill>
                  <a:latin typeface="Aptos" panose="020B0004020202020204" pitchFamily="34" charset="0"/>
                </a:endParaRPr>
              </a:p>
              <a:p>
                <a:pPr lvl="0" algn="just"/>
                <a:r>
                  <a:rPr lang="es-GT" sz="2200" dirty="0">
                    <a:solidFill>
                      <a:schemeClr val="tx2">
                        <a:lumMod val="50000"/>
                      </a:schemeClr>
                    </a:solidFill>
                    <a:latin typeface="Aptos" panose="020B0004020202020204" pitchFamily="34" charset="0"/>
                  </a:rPr>
                  <a:t>Reacción total por DW: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s-GT" sz="2200" i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C</m:t>
                    </m:r>
                    <m:r>
                      <m:rPr>
                        <m:sty m:val="p"/>
                      </m:rPr>
                      <a:rPr lang="es-GT" sz="22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apa</m:t>
                    </m:r>
                    <m:r>
                      <a:rPr lang="es-GT" sz="22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s-GT" sz="22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de</m:t>
                    </m:r>
                    <m:r>
                      <a:rPr lang="es-GT" sz="22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s-GT" sz="22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nor/>
                      </m:rPr>
                      <a:rPr lang="es-GT" sz="22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odadura </m:t>
                    </m:r>
                    <m:r>
                      <m:rPr>
                        <m:nor/>
                      </m:rPr>
                      <a:rPr lang="es-GT" sz="2200" i="0">
                        <a:solidFill>
                          <a:schemeClr val="bg1"/>
                        </a:solidFill>
                        <a:latin typeface="Aptos" panose="020B0004020202020204" pitchFamily="34" charset="0"/>
                      </a:rPr>
                      <m:t>kN/m</m:t>
                    </m:r>
                    <m:r>
                      <a:rPr lang="es-GT" sz="22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⋅26.25</m:t>
                    </m:r>
                    <m:r>
                      <m:rPr>
                        <m:sty m:val="p"/>
                      </m:rPr>
                      <a:rPr lang="es-GT" sz="22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m</m:t>
                    </m:r>
                    <m:r>
                      <a:rPr lang="es-GT" sz="220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s-GT" sz="22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s-GT" sz="2200" i="0">
                        <a:solidFill>
                          <a:schemeClr val="bg1"/>
                        </a:solidFill>
                        <a:latin typeface="Aptos" panose="020B0004020202020204" pitchFamily="34" charset="0"/>
                      </a:rPr>
                      <m:t>kN</m:t>
                    </m:r>
                  </m:oMath>
                </a14:m>
                <a:endParaRPr lang="es-GT" sz="2200" dirty="0">
                  <a:solidFill>
                    <a:schemeClr val="bg1"/>
                  </a:solidFill>
                  <a:latin typeface="Aptos" panose="020B0004020202020204" pitchFamily="34" charset="0"/>
                </a:endParaRPr>
              </a:p>
              <a:p>
                <a:pPr algn="just"/>
                <a:r>
                  <a:rPr lang="es-GT" sz="2200" dirty="0">
                    <a:solidFill>
                      <a:schemeClr val="bg1"/>
                    </a:solidFill>
                    <a:latin typeface="Aptos" panose="020B0004020202020204" pitchFamily="34" charset="0"/>
                  </a:rPr>
                  <a:t>(Esta es la presión vertical pura que los apoyos </a:t>
                </a:r>
                <a:r>
                  <a:rPr lang="es-GT" sz="2200" dirty="0" err="1">
                    <a:solidFill>
                      <a:schemeClr val="bg1"/>
                    </a:solidFill>
                    <a:latin typeface="Aptos" panose="020B0004020202020204" pitchFamily="34" charset="0"/>
                  </a:rPr>
                  <a:t>elastoméricos</a:t>
                </a:r>
                <a:r>
                  <a:rPr lang="es-GT" sz="2200" dirty="0">
                    <a:solidFill>
                      <a:schemeClr val="bg1"/>
                    </a:solidFill>
                    <a:latin typeface="Aptos" panose="020B0004020202020204" pitchFamily="34" charset="0"/>
                  </a:rPr>
                  <a:t> (neoprenos) le transferirán directamente a la corona de la viga cabezal).</a:t>
                </a:r>
              </a:p>
              <a:p>
                <a:pPr lvl="0" algn="just"/>
                <a:endParaRPr lang="es-GT" sz="2200" dirty="0">
                  <a:solidFill>
                    <a:schemeClr val="bg1"/>
                  </a:solidFill>
                  <a:latin typeface="Aptos" panose="020B0004020202020204" pitchFamily="34" charset="0"/>
                </a:endParaRPr>
              </a:p>
              <a:p>
                <a:pPr algn="just"/>
                <a:r>
                  <a:rPr lang="es-GT" sz="2200" dirty="0">
                    <a:solidFill>
                      <a:srgbClr val="00B0F0"/>
                    </a:solidFill>
                    <a:latin typeface="Aptos" panose="020B0004020202020204" pitchFamily="34" charset="0"/>
                  </a:rPr>
                  <a:t>Sumamos el peso propio de la </a:t>
                </a:r>
                <a:r>
                  <a:rPr lang="es-GT" sz="2200" b="1" dirty="0">
                    <a:solidFill>
                      <a:srgbClr val="00B0F0"/>
                    </a:solidFill>
                    <a:latin typeface="Aptos" panose="020B0004020202020204" pitchFamily="34" charset="0"/>
                  </a:rPr>
                  <a:t>viga cabezal (DC):</a:t>
                </a:r>
              </a:p>
              <a:p>
                <a:pPr algn="just"/>
                <a:r>
                  <a:rPr lang="es-GT" sz="2200" dirty="0">
                    <a:solidFill>
                      <a:schemeClr val="tx2">
                        <a:lumMod val="50000"/>
                      </a:schemeClr>
                    </a:solidFill>
                    <a:latin typeface="Aptos" panose="020B0004020202020204" pitchFamily="34" charset="0"/>
                  </a:rPr>
                  <a:t>Volumen de la viga cabezal: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s-GT" sz="22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GT" sz="22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1.50</m:t>
                        </m:r>
                        <m:r>
                          <a:rPr lang="es-GT" sz="2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, 1.60, 1.70</m:t>
                        </m:r>
                      </m:e>
                    </m:d>
                    <m:r>
                      <a:rPr lang="es-GT" sz="22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⋅</m:t>
                    </m:r>
                    <m:d>
                      <m:dPr>
                        <m:ctrlPr>
                          <a:rPr lang="es-GT" sz="22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GT" sz="22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1.50</m:t>
                        </m:r>
                        <m:r>
                          <a:rPr lang="es-GT" sz="2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, 1.60, 1.70</m:t>
                        </m:r>
                      </m:e>
                    </m:d>
                    <m:r>
                      <a:rPr lang="es-GT" sz="22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s-GT" sz="22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Ancho</m:t>
                    </m:r>
                    <m:r>
                      <a:rPr lang="es-GT" sz="22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s-GT" sz="22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total</m:t>
                    </m:r>
                    <m:r>
                      <a:rPr lang="es-GT" sz="22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s-GT" sz="22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de</m:t>
                    </m:r>
                    <m:r>
                      <a:rPr lang="es-GT" sz="22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s-GT" sz="22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superestructura</m:t>
                    </m:r>
                    <m:r>
                      <a:rPr lang="es-GT" sz="22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s-GT" sz="22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peso</m:t>
                    </m:r>
                    <m:r>
                      <a:rPr lang="es-GT" sz="22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s-GT" sz="22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espec</m:t>
                    </m:r>
                    <m:r>
                      <a:rPr lang="es-GT" sz="22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í</m:t>
                    </m:r>
                    <m:r>
                      <m:rPr>
                        <m:sty m:val="p"/>
                      </m:rPr>
                      <a:rPr lang="es-GT" sz="22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fico</m:t>
                    </m:r>
                    <m:r>
                      <a:rPr lang="es-GT" sz="22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s-GT" sz="2200" dirty="0">
                    <a:solidFill>
                      <a:schemeClr val="bg1"/>
                    </a:solidFill>
                    <a:latin typeface="Aptos" panose="020B0004020202020204" pitchFamily="34" charset="0"/>
                  </a:rPr>
                  <a:t> 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s-GT" sz="2200" i="0">
                        <a:solidFill>
                          <a:schemeClr val="bg1"/>
                        </a:solidFill>
                        <a:latin typeface="Aptos" panose="020B0004020202020204" pitchFamily="34" charset="0"/>
                      </a:rPr>
                      <m:t>kN</m:t>
                    </m:r>
                  </m:oMath>
                </a14:m>
                <a:endParaRPr lang="es-GT" sz="2200" dirty="0">
                  <a:solidFill>
                    <a:schemeClr val="bg1"/>
                  </a:solidFill>
                  <a:latin typeface="Aptos" panose="020B0004020202020204" pitchFamily="34" charset="0"/>
                </a:endParaRPr>
              </a:p>
              <a:p>
                <a:pPr algn="just"/>
                <a:r>
                  <a:rPr lang="es-GT" sz="2200" dirty="0">
                    <a:solidFill>
                      <a:schemeClr val="bg1"/>
                    </a:solidFill>
                    <a:latin typeface="Aptos" panose="020B0004020202020204" pitchFamily="34" charset="0"/>
                  </a:rPr>
                  <a:t>(Este peso reduce la capacidad residual de las columnas y deforma el pórtico hacia abajo).</a:t>
                </a:r>
              </a:p>
              <a:p>
                <a:pPr lvl="0" algn="just"/>
                <a:endParaRPr lang="es-GT" sz="2200" dirty="0">
                  <a:solidFill>
                    <a:srgbClr val="00B050"/>
                  </a:solidFill>
                  <a:latin typeface="Aptos" panose="020B0004020202020204" pitchFamily="34" charset="0"/>
                </a:endParaRPr>
              </a:p>
            </p:txBody>
          </p:sp>
        </mc:Choice>
        <mc:Fallback xmlns=""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1AD94B15-7697-6138-896F-56123CF2C7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3174" y="1196608"/>
                <a:ext cx="10879890" cy="5170646"/>
              </a:xfrm>
              <a:prstGeom prst="rect">
                <a:avLst/>
              </a:prstGeom>
              <a:blipFill>
                <a:blip r:embed="rId5"/>
                <a:stretch>
                  <a:fillRect l="-729" t="-708" r="-785"/>
                </a:stretch>
              </a:blipFill>
            </p:spPr>
            <p:txBody>
              <a:bodyPr/>
              <a:lstStyle/>
              <a:p>
                <a:r>
                  <a:rPr lang="es-G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9" name="Google Shape;99;p14">
            <a:extLst>
              <a:ext uri="{FF2B5EF4-FFF2-40B4-BE49-F238E27FC236}">
                <a16:creationId xmlns:a16="http://schemas.microsoft.com/office/drawing/2014/main" id="{3DE37CE8-5FB7-0A30-30AC-6879E81EABD0}"/>
              </a:ext>
            </a:extLst>
          </p:cNvPr>
          <p:cNvSpPr/>
          <p:nvPr/>
        </p:nvSpPr>
        <p:spPr>
          <a:xfrm>
            <a:off x="571499" y="1457838"/>
            <a:ext cx="45719" cy="969390"/>
          </a:xfrm>
          <a:prstGeom prst="rect">
            <a:avLst/>
          </a:prstGeom>
          <a:solidFill>
            <a:srgbClr val="FCD34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Google Shape;94;p14">
            <a:extLst>
              <a:ext uri="{FF2B5EF4-FFF2-40B4-BE49-F238E27FC236}">
                <a16:creationId xmlns:a16="http://schemas.microsoft.com/office/drawing/2014/main" id="{8B47E829-1FC3-9EA5-3C8B-9D8C86F5BB6F}"/>
              </a:ext>
            </a:extLst>
          </p:cNvPr>
          <p:cNvSpPr txBox="1"/>
          <p:nvPr/>
        </p:nvSpPr>
        <p:spPr>
          <a:xfrm>
            <a:off x="762000" y="150168"/>
            <a:ext cx="11186036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s-GT" sz="3400" b="1" dirty="0">
                <a:solidFill>
                  <a:srgbClr val="00B0F0"/>
                </a:solidFill>
                <a:latin typeface="Aptos" panose="020B0004020202020204" pitchFamily="34" charset="0"/>
              </a:rPr>
              <a:t>Introducción a la fase 2</a:t>
            </a:r>
            <a:endParaRPr lang="es-GT" sz="3400" b="1" dirty="0">
              <a:solidFill>
                <a:srgbClr val="00B0F0"/>
              </a:solidFill>
              <a:latin typeface="Aptos" panose="020B0004020202020204" pitchFamily="34" charset="0"/>
              <a:ea typeface="Montserrat"/>
              <a:cs typeface="Montserrat"/>
              <a:sym typeface="Montserrat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4A447A58-CBCD-9E5A-FCBA-15B02F1EE2C2}"/>
              </a:ext>
            </a:extLst>
          </p:cNvPr>
          <p:cNvSpPr txBox="1"/>
          <p:nvPr/>
        </p:nvSpPr>
        <p:spPr>
          <a:xfrm>
            <a:off x="693173" y="673388"/>
            <a:ext cx="7654413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GT" sz="2200" b="1" dirty="0">
                <a:solidFill>
                  <a:schemeClr val="tx2">
                    <a:lumMod val="50000"/>
                  </a:schemeClr>
                </a:solidFill>
              </a:rPr>
              <a:t>Geometría y cargas</a:t>
            </a:r>
            <a:endParaRPr lang="es-GT" sz="2200" dirty="0">
              <a:solidFill>
                <a:schemeClr val="tx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759214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>
          <a:extLst>
            <a:ext uri="{FF2B5EF4-FFF2-40B4-BE49-F238E27FC236}">
              <a16:creationId xmlns:a16="http://schemas.microsoft.com/office/drawing/2014/main" id="{BAF942E2-949E-6817-CC3F-F7B3B87B41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4" descr="image.png">
            <a:extLst>
              <a:ext uri="{FF2B5EF4-FFF2-40B4-BE49-F238E27FC236}">
                <a16:creationId xmlns:a16="http://schemas.microsoft.com/office/drawing/2014/main" id="{F27F5796-55AD-B62D-4E2F-B2B00BAB6F1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4">
            <a:extLst>
              <a:ext uri="{FF2B5EF4-FFF2-40B4-BE49-F238E27FC236}">
                <a16:creationId xmlns:a16="http://schemas.microsoft.com/office/drawing/2014/main" id="{D5018774-A24E-D5E7-8EB0-CE84901A2EE2}"/>
              </a:ext>
            </a:extLst>
          </p:cNvPr>
          <p:cNvSpPr/>
          <p:nvPr/>
        </p:nvSpPr>
        <p:spPr>
          <a:xfrm>
            <a:off x="542924" y="103763"/>
            <a:ext cx="57150" cy="90668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108;p15" descr="image.png">
            <a:extLst>
              <a:ext uri="{FF2B5EF4-FFF2-40B4-BE49-F238E27FC236}">
                <a16:creationId xmlns:a16="http://schemas.microsoft.com/office/drawing/2014/main" id="{66848415-3B42-1717-9D98-1B900F2401AE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82728" y="1159577"/>
            <a:ext cx="11426544" cy="5443648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2DEB32BA-C735-23DA-D8D7-B31A8E9C285A}"/>
                  </a:ext>
                </a:extLst>
              </p:cNvPr>
              <p:cNvSpPr txBox="1"/>
              <p:nvPr/>
            </p:nvSpPr>
            <p:spPr>
              <a:xfrm>
                <a:off x="693174" y="1196608"/>
                <a:ext cx="10879890" cy="415498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s-GT" sz="2200" b="1" dirty="0">
                    <a:solidFill>
                      <a:srgbClr val="00B0F0"/>
                    </a:solidFill>
                    <a:latin typeface="Aptos" panose="020B0004020202020204" pitchFamily="34" charset="0"/>
                  </a:rPr>
                  <a:t>Carga Total sobre el Marco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GT" sz="2200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GT" sz="2200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s-GT" sz="2200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𝑚𝑎𝑟𝑐𝑜</m:t>
                        </m:r>
                      </m:sub>
                    </m:sSub>
                  </m:oMath>
                </a14:m>
                <a:r>
                  <a:rPr lang="es-GT" sz="2200" b="1" dirty="0">
                    <a:solidFill>
                      <a:srgbClr val="00B0F0"/>
                    </a:solidFill>
                    <a:latin typeface="Aptos" panose="020B0004020202020204" pitchFamily="34" charset="0"/>
                  </a:rPr>
                  <a:t>):</a:t>
                </a:r>
              </a:p>
              <a:p>
                <a:pPr algn="just"/>
                <a:endParaRPr lang="es-GT" sz="2200" dirty="0">
                  <a:solidFill>
                    <a:srgbClr val="00B0F0"/>
                  </a:solidFill>
                  <a:latin typeface="Aptos" panose="020B0004020202020204" pitchFamily="34" charset="0"/>
                </a:endParaRPr>
              </a:p>
              <a:p>
                <a:pPr algn="just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s-GT" sz="2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GT" sz="2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s-GT" sz="2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𝑚𝑎𝑟𝑐𝑜</m:t>
                          </m:r>
                        </m:sub>
                      </m:sSub>
                      <m:r>
                        <a:rPr lang="es-GT" sz="2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s-GT" sz="2200" i="0" dirty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Aptos" panose="020B0004020202020204" pitchFamily="34" charset="0"/>
                        </a:rPr>
                        <m:t>Reacción total por DC</m:t>
                      </m:r>
                      <m:r>
                        <m:rPr>
                          <m:nor/>
                        </m:rPr>
                        <a:rPr lang="es-GT" sz="2200" b="0" i="0" dirty="0" smtClean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Aptos" panose="020B0004020202020204" pitchFamily="34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s-GT" sz="2200" i="0">
                          <a:solidFill>
                            <a:schemeClr val="bg1"/>
                          </a:solidFill>
                          <a:latin typeface="Aptos" panose="020B0004020202020204" pitchFamily="34" charset="0"/>
                        </a:rPr>
                        <m:t>kN</m:t>
                      </m:r>
                      <m:r>
                        <a:rPr lang="es-GT" sz="22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nor/>
                        </m:rPr>
                        <a:rPr lang="es-GT" sz="2200" i="0" dirty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Aptos" panose="020B0004020202020204" pitchFamily="34" charset="0"/>
                        </a:rPr>
                        <m:t>Reacción total por DW</m:t>
                      </m:r>
                      <m:r>
                        <m:rPr>
                          <m:nor/>
                        </m:rPr>
                        <a:rPr lang="es-GT" sz="2200" b="0" i="0" dirty="0" smtClean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Aptos" panose="020B0004020202020204" pitchFamily="34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s-GT" sz="2200" i="0">
                          <a:solidFill>
                            <a:schemeClr val="bg1"/>
                          </a:solidFill>
                          <a:latin typeface="Aptos" panose="020B0004020202020204" pitchFamily="34" charset="0"/>
                        </a:rPr>
                        <m:t>kN</m:t>
                      </m:r>
                    </m:oMath>
                  </m:oMathPara>
                </a14:m>
                <a:endParaRPr lang="es-GT" sz="2200" i="0" dirty="0">
                  <a:solidFill>
                    <a:schemeClr val="bg1"/>
                  </a:solidFill>
                  <a:latin typeface="Aptos" panose="020B0004020202020204" pitchFamily="34" charset="0"/>
                </a:endParaRPr>
              </a:p>
              <a:p>
                <a:pPr algn="just"/>
                <a14:m>
                  <m:oMathPara xmlns:m="http://schemas.openxmlformats.org/officeDocument/2006/math">
                    <m:oMath>
                      <m:r>
                        <a:rPr lang="es-GT" sz="22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nor/>
                        </m:rPr>
                        <a:rPr lang="es-GT" sz="2200" i="0" dirty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Aptos" panose="020B0004020202020204" pitchFamily="34" charset="0"/>
                        </a:rPr>
                        <m:t>Volumen de la viga cabezal</m:t>
                      </m:r>
                      <m:r>
                        <m:rPr>
                          <m:nor/>
                        </m:rPr>
                        <a:rPr lang="es-GT" sz="2200" b="0" i="0" dirty="0" smtClean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Aptos" panose="020B0004020202020204" pitchFamily="34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s-GT" sz="2200" i="0">
                          <a:solidFill>
                            <a:schemeClr val="bg1"/>
                          </a:solidFill>
                          <a:latin typeface="Aptos" panose="020B0004020202020204" pitchFamily="34" charset="0"/>
                        </a:rPr>
                        <m:t>kN</m:t>
                      </m:r>
                      <m:r>
                        <a:rPr lang="es-GT" sz="22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s-GT" sz="2200" i="0">
                          <a:solidFill>
                            <a:schemeClr val="bg1"/>
                          </a:solidFill>
                          <a:latin typeface="Aptos" panose="020B0004020202020204" pitchFamily="34" charset="0"/>
                        </a:rPr>
                        <m:t> kN</m:t>
                      </m:r>
                    </m:oMath>
                  </m:oMathPara>
                </a14:m>
                <a:endParaRPr lang="es-GT" sz="2200" dirty="0">
                  <a:solidFill>
                    <a:schemeClr val="bg1"/>
                  </a:solidFill>
                  <a:latin typeface="Aptos" panose="020B0004020202020204" pitchFamily="34" charset="0"/>
                </a:endParaRPr>
              </a:p>
              <a:p>
                <a:pPr algn="just"/>
                <a:endParaRPr lang="es-GT" sz="2200" b="1" dirty="0">
                  <a:solidFill>
                    <a:srgbClr val="00B0F0"/>
                  </a:solidFill>
                  <a:latin typeface="Aptos" panose="020B0004020202020204" pitchFamily="34" charset="0"/>
                </a:endParaRPr>
              </a:p>
              <a:p>
                <a:pPr algn="just"/>
                <a:r>
                  <a:rPr lang="es-GT" sz="2200" b="1" dirty="0">
                    <a:solidFill>
                      <a:schemeClr val="bg1"/>
                    </a:solidFill>
                    <a:latin typeface="Aptos" panose="020B0004020202020204" pitchFamily="34" charset="0"/>
                  </a:rPr>
                  <a:t>(</a:t>
                </a:r>
                <a:r>
                  <a:rPr lang="es-GT" sz="2200" dirty="0">
                    <a:solidFill>
                      <a:schemeClr val="bg1"/>
                    </a:solidFill>
                    <a:latin typeface="Aptos" panose="020B0004020202020204" pitchFamily="34" charset="0"/>
                  </a:rPr>
                  <a:t>Este valor no solo comprime las columnas estáticamente; representa el </a:t>
                </a:r>
                <a14:m>
                  <m:oMath xmlns:m="http://schemas.openxmlformats.org/officeDocument/2006/math">
                    <m:r>
                      <a:rPr lang="es-GT" sz="22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100%</m:t>
                    </m:r>
                  </m:oMath>
                </a14:m>
                <a:r>
                  <a:rPr lang="es-GT" sz="2200" dirty="0">
                    <a:solidFill>
                      <a:schemeClr val="bg1"/>
                    </a:solidFill>
                    <a:latin typeface="Aptos" panose="020B0004020202020204" pitchFamily="34" charset="0"/>
                  </a:rPr>
                  <a:t> de la masa inercial de esa pila. En el modelado dinámico, al dividir este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GT" sz="22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GT" sz="22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s-GT" sz="22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𝑚𝑎𝑟𝑐𝑜</m:t>
                        </m:r>
                      </m:sub>
                    </m:sSub>
                  </m:oMath>
                </a14:m>
                <a:r>
                  <a:rPr lang="es-GT" sz="2200" dirty="0">
                    <a:solidFill>
                      <a:schemeClr val="bg1"/>
                    </a:solidFill>
                    <a:latin typeface="Aptos" panose="020B0004020202020204" pitchFamily="34" charset="0"/>
                  </a:rPr>
                  <a:t> entre la aceleración de la gravedad (</a:t>
                </a:r>
                <a14:m>
                  <m:oMath xmlns:m="http://schemas.openxmlformats.org/officeDocument/2006/math">
                    <m:r>
                      <a:rPr lang="es-GT" sz="22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9.81</m:t>
                    </m:r>
                    <m:sSup>
                      <m:sSupPr>
                        <m:ctrlPr>
                          <a:rPr lang="es-GT" sz="2200" i="0">
                            <a:solidFill>
                              <a:schemeClr val="bg1"/>
                            </a:solidFill>
                            <a:latin typeface="Aptos" panose="020B0004020202020204" pitchFamily="34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s-GT" sz="2200" i="0">
                            <a:solidFill>
                              <a:schemeClr val="bg1"/>
                            </a:solidFill>
                            <a:latin typeface="Aptos" panose="020B0004020202020204" pitchFamily="34" charset="0"/>
                          </a:rPr>
                          <m:t> m/s</m:t>
                        </m:r>
                      </m:e>
                      <m:sup>
                        <m:r>
                          <a:rPr lang="es-GT" sz="22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s-GT" sz="2200" dirty="0">
                    <a:solidFill>
                      <a:schemeClr val="bg1"/>
                    </a:solidFill>
                    <a:latin typeface="Aptos" panose="020B0004020202020204" pitchFamily="34" charset="0"/>
                  </a:rPr>
                  <a:t>), obtendrán la </a:t>
                </a:r>
                <a:r>
                  <a:rPr lang="es-GT" sz="2200" b="1" dirty="0">
                    <a:solidFill>
                      <a:schemeClr val="bg1"/>
                    </a:solidFill>
                    <a:latin typeface="Aptos" panose="020B0004020202020204" pitchFamily="34" charset="0"/>
                  </a:rPr>
                  <a:t>masa sísmica concentrada</a:t>
                </a:r>
                <a:r>
                  <a:rPr lang="es-GT" sz="2200" dirty="0">
                    <a:solidFill>
                      <a:schemeClr val="bg1"/>
                    </a:solidFill>
                    <a:latin typeface="Aptos" panose="020B0004020202020204" pitchFamily="34" charset="0"/>
                  </a:rPr>
                  <a:t> que el software necesita. Es esta masa exacta la que, al ser sacudida por la aceleración espectral, generará las fuerzas laterales que buscarán derribar el puente). </a:t>
                </a:r>
              </a:p>
              <a:p>
                <a:pPr algn="just"/>
                <a:endParaRPr lang="es-GT" sz="2200" dirty="0">
                  <a:solidFill>
                    <a:schemeClr val="bg1"/>
                  </a:solidFill>
                  <a:latin typeface="Aptos" panose="020B0004020202020204" pitchFamily="34" charset="0"/>
                </a:endParaRPr>
              </a:p>
              <a:p>
                <a:endParaRPr lang="es-GT" sz="2200" b="1" dirty="0">
                  <a:solidFill>
                    <a:schemeClr val="bg1"/>
                  </a:solidFill>
                  <a:latin typeface="Aptos" panose="020B0004020202020204" pitchFamily="34" charset="0"/>
                </a:endParaRPr>
              </a:p>
            </p:txBody>
          </p:sp>
        </mc:Choice>
        <mc:Fallback xmlns=""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2DEB32BA-C735-23DA-D8D7-B31A8E9C28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3174" y="1196608"/>
                <a:ext cx="10879890" cy="4154984"/>
              </a:xfrm>
              <a:prstGeom prst="rect">
                <a:avLst/>
              </a:prstGeom>
              <a:blipFill>
                <a:blip r:embed="rId5"/>
                <a:stretch>
                  <a:fillRect l="-729" t="-733" r="-785"/>
                </a:stretch>
              </a:blipFill>
            </p:spPr>
            <p:txBody>
              <a:bodyPr/>
              <a:lstStyle/>
              <a:p>
                <a:r>
                  <a:rPr lang="es-G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9" name="Google Shape;99;p14">
            <a:extLst>
              <a:ext uri="{FF2B5EF4-FFF2-40B4-BE49-F238E27FC236}">
                <a16:creationId xmlns:a16="http://schemas.microsoft.com/office/drawing/2014/main" id="{F9CE0976-431A-9CEF-8A28-F28EE4891BDF}"/>
              </a:ext>
            </a:extLst>
          </p:cNvPr>
          <p:cNvSpPr/>
          <p:nvPr/>
        </p:nvSpPr>
        <p:spPr>
          <a:xfrm>
            <a:off x="571499" y="1457838"/>
            <a:ext cx="45719" cy="969390"/>
          </a:xfrm>
          <a:prstGeom prst="rect">
            <a:avLst/>
          </a:prstGeom>
          <a:solidFill>
            <a:srgbClr val="FCD34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Google Shape;94;p14">
            <a:extLst>
              <a:ext uri="{FF2B5EF4-FFF2-40B4-BE49-F238E27FC236}">
                <a16:creationId xmlns:a16="http://schemas.microsoft.com/office/drawing/2014/main" id="{261A6322-38F8-E2D4-F024-215D0909E81A}"/>
              </a:ext>
            </a:extLst>
          </p:cNvPr>
          <p:cNvSpPr txBox="1"/>
          <p:nvPr/>
        </p:nvSpPr>
        <p:spPr>
          <a:xfrm>
            <a:off x="762000" y="150168"/>
            <a:ext cx="11186036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s-GT" sz="3400" b="1" dirty="0">
                <a:solidFill>
                  <a:srgbClr val="00B0F0"/>
                </a:solidFill>
                <a:latin typeface="Aptos" panose="020B0004020202020204" pitchFamily="34" charset="0"/>
              </a:rPr>
              <a:t>Introducción a la fase 2</a:t>
            </a:r>
            <a:endParaRPr lang="es-GT" sz="3400" b="1" dirty="0">
              <a:solidFill>
                <a:srgbClr val="00B0F0"/>
              </a:solidFill>
              <a:latin typeface="Aptos" panose="020B0004020202020204" pitchFamily="34" charset="0"/>
              <a:ea typeface="Montserrat"/>
              <a:cs typeface="Montserrat"/>
              <a:sym typeface="Montserrat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A075731E-5F8E-8900-68C4-CB14BEC8B559}"/>
              </a:ext>
            </a:extLst>
          </p:cNvPr>
          <p:cNvSpPr txBox="1"/>
          <p:nvPr/>
        </p:nvSpPr>
        <p:spPr>
          <a:xfrm>
            <a:off x="693173" y="673388"/>
            <a:ext cx="7654413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GT" sz="2200" b="1" dirty="0">
                <a:solidFill>
                  <a:schemeClr val="tx2">
                    <a:lumMod val="50000"/>
                  </a:schemeClr>
                </a:solidFill>
              </a:rPr>
              <a:t>Geometría y cargas</a:t>
            </a:r>
            <a:endParaRPr lang="es-GT" sz="2200" dirty="0">
              <a:solidFill>
                <a:schemeClr val="tx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192065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>
          <a:extLst>
            <a:ext uri="{FF2B5EF4-FFF2-40B4-BE49-F238E27FC236}">
              <a16:creationId xmlns:a16="http://schemas.microsoft.com/office/drawing/2014/main" id="{FD252E3D-455F-23DE-5B5B-CAF1B17DB5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4" descr="image.png">
            <a:extLst>
              <a:ext uri="{FF2B5EF4-FFF2-40B4-BE49-F238E27FC236}">
                <a16:creationId xmlns:a16="http://schemas.microsoft.com/office/drawing/2014/main" id="{6F7A0853-423B-CC95-CC38-81B57F754A7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4">
            <a:extLst>
              <a:ext uri="{FF2B5EF4-FFF2-40B4-BE49-F238E27FC236}">
                <a16:creationId xmlns:a16="http://schemas.microsoft.com/office/drawing/2014/main" id="{F5F9DC06-C82F-D798-1271-D6B0C5F0F483}"/>
              </a:ext>
            </a:extLst>
          </p:cNvPr>
          <p:cNvSpPr/>
          <p:nvPr/>
        </p:nvSpPr>
        <p:spPr>
          <a:xfrm>
            <a:off x="542924" y="103763"/>
            <a:ext cx="74294" cy="6926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108;p15" descr="image.png">
            <a:extLst>
              <a:ext uri="{FF2B5EF4-FFF2-40B4-BE49-F238E27FC236}">
                <a16:creationId xmlns:a16="http://schemas.microsoft.com/office/drawing/2014/main" id="{0B7BBCF1-A110-A137-1AC3-FE6160221F0D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82728" y="1002017"/>
            <a:ext cx="11426544" cy="5601208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60FC9A57-8C05-5F92-83FD-BE8C5CDCAB99}"/>
                  </a:ext>
                </a:extLst>
              </p:cNvPr>
              <p:cNvSpPr txBox="1"/>
              <p:nvPr/>
            </p:nvSpPr>
            <p:spPr>
              <a:xfrm>
                <a:off x="693173" y="1104275"/>
                <a:ext cx="10879890" cy="53110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s-GT" sz="2200" b="1" dirty="0">
                    <a:solidFill>
                      <a:srgbClr val="00B0F0"/>
                    </a:solidFill>
                    <a:latin typeface="Aptos" panose="020B0004020202020204" pitchFamily="34" charset="0"/>
                  </a:rPr>
                  <a:t>Paso 5: </a:t>
                </a:r>
                <a:r>
                  <a:rPr lang="es-GT" sz="2200" b="1" dirty="0">
                    <a:solidFill>
                      <a:schemeClr val="bg1"/>
                    </a:solidFill>
                    <a:latin typeface="Aptos" panose="020B0004020202020204" pitchFamily="34" charset="0"/>
                  </a:rPr>
                  <a:t>Demostración Analítica de la Carga Axial Incidente (</a:t>
                </a:r>
                <a14:m>
                  <m:oMath xmlns:m="http://schemas.openxmlformats.org/officeDocument/2006/math">
                    <m:r>
                      <a:rPr lang="es-GT" sz="2200" b="1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𝑷</m:t>
                    </m:r>
                  </m:oMath>
                </a14:m>
                <a:r>
                  <a:rPr lang="es-GT" sz="2200" b="1" dirty="0">
                    <a:solidFill>
                      <a:schemeClr val="bg1"/>
                    </a:solidFill>
                    <a:latin typeface="Aptos" panose="020B0004020202020204" pitchFamily="34" charset="0"/>
                  </a:rPr>
                  <a:t>)</a:t>
                </a:r>
              </a:p>
              <a:p>
                <a:pPr algn="just"/>
                <a:r>
                  <a:rPr lang="es-GT" sz="2200" dirty="0">
                    <a:solidFill>
                      <a:schemeClr val="bg1"/>
                    </a:solidFill>
                    <a:latin typeface="Aptos" panose="020B0004020202020204" pitchFamily="34" charset="0"/>
                  </a:rPr>
                  <a:t>Al ser un marco rígido compuesto por dos columnas, la carga descendente total se divide equitativamente entre ambos apoyos (asumiendo simetría transversal y ausencia de excentricidades mayores).</a:t>
                </a:r>
              </a:p>
              <a:p>
                <a:pPr lvl="0" algn="just"/>
                <a:r>
                  <a:rPr lang="es-GT" sz="2200" dirty="0">
                    <a:solidFill>
                      <a:schemeClr val="tx2">
                        <a:lumMod val="50000"/>
                      </a:schemeClr>
                    </a:solidFill>
                    <a:latin typeface="Aptos" panose="020B0004020202020204" pitchFamily="34" charset="0"/>
                  </a:rPr>
                  <a:t>Carga incidente en el tope de una columna: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s-GT" sz="22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s-GT" sz="22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GT" sz="22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s-GT" sz="22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𝑚𝑎𝑟𝑐𝑜</m:t>
                            </m:r>
                          </m:sub>
                        </m:sSub>
                      </m:num>
                      <m:den>
                        <m:r>
                          <a:rPr lang="es-GT" sz="22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s-GT" sz="220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s-GT" sz="2400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s-GT" sz="220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K</m:t>
                    </m:r>
                    <m:r>
                      <a:rPr lang="es-GT" sz="22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endParaRPr lang="es-GT" sz="2200" dirty="0">
                  <a:solidFill>
                    <a:schemeClr val="bg1"/>
                  </a:solidFill>
                  <a:latin typeface="Aptos" panose="020B0004020202020204" pitchFamily="34" charset="0"/>
                </a:endParaRPr>
              </a:p>
              <a:p>
                <a:pPr lvl="0" algn="just"/>
                <a:endParaRPr lang="es-GT" sz="2200" dirty="0">
                  <a:solidFill>
                    <a:schemeClr val="bg1"/>
                  </a:solidFill>
                  <a:latin typeface="Aptos" panose="020B0004020202020204" pitchFamily="34" charset="0"/>
                </a:endParaRPr>
              </a:p>
              <a:p>
                <a:pPr algn="just"/>
                <a:r>
                  <a:rPr lang="es-GT" sz="2200" dirty="0">
                    <a:solidFill>
                      <a:schemeClr val="bg1"/>
                    </a:solidFill>
                    <a:latin typeface="Aptos" panose="020B0004020202020204" pitchFamily="34" charset="0"/>
                  </a:rPr>
                  <a:t>Cuando asumimos que la carga se divide entre dos, estamos asumiendo que el puente es un objeto perfecto en un mundo de dos dimensiones, pero en la "realidad hiperestática y tridimensional", entran en juego factores geométricos y de rigidez que destruyen esa simetría. </a:t>
                </a:r>
              </a:p>
              <a:p>
                <a:pPr lvl="0" algn="just"/>
                <a:endParaRPr lang="es-GT" sz="2200" dirty="0">
                  <a:solidFill>
                    <a:schemeClr val="bg1"/>
                  </a:solidFill>
                  <a:latin typeface="Aptos" panose="020B0004020202020204" pitchFamily="34" charset="0"/>
                </a:endParaRPr>
              </a:p>
              <a:p>
                <a:pPr lvl="0" algn="just"/>
                <a:r>
                  <a:rPr lang="es-GT" sz="2200" dirty="0">
                    <a:solidFill>
                      <a:schemeClr val="bg1"/>
                    </a:solidFill>
                    <a:latin typeface="Aptos" panose="020B0004020202020204" pitchFamily="34" charset="0"/>
                  </a:rPr>
                  <a:t>a). Cargas muertas asimétricas</a:t>
                </a:r>
              </a:p>
              <a:p>
                <a:pPr lvl="0" algn="just"/>
                <a:r>
                  <a:rPr lang="es-GT" sz="2200" dirty="0">
                    <a:solidFill>
                      <a:schemeClr val="bg1"/>
                    </a:solidFill>
                    <a:latin typeface="Aptos" panose="020B0004020202020204" pitchFamily="34" charset="0"/>
                  </a:rPr>
                  <a:t>b). Peralte y Curvatura</a:t>
                </a:r>
              </a:p>
              <a:p>
                <a:pPr lvl="0" algn="just"/>
                <a:r>
                  <a:rPr lang="es-GT" sz="2200" dirty="0">
                    <a:solidFill>
                      <a:schemeClr val="bg1"/>
                    </a:solidFill>
                    <a:latin typeface="Aptos" panose="020B0004020202020204" pitchFamily="34" charset="0"/>
                  </a:rPr>
                  <a:t>c). Torsión por Carga Viva </a:t>
                </a:r>
              </a:p>
              <a:p>
                <a:pPr lvl="0" algn="just"/>
                <a:r>
                  <a:rPr lang="es-GT" sz="2200" dirty="0">
                    <a:solidFill>
                      <a:schemeClr val="bg1"/>
                    </a:solidFill>
                    <a:latin typeface="Aptos" panose="020B0004020202020204" pitchFamily="34" charset="0"/>
                  </a:rPr>
                  <a:t>d). El Esviaje y el Terreno</a:t>
                </a:r>
              </a:p>
            </p:txBody>
          </p:sp>
        </mc:Choice>
        <mc:Fallback xmlns=""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60FC9A57-8C05-5F92-83FD-BE8C5CDCAB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3173" y="1104275"/>
                <a:ext cx="10879890" cy="5311069"/>
              </a:xfrm>
              <a:prstGeom prst="rect">
                <a:avLst/>
              </a:prstGeom>
              <a:blipFill>
                <a:blip r:embed="rId5"/>
                <a:stretch>
                  <a:fillRect l="-729" t="-689" r="-785" b="-1493"/>
                </a:stretch>
              </a:blipFill>
            </p:spPr>
            <p:txBody>
              <a:bodyPr/>
              <a:lstStyle/>
              <a:p>
                <a:r>
                  <a:rPr lang="es-G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9" name="Google Shape;99;p14">
            <a:extLst>
              <a:ext uri="{FF2B5EF4-FFF2-40B4-BE49-F238E27FC236}">
                <a16:creationId xmlns:a16="http://schemas.microsoft.com/office/drawing/2014/main" id="{405E5648-628C-202F-0D96-21E4E3AC1D6F}"/>
              </a:ext>
            </a:extLst>
          </p:cNvPr>
          <p:cNvSpPr/>
          <p:nvPr/>
        </p:nvSpPr>
        <p:spPr>
          <a:xfrm>
            <a:off x="571499" y="1457838"/>
            <a:ext cx="45719" cy="969390"/>
          </a:xfrm>
          <a:prstGeom prst="rect">
            <a:avLst/>
          </a:prstGeom>
          <a:solidFill>
            <a:srgbClr val="FCD34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Google Shape;94;p14">
            <a:extLst>
              <a:ext uri="{FF2B5EF4-FFF2-40B4-BE49-F238E27FC236}">
                <a16:creationId xmlns:a16="http://schemas.microsoft.com/office/drawing/2014/main" id="{2468CF24-8D17-C0C9-C7CC-BE6624F6D05A}"/>
              </a:ext>
            </a:extLst>
          </p:cNvPr>
          <p:cNvSpPr txBox="1"/>
          <p:nvPr/>
        </p:nvSpPr>
        <p:spPr>
          <a:xfrm>
            <a:off x="762000" y="150168"/>
            <a:ext cx="11186036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s-GT" sz="3400" b="1" dirty="0">
                <a:solidFill>
                  <a:srgbClr val="00B0F0"/>
                </a:solidFill>
                <a:latin typeface="Aptos" panose="020B0004020202020204" pitchFamily="34" charset="0"/>
              </a:rPr>
              <a:t>Introducción a la fase 2</a:t>
            </a:r>
            <a:endParaRPr lang="es-GT" sz="3400" b="1" dirty="0">
              <a:solidFill>
                <a:srgbClr val="00B0F0"/>
              </a:solidFill>
              <a:latin typeface="Aptos" panose="020B0004020202020204" pitchFamily="34" charset="0"/>
              <a:ea typeface="Montserrat"/>
              <a:cs typeface="Montserrat"/>
              <a:sym typeface="Montserrat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F9BD9F1F-A98F-EA4B-966A-BEB0856AE127}"/>
              </a:ext>
            </a:extLst>
          </p:cNvPr>
          <p:cNvSpPr txBox="1"/>
          <p:nvPr/>
        </p:nvSpPr>
        <p:spPr>
          <a:xfrm>
            <a:off x="693173" y="571130"/>
            <a:ext cx="7654413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GT" sz="2200" b="1" dirty="0">
                <a:solidFill>
                  <a:schemeClr val="tx2">
                    <a:lumMod val="50000"/>
                  </a:schemeClr>
                </a:solidFill>
              </a:rPr>
              <a:t>Geometría y cargas</a:t>
            </a:r>
            <a:endParaRPr lang="es-GT" sz="2200" dirty="0">
              <a:solidFill>
                <a:schemeClr val="tx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262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>
          <a:extLst>
            <a:ext uri="{FF2B5EF4-FFF2-40B4-BE49-F238E27FC236}">
              <a16:creationId xmlns:a16="http://schemas.microsoft.com/office/drawing/2014/main" id="{37F24628-19CD-9BD3-5617-72492EC811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4" descr="image.png">
            <a:extLst>
              <a:ext uri="{FF2B5EF4-FFF2-40B4-BE49-F238E27FC236}">
                <a16:creationId xmlns:a16="http://schemas.microsoft.com/office/drawing/2014/main" id="{314A8C04-DFFD-F7BE-17C6-FFBE68B6E5B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4">
            <a:extLst>
              <a:ext uri="{FF2B5EF4-FFF2-40B4-BE49-F238E27FC236}">
                <a16:creationId xmlns:a16="http://schemas.microsoft.com/office/drawing/2014/main" id="{6BB122C9-405B-79EE-82BF-055987F0FCD3}"/>
              </a:ext>
            </a:extLst>
          </p:cNvPr>
          <p:cNvSpPr/>
          <p:nvPr/>
        </p:nvSpPr>
        <p:spPr>
          <a:xfrm>
            <a:off x="542924" y="103763"/>
            <a:ext cx="57150" cy="90668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108;p15" descr="image.png">
            <a:extLst>
              <a:ext uri="{FF2B5EF4-FFF2-40B4-BE49-F238E27FC236}">
                <a16:creationId xmlns:a16="http://schemas.microsoft.com/office/drawing/2014/main" id="{BF1D17C3-2B70-2C3B-7912-D4BCF039138E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82728" y="1159577"/>
            <a:ext cx="11426544" cy="5443648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B7B93D1B-06DE-53AB-BB1A-FE7E3B96655C}"/>
                  </a:ext>
                </a:extLst>
              </p:cNvPr>
              <p:cNvSpPr txBox="1"/>
              <p:nvPr/>
            </p:nvSpPr>
            <p:spPr>
              <a:xfrm>
                <a:off x="693173" y="1159577"/>
                <a:ext cx="10879890" cy="535839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s-GT" sz="2200" dirty="0">
                    <a:solidFill>
                      <a:schemeClr val="bg1"/>
                    </a:solidFill>
                    <a:latin typeface="Aptos" panose="020B0004020202020204" pitchFamily="34" charset="0"/>
                  </a:rPr>
                  <a:t>Finalmente, agregamos el peso propio de una columna (DC) para obtener la carga axial total en la base (zapata):</a:t>
                </a:r>
              </a:p>
              <a:p>
                <a:pPr algn="just"/>
                <a:endParaRPr lang="es-GT" sz="2200" dirty="0">
                  <a:solidFill>
                    <a:schemeClr val="bg1"/>
                  </a:solidFill>
                  <a:latin typeface="Aptos" panose="020B0004020202020204" pitchFamily="34" charset="0"/>
                </a:endParaRPr>
              </a:p>
              <a:p>
                <a:pPr algn="just"/>
                <a:r>
                  <a:rPr lang="es-GT" sz="2200" dirty="0">
                    <a:solidFill>
                      <a:schemeClr val="tx2">
                        <a:lumMod val="50000"/>
                      </a:schemeClr>
                    </a:solidFill>
                    <a:latin typeface="Aptos" panose="020B0004020202020204" pitchFamily="34" charset="0"/>
                  </a:rPr>
                  <a:t>Peso columna (</a:t>
                </a:r>
                <a14:m>
                  <m:oMath xmlns:m="http://schemas.openxmlformats.org/officeDocument/2006/math">
                    <m:r>
                      <a:rPr lang="es-GT" sz="2200" i="1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a:rPr lang="es-GT" sz="2200" i="1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s-GT" sz="2200" i="1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lang="es-GT" sz="2200" dirty="0">
                    <a:solidFill>
                      <a:schemeClr val="tx2">
                        <a:lumMod val="50000"/>
                      </a:schemeClr>
                    </a:solidFill>
                    <a:latin typeface="Aptos" panose="020B0004020202020204" pitchFamily="34" charset="0"/>
                  </a:rPr>
                  <a:t>):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s-GT" sz="22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GT" sz="22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  <m:r>
                          <a:rPr lang="es-GT" sz="22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sSup>
                          <m:sSupPr>
                            <m:ctrlPr>
                              <a:rPr lang="es-GT" sz="22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s-GT" sz="2200" b="0" i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m:rPr>
                                    <m:sty m:val="p"/>
                                  </m:rPr>
                                  <a:rPr lang="es-GT" sz="2200" b="0" i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Di</m:t>
                                </m:r>
                                <m:r>
                                  <a:rPr lang="es-GT" sz="2200" b="0" i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á</m:t>
                                </m:r>
                                <m:r>
                                  <m:rPr>
                                    <m:sty m:val="p"/>
                                  </m:rPr>
                                  <a:rPr lang="es-GT" sz="2200" b="0" i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metro</m:t>
                                </m:r>
                              </m:e>
                            </m:d>
                          </m:e>
                          <m:sup>
                            <m:r>
                              <a:rPr lang="es-GT" sz="22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s-GT" sz="22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es-GT" sz="22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s-GT" sz="22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Altura</m:t>
                    </m:r>
                    <m:r>
                      <a:rPr lang="es-GT" sz="22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s-GT" sz="22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libre</m:t>
                    </m:r>
                    <m:r>
                      <a:rPr lang="es-GT" sz="22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s-GT" sz="22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asumida</m:t>
                    </m:r>
                    <m:r>
                      <a:rPr lang="es-GT" sz="22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s-GT" sz="220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Peso</m:t>
                    </m:r>
                    <m:r>
                      <a:rPr lang="es-GT" sz="220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s-GT" sz="220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espec</m:t>
                    </m:r>
                    <m:r>
                      <a:rPr lang="es-GT" sz="220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í</m:t>
                    </m:r>
                    <m:r>
                      <m:rPr>
                        <m:sty m:val="p"/>
                      </m:rPr>
                      <a:rPr lang="es-GT" sz="220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fico</m:t>
                    </m:r>
                    <m:r>
                      <a:rPr lang="es-GT" sz="22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s-GT" sz="2200" dirty="0">
                    <a:solidFill>
                      <a:schemeClr val="bg1"/>
                    </a:solidFill>
                    <a:latin typeface="Aptos" panose="020B00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s-GT" sz="2200" i="0">
                        <a:solidFill>
                          <a:schemeClr val="bg1"/>
                        </a:solidFill>
                        <a:latin typeface="Aptos" panose="020B0004020202020204" pitchFamily="34" charset="0"/>
                      </a:rPr>
                      <m:t>kN</m:t>
                    </m:r>
                  </m:oMath>
                </a14:m>
                <a:endParaRPr lang="es-GT" sz="2200" dirty="0">
                  <a:solidFill>
                    <a:schemeClr val="bg1"/>
                  </a:solidFill>
                  <a:latin typeface="Aptos" panose="020B0004020202020204" pitchFamily="34" charset="0"/>
                </a:endParaRPr>
              </a:p>
              <a:p>
                <a:pPr algn="just"/>
                <a:endParaRPr lang="es-GT" sz="2200" dirty="0">
                  <a:solidFill>
                    <a:schemeClr val="bg1"/>
                  </a:solidFill>
                  <a:latin typeface="Aptos" panose="020B0004020202020204" pitchFamily="34" charset="0"/>
                </a:endParaRPr>
              </a:p>
              <a:p>
                <a:r>
                  <a:rPr lang="es-GT" sz="2200" b="1" dirty="0">
                    <a:solidFill>
                      <a:srgbClr val="00B0F0"/>
                    </a:solidFill>
                    <a:latin typeface="Aptos" panose="020B0004020202020204" pitchFamily="34" charset="0"/>
                  </a:rPr>
                  <a:t>Carga Axial Total sobre la base de la Columna (</a:t>
                </a:r>
                <a14:m>
                  <m:oMath xmlns:m="http://schemas.openxmlformats.org/officeDocument/2006/math">
                    <m:r>
                      <a:rPr lang="es-GT" sz="2200" i="1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s-GT" sz="2200" b="1" dirty="0">
                    <a:solidFill>
                      <a:srgbClr val="00B0F0"/>
                    </a:solidFill>
                    <a:latin typeface="Aptos" panose="020B0004020202020204" pitchFamily="34" charset="0"/>
                  </a:rPr>
                  <a:t>):</a:t>
                </a:r>
              </a:p>
              <a:p>
                <a:endParaRPr lang="es-GT" sz="2200" dirty="0">
                  <a:solidFill>
                    <a:schemeClr val="tx2">
                      <a:lumMod val="50000"/>
                    </a:schemeClr>
                  </a:solidFill>
                  <a:latin typeface="Aptos" panose="020B000402020202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s-GT" sz="22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s-GT" sz="22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s-GT" sz="2200" i="0" dirty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Aptos" panose="020B0004020202020204" pitchFamily="34" charset="0"/>
                        </a:rPr>
                        <m:t>Carga incidente en el tope de una columna</m:t>
                      </m:r>
                      <m:r>
                        <m:rPr>
                          <m:nor/>
                        </m:rPr>
                        <a:rPr lang="es-GT" sz="2200" b="0" i="0" dirty="0" smtClean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Aptos" panose="020B0004020202020204" pitchFamily="34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s-GT" sz="2200" i="0">
                          <a:solidFill>
                            <a:schemeClr val="bg1"/>
                          </a:solidFill>
                          <a:latin typeface="Aptos" panose="020B0004020202020204" pitchFamily="34" charset="0"/>
                        </a:rPr>
                        <m:t>kN</m:t>
                      </m:r>
                      <m:r>
                        <a:rPr lang="es-GT" sz="22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nor/>
                        </m:rPr>
                        <a:rPr lang="es-GT" sz="2200" i="0" dirty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Aptos" panose="020B0004020202020204" pitchFamily="34" charset="0"/>
                        </a:rPr>
                        <m:t>Peso columna</m:t>
                      </m:r>
                      <m:r>
                        <m:rPr>
                          <m:nor/>
                        </m:rPr>
                        <a:rPr lang="es-GT" sz="2200" b="0" i="0" dirty="0" smtClean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Aptos" panose="020B0004020202020204" pitchFamily="34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s-GT" sz="2200" i="0">
                          <a:solidFill>
                            <a:schemeClr val="bg1"/>
                          </a:solidFill>
                          <a:latin typeface="Aptos" panose="020B0004020202020204" pitchFamily="34" charset="0"/>
                        </a:rPr>
                        <m:t>kN</m:t>
                      </m:r>
                      <m:r>
                        <a:rPr lang="es-GT" sz="22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s-GT" sz="2200" i="0">
                          <a:solidFill>
                            <a:schemeClr val="bg1"/>
                          </a:solidFill>
                          <a:latin typeface="Aptos" panose="020B0004020202020204" pitchFamily="34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s-GT" sz="2200" b="0" i="0" smtClean="0">
                          <a:solidFill>
                            <a:schemeClr val="bg1"/>
                          </a:solidFill>
                          <a:latin typeface="Aptos" panose="020B0004020202020204" pitchFamily="34" charset="0"/>
                        </a:rPr>
                        <m:t>J </m:t>
                      </m:r>
                      <m:r>
                        <m:rPr>
                          <m:nor/>
                        </m:rPr>
                        <a:rPr lang="es-GT" sz="2200" i="0">
                          <a:solidFill>
                            <a:schemeClr val="bg1"/>
                          </a:solidFill>
                          <a:latin typeface="Aptos" panose="020B0004020202020204" pitchFamily="34" charset="0"/>
                        </a:rPr>
                        <m:t>kN</m:t>
                      </m:r>
                    </m:oMath>
                  </m:oMathPara>
                </a14:m>
                <a:endParaRPr lang="es-GT" sz="2200" dirty="0">
                  <a:solidFill>
                    <a:schemeClr val="bg1"/>
                  </a:solidFill>
                  <a:latin typeface="Aptos" panose="020B0004020202020204" pitchFamily="34" charset="0"/>
                </a:endParaRPr>
              </a:p>
              <a:p>
                <a:endParaRPr lang="es-GT" sz="2200" dirty="0">
                  <a:solidFill>
                    <a:schemeClr val="bg1"/>
                  </a:solidFill>
                  <a:latin typeface="Aptos" panose="020B0004020202020204" pitchFamily="34" charset="0"/>
                </a:endParaRPr>
              </a:p>
              <a:p>
                <a:pPr algn="just"/>
                <a:r>
                  <a:rPr lang="es-GT" sz="2200" dirty="0">
                    <a:solidFill>
                      <a:schemeClr val="bg1"/>
                    </a:solidFill>
                    <a:latin typeface="Aptos" panose="020B0004020202020204" pitchFamily="34" charset="0"/>
                  </a:rPr>
                  <a:t>Este valor de J es el parámetro exacto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GT" sz="22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GT" sz="22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s-GT" sz="22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</m:oMath>
                </a14:m>
                <a:r>
                  <a:rPr lang="es-GT" sz="2200" dirty="0">
                    <a:solidFill>
                      <a:schemeClr val="bg1"/>
                    </a:solidFill>
                    <a:latin typeface="Aptos" panose="020B0004020202020204" pitchFamily="34" charset="0"/>
                  </a:rPr>
                  <a:t>) que ingresarán posteriormente en </a:t>
                </a:r>
                <a:r>
                  <a:rPr lang="es-GT" sz="2200" i="1" dirty="0">
                    <a:solidFill>
                      <a:schemeClr val="bg1"/>
                    </a:solidFill>
                    <a:latin typeface="Aptos" panose="020B0004020202020204" pitchFamily="34" charset="0"/>
                  </a:rPr>
                  <a:t>Section </a:t>
                </a:r>
                <a:r>
                  <a:rPr lang="es-GT" sz="2200" i="1" dirty="0" err="1">
                    <a:solidFill>
                      <a:schemeClr val="bg1"/>
                    </a:solidFill>
                    <a:latin typeface="Aptos" panose="020B0004020202020204" pitchFamily="34" charset="0"/>
                  </a:rPr>
                  <a:t>Designer</a:t>
                </a:r>
                <a:r>
                  <a:rPr lang="es-GT" sz="2200" dirty="0">
                    <a:solidFill>
                      <a:schemeClr val="bg1"/>
                    </a:solidFill>
                    <a:latin typeface="Aptos" panose="020B0004020202020204" pitchFamily="34" charset="0"/>
                  </a:rPr>
                  <a:t> durante la Fase 3, demostrando que su bajada de cargas tiene fundamentos matemáticos trazables y no es un simple número extraído a ciegas de las reacciones de SAP2000. </a:t>
                </a:r>
              </a:p>
              <a:p>
                <a:endParaRPr lang="es-GT" sz="2200" dirty="0">
                  <a:solidFill>
                    <a:schemeClr val="bg1"/>
                  </a:solidFill>
                  <a:latin typeface="Aptos" panose="020B0004020202020204" pitchFamily="34" charset="0"/>
                </a:endParaRPr>
              </a:p>
              <a:p>
                <a:pPr lvl="0" algn="just"/>
                <a:endParaRPr lang="es-GT" sz="2200" dirty="0">
                  <a:solidFill>
                    <a:schemeClr val="bg1"/>
                  </a:solidFill>
                  <a:latin typeface="Aptos" panose="020B0004020202020204" pitchFamily="34" charset="0"/>
                </a:endParaRPr>
              </a:p>
            </p:txBody>
          </p:sp>
        </mc:Choice>
        <mc:Fallback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B7B93D1B-06DE-53AB-BB1A-FE7E3B9665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3173" y="1159577"/>
                <a:ext cx="10879890" cy="5358390"/>
              </a:xfrm>
              <a:prstGeom prst="rect">
                <a:avLst/>
              </a:prstGeom>
              <a:blipFill>
                <a:blip r:embed="rId5"/>
                <a:stretch>
                  <a:fillRect l="-729" t="-796" r="-785"/>
                </a:stretch>
              </a:blipFill>
            </p:spPr>
            <p:txBody>
              <a:bodyPr/>
              <a:lstStyle/>
              <a:p>
                <a:r>
                  <a:rPr lang="es-G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9" name="Google Shape;99;p14">
            <a:extLst>
              <a:ext uri="{FF2B5EF4-FFF2-40B4-BE49-F238E27FC236}">
                <a16:creationId xmlns:a16="http://schemas.microsoft.com/office/drawing/2014/main" id="{B7D3166F-54EE-6A5D-D3A7-066057BBDE17}"/>
              </a:ext>
            </a:extLst>
          </p:cNvPr>
          <p:cNvSpPr/>
          <p:nvPr/>
        </p:nvSpPr>
        <p:spPr>
          <a:xfrm>
            <a:off x="571499" y="1457838"/>
            <a:ext cx="45719" cy="969390"/>
          </a:xfrm>
          <a:prstGeom prst="rect">
            <a:avLst/>
          </a:prstGeom>
          <a:solidFill>
            <a:srgbClr val="FCD34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Google Shape;94;p14">
            <a:extLst>
              <a:ext uri="{FF2B5EF4-FFF2-40B4-BE49-F238E27FC236}">
                <a16:creationId xmlns:a16="http://schemas.microsoft.com/office/drawing/2014/main" id="{F4A9ADC2-1C72-9E37-2D59-AE11318E5428}"/>
              </a:ext>
            </a:extLst>
          </p:cNvPr>
          <p:cNvSpPr txBox="1"/>
          <p:nvPr/>
        </p:nvSpPr>
        <p:spPr>
          <a:xfrm>
            <a:off x="693173" y="103763"/>
            <a:ext cx="11186036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s-GT" sz="3400" b="1" dirty="0">
                <a:solidFill>
                  <a:srgbClr val="00B0F0"/>
                </a:solidFill>
                <a:latin typeface="Aptos" panose="020B0004020202020204" pitchFamily="34" charset="0"/>
              </a:rPr>
              <a:t>Introducción a la fase 2</a:t>
            </a:r>
            <a:endParaRPr lang="es-GT" sz="3400" b="1" dirty="0">
              <a:solidFill>
                <a:srgbClr val="00B0F0"/>
              </a:solidFill>
              <a:latin typeface="Aptos" panose="020B0004020202020204" pitchFamily="34" charset="0"/>
              <a:ea typeface="Montserrat"/>
              <a:cs typeface="Montserrat"/>
              <a:sym typeface="Montserrat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EAA7638F-4E34-2945-F805-085A56B1CCEA}"/>
              </a:ext>
            </a:extLst>
          </p:cNvPr>
          <p:cNvSpPr txBox="1"/>
          <p:nvPr/>
        </p:nvSpPr>
        <p:spPr>
          <a:xfrm>
            <a:off x="693173" y="673388"/>
            <a:ext cx="7654413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GT" sz="2200" b="1" dirty="0">
                <a:solidFill>
                  <a:schemeClr val="tx2">
                    <a:lumMod val="50000"/>
                  </a:schemeClr>
                </a:solidFill>
              </a:rPr>
              <a:t>Geometría y cargas</a:t>
            </a:r>
            <a:endParaRPr lang="es-GT" sz="2200" dirty="0">
              <a:solidFill>
                <a:schemeClr val="tx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319191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7" name="Google Shape;247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23"/>
          <p:cNvSpPr/>
          <p:nvPr/>
        </p:nvSpPr>
        <p:spPr>
          <a:xfrm>
            <a:off x="571500" y="2698551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23"/>
          <p:cNvSpPr/>
          <p:nvPr/>
        </p:nvSpPr>
        <p:spPr>
          <a:xfrm>
            <a:off x="571500" y="3483322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23"/>
          <p:cNvSpPr/>
          <p:nvPr/>
        </p:nvSpPr>
        <p:spPr>
          <a:xfrm>
            <a:off x="571500" y="347379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23"/>
          <p:cNvSpPr/>
          <p:nvPr/>
        </p:nvSpPr>
        <p:spPr>
          <a:xfrm>
            <a:off x="571500" y="425856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23"/>
          <p:cNvSpPr/>
          <p:nvPr/>
        </p:nvSpPr>
        <p:spPr>
          <a:xfrm>
            <a:off x="571500" y="425856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23"/>
          <p:cNvSpPr txBox="1"/>
          <p:nvPr/>
        </p:nvSpPr>
        <p:spPr>
          <a:xfrm>
            <a:off x="958646" y="3556835"/>
            <a:ext cx="6897329" cy="609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dirty="0">
                <a:solidFill>
                  <a:srgbClr val="F8FAFC"/>
                </a:solidFill>
                <a:latin typeface="Montserrat"/>
                <a:sym typeface="Montserrat"/>
              </a:rPr>
              <a:t>Gracias </a:t>
            </a:r>
            <a:r>
              <a:rPr lang="en-US" sz="3300" b="1" dirty="0" err="1">
                <a:solidFill>
                  <a:srgbClr val="F8FAFC"/>
                </a:solidFill>
                <a:latin typeface="Montserrat"/>
                <a:sym typeface="Montserrat"/>
              </a:rPr>
              <a:t>por</a:t>
            </a:r>
            <a:r>
              <a:rPr lang="en-US" sz="3300" b="1" dirty="0">
                <a:solidFill>
                  <a:srgbClr val="F8FAFC"/>
                </a:solidFill>
                <a:latin typeface="Montserrat"/>
                <a:sym typeface="Montserrat"/>
              </a:rPr>
              <a:t> </a:t>
            </a:r>
            <a:r>
              <a:rPr lang="en-US" sz="3300" b="1" dirty="0" err="1">
                <a:solidFill>
                  <a:srgbClr val="F8FAFC"/>
                </a:solidFill>
                <a:latin typeface="Montserrat"/>
                <a:sym typeface="Montserrat"/>
              </a:rPr>
              <a:t>su</a:t>
            </a:r>
            <a:r>
              <a:rPr lang="en-US" sz="3300" b="1" dirty="0">
                <a:solidFill>
                  <a:srgbClr val="F8FAFC"/>
                </a:solidFill>
                <a:latin typeface="Montserrat"/>
                <a:sym typeface="Montserrat"/>
              </a:rPr>
              <a:t> </a:t>
            </a:r>
            <a:r>
              <a:rPr lang="en-US" sz="3300" b="1" dirty="0" err="1">
                <a:solidFill>
                  <a:srgbClr val="F8FAFC"/>
                </a:solidFill>
                <a:latin typeface="Montserrat"/>
                <a:sym typeface="Montserrat"/>
              </a:rPr>
              <a:t>atención</a:t>
            </a:r>
            <a:endParaRPr dirty="0"/>
          </a:p>
        </p:txBody>
      </p:sp>
      <p:sp>
        <p:nvSpPr>
          <p:cNvPr id="264" name="Google Shape;264;p23"/>
          <p:cNvSpPr/>
          <p:nvPr/>
        </p:nvSpPr>
        <p:spPr>
          <a:xfrm>
            <a:off x="699320" y="3571008"/>
            <a:ext cx="57150" cy="50289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5493</TotalTime>
  <Words>856</Words>
  <Application>Microsoft Office PowerPoint</Application>
  <PresentationFormat>Panorámica</PresentationFormat>
  <Paragraphs>82</Paragraphs>
  <Slides>9</Slides>
  <Notes>9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7" baseType="lpstr">
      <vt:lpstr>Inter Medium</vt:lpstr>
      <vt:lpstr>Arial</vt:lpstr>
      <vt:lpstr>Montserrat</vt:lpstr>
      <vt:lpstr>Cambria Math</vt:lpstr>
      <vt:lpstr>Aptos</vt:lpstr>
      <vt:lpstr>Montserrat ExtraBold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Luis</cp:lastModifiedBy>
  <cp:revision>162</cp:revision>
  <dcterms:modified xsi:type="dcterms:W3CDTF">2026-10-10T19:29:58Z</dcterms:modified>
</cp:coreProperties>
</file>