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78" r:id="rId4"/>
    <p:sldId id="279" r:id="rId5"/>
    <p:sldId id="280" r:id="rId6"/>
    <p:sldId id="277" r:id="rId7"/>
    <p:sldId id="258" r:id="rId8"/>
    <p:sldId id="259" r:id="rId9"/>
    <p:sldId id="275" r:id="rId10"/>
    <p:sldId id="260" r:id="rId11"/>
    <p:sldId id="261" r:id="rId12"/>
    <p:sldId id="269" r:id="rId13"/>
    <p:sldId id="276" r:id="rId14"/>
    <p:sldId id="272" r:id="rId15"/>
    <p:sldId id="274" r:id="rId16"/>
    <p:sldId id="281" r:id="rId17"/>
    <p:sldId id="266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Inter Medium" panose="020B0604020202020204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ExtraBold" panose="00000900000000000000" pitchFamily="2" charset="0"/>
      <p:bold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95FF9F3-CFA4-77C5-92CA-640A8A77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326E546-3FBA-D901-7073-1C6088473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231A662-64E2-E4C1-13AF-DD0285635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726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A8EAAE5-8769-E111-DC17-6F42A92A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756E936-B63B-2CA3-49C8-2C136787E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4F56FB9-8AE5-F4D9-8ACA-9DE0127A1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964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B0AB1FB-F5D3-12F9-9361-914AC4DE4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7DC3C2F-67A8-6CC1-2C8E-D25254155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ADF77D9-CB12-FF6D-6BA7-C0922A8B14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2477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3956AAB-0F11-34B2-4DCF-78959FC1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763888C-FDDE-53A8-9841-C51749B01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81013BD-A7EF-5C99-3E42-6A2C843289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075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4f31a4d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f84f31a4d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000FAE5E-0BA9-B2B6-0536-FF501AA4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4f31a4dd_0_7:notes">
            <a:extLst>
              <a:ext uri="{FF2B5EF4-FFF2-40B4-BE49-F238E27FC236}">
                <a16:creationId xmlns:a16="http://schemas.microsoft.com/office/drawing/2014/main" id="{5D993956-102F-6BF9-15FD-6E6530C4B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f84f31a4dd_0_7:notes">
            <a:extLst>
              <a:ext uri="{FF2B5EF4-FFF2-40B4-BE49-F238E27FC236}">
                <a16:creationId xmlns:a16="http://schemas.microsoft.com/office/drawing/2014/main" id="{BEBF2199-4218-EC8C-065C-0A49B314F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3562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920EB4CB-933B-AEEC-15D0-7D396E32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8E47C3AF-E1F9-B6FA-EA46-F5EE72675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E2760A1B-89B1-A5D7-04BE-9D5FBD5FE9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954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A6BF4929-5C96-ECF0-86E3-F552E93C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B9FFFF24-A767-2C08-8BA6-2453E96FD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3022C636-AB84-502D-EE7C-4AA47D075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936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E05F8F46-E903-EE11-DF3B-B9862427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6181F099-5626-B7DB-4F00-49646EC91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0E5CCEFC-4215-D43E-ECB1-6CD3D2749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8319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A9948E1B-B301-6B78-F6D6-9B794E6B0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2E28A481-3E79-8617-104C-91CAAE2B1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ABDC1C34-BAB6-A7C7-599E-E86FD3139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779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5993ADC4-C918-A3BC-CD31-8C3B852C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6877F15C-F7DB-7B4C-58F9-DE1850058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3AC1CD13-6C09-568A-66DA-5DE58E9A2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1894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52500" y="2716559"/>
            <a:ext cx="11201400" cy="140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Diseño Sismorresistente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de </a:t>
            </a:r>
            <a:r>
              <a:rPr lang="en-US" sz="4800" b="0" i="0" u="none" strike="noStrike" cap="none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Puentes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34712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Clase 2: 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Partes del Puente, </a:t>
            </a:r>
            <a:r>
              <a:rPr lang="en-US" sz="1800" dirty="0" err="1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Construcción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 del </a:t>
            </a:r>
            <a:r>
              <a:rPr lang="en-US" sz="1800" dirty="0" err="1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Espectro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 de Respuesta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40350" y="567747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Msc</a:t>
            </a:r>
            <a:r>
              <a:rPr lang="en-US" sz="1800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. Cindy Carolina Colomo De León  						05/09/26</a:t>
            </a:r>
            <a:endParaRPr dirty="0"/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DC544CEF-DA07-7A1B-2E12-64AAD0F5B105}"/>
              </a:ext>
            </a:extLst>
          </p:cNvPr>
          <p:cNvSpPr txBox="1"/>
          <p:nvPr/>
        </p:nvSpPr>
        <p:spPr>
          <a:xfrm>
            <a:off x="952500" y="201262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70C0"/>
                </a:solidFill>
                <a:latin typeface="Inter Medium"/>
                <a:ea typeface="Inter Medium"/>
                <a:cs typeface="Inter Medium"/>
                <a:sym typeface="Inter Medium"/>
              </a:rPr>
              <a:t>MAESTR</a:t>
            </a:r>
            <a:r>
              <a:rPr lang="es-GT" sz="1800" dirty="0">
                <a:solidFill>
                  <a:srgbClr val="0070C0"/>
                </a:solidFill>
                <a:latin typeface="Inter Medium"/>
                <a:ea typeface="Inter Medium"/>
                <a:cs typeface="Inter Medium"/>
                <a:sym typeface="Inter Medium"/>
              </a:rPr>
              <a:t>ÍA EN INGENIERÍA ESTRUCTURAL Y SISMORRESISTENTE - CUNOC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52168" y="460977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Partes del </a:t>
            </a:r>
            <a:r>
              <a:rPr lang="en-US" sz="3300" b="1" i="0" u="none" strike="noStrike" cap="none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puente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71500" y="262786"/>
            <a:ext cx="57150" cy="10057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80669" y="100985"/>
            <a:ext cx="59915" cy="116758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2DD10AF8-B7DE-D42E-50B6-D1C412F591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0206"/>
            <a:ext cx="11349345" cy="552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7D8BACD-47A0-F290-EAF9-7BC432320DF3}"/>
              </a:ext>
            </a:extLst>
          </p:cNvPr>
          <p:cNvSpPr txBox="1"/>
          <p:nvPr/>
        </p:nvSpPr>
        <p:spPr>
          <a:xfrm>
            <a:off x="752398" y="1268566"/>
            <a:ext cx="109875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000" dirty="0">
                <a:solidFill>
                  <a:schemeClr val="bg1"/>
                </a:solidFill>
              </a:rPr>
              <a:t>Bajo el marco de diseño estructural (como las especificaciones AASHTO LRFD), un puente se divide en dos </a:t>
            </a:r>
            <a:r>
              <a:rPr lang="es-GT" sz="2000" dirty="0" err="1">
                <a:solidFill>
                  <a:schemeClr val="bg1"/>
                </a:solidFill>
              </a:rPr>
              <a:t>macro-sistemas</a:t>
            </a:r>
            <a:r>
              <a:rPr lang="es-GT" sz="2000" dirty="0">
                <a:solidFill>
                  <a:schemeClr val="bg1"/>
                </a:solidFill>
              </a:rPr>
              <a:t> principales, conectados por los aparatos de apoyo.</a:t>
            </a:r>
          </a:p>
          <a:p>
            <a:pPr algn="just"/>
            <a:endParaRPr lang="es-GT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000" b="1" dirty="0">
                <a:solidFill>
                  <a:schemeClr val="bg1"/>
                </a:solidFill>
              </a:rPr>
              <a:t>Superestructura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000" dirty="0">
                <a:solidFill>
                  <a:schemeClr val="bg1"/>
                </a:solidFill>
              </a:rPr>
              <a:t>Subestructura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BBC0F69-F8D8-B200-E289-1DE82AAED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003" y="2131581"/>
            <a:ext cx="7877713" cy="4296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8BA6006E-8521-025F-026D-1E09CBB4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701E4625-67E7-E8FC-D9F0-DB07C5D3BE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786AD42A-5E14-7DDE-78CF-9BA00B13E720}"/>
              </a:ext>
            </a:extLst>
          </p:cNvPr>
          <p:cNvSpPr txBox="1"/>
          <p:nvPr/>
        </p:nvSpPr>
        <p:spPr>
          <a:xfrm>
            <a:off x="752168" y="460977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Partes del </a:t>
            </a:r>
            <a:r>
              <a:rPr lang="en-US" sz="3300" b="1" i="0" u="none" strike="noStrike" cap="none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puente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F1FE204F-E2AD-66CA-7ECB-4BD7AA460D0C}"/>
              </a:ext>
            </a:extLst>
          </p:cNvPr>
          <p:cNvSpPr/>
          <p:nvPr/>
        </p:nvSpPr>
        <p:spPr>
          <a:xfrm>
            <a:off x="571499" y="163691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72BCAC53-AEB3-4A95-B778-795EF3F318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327" y="1268566"/>
            <a:ext cx="11426544" cy="541889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6FED9E1-CD33-DFC9-7F4A-8572688F21F4}"/>
              </a:ext>
            </a:extLst>
          </p:cNvPr>
          <p:cNvSpPr txBox="1"/>
          <p:nvPr/>
        </p:nvSpPr>
        <p:spPr>
          <a:xfrm>
            <a:off x="628649" y="1324784"/>
            <a:ext cx="1114202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400" b="1" dirty="0">
                <a:solidFill>
                  <a:schemeClr val="tx2">
                    <a:lumMod val="50000"/>
                  </a:schemeClr>
                </a:solidFill>
              </a:rPr>
              <a:t>Superestructura</a:t>
            </a:r>
          </a:p>
          <a:p>
            <a:pPr algn="just"/>
            <a:r>
              <a:rPr lang="es-GT" sz="2400" dirty="0">
                <a:solidFill>
                  <a:schemeClr val="bg1"/>
                </a:solidFill>
              </a:rPr>
              <a:t>Es el sistema que recibe directamente las cargas de tráfico (vivas) y las transfiere hacia los apoyos.</a:t>
            </a:r>
          </a:p>
          <a:p>
            <a:pPr algn="just"/>
            <a:endParaRPr lang="es-GT" sz="2400" dirty="0">
              <a:solidFill>
                <a:schemeClr val="bg1"/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GT" sz="2400" b="1" dirty="0">
                <a:solidFill>
                  <a:srgbClr val="00B0F0"/>
                </a:solidFill>
              </a:rPr>
              <a:t>Tablero (Losa):</a:t>
            </a:r>
            <a:r>
              <a:rPr lang="es-GT" sz="2400" dirty="0">
                <a:solidFill>
                  <a:srgbClr val="00B0F0"/>
                </a:solidFill>
              </a:rPr>
              <a:t> </a:t>
            </a:r>
            <a:r>
              <a:rPr lang="es-GT" sz="2400" dirty="0">
                <a:solidFill>
                  <a:schemeClr val="bg1"/>
                </a:solidFill>
              </a:rPr>
              <a:t>La superficie de rodadura, típicamente de concreto reforzado. Es el elemento que sufre el impacto directo de la carga vehicular y peatonal.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GT" sz="2400" b="1" dirty="0">
                <a:solidFill>
                  <a:srgbClr val="00B0F0"/>
                </a:solidFill>
              </a:rPr>
              <a:t>Vigas Principales (Longitudinales):</a:t>
            </a:r>
            <a:r>
              <a:rPr lang="es-GT" sz="2400" dirty="0">
                <a:solidFill>
                  <a:srgbClr val="00B0F0"/>
                </a:solidFill>
              </a:rPr>
              <a:t> </a:t>
            </a:r>
            <a:r>
              <a:rPr lang="es-GT" sz="2400" dirty="0">
                <a:solidFill>
                  <a:schemeClr val="bg1"/>
                </a:solidFill>
              </a:rPr>
              <a:t>Elementos portantes (acero, concreto presforzado/postensado) que salvan la luz entre los apoyos.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GT" sz="2400" b="1" dirty="0">
                <a:solidFill>
                  <a:srgbClr val="00B0F0"/>
                </a:solidFill>
              </a:rPr>
              <a:t>Diafragmas (Vigas Transversales):</a:t>
            </a:r>
            <a:r>
              <a:rPr lang="es-GT" sz="2400" dirty="0">
                <a:solidFill>
                  <a:srgbClr val="00B0F0"/>
                </a:solidFill>
              </a:rPr>
              <a:t> </a:t>
            </a:r>
            <a:r>
              <a:rPr lang="es-GT" sz="2400" dirty="0">
                <a:solidFill>
                  <a:schemeClr val="bg1"/>
                </a:solidFill>
              </a:rPr>
              <a:t>Arriostramientos que conectan las vigas principales. Son críticos para la distribución transversal de cargas y para proveer rigidez torsional, especialmente bajo cargas sísmicas o de viento.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GT" sz="2400" b="1" dirty="0">
                <a:solidFill>
                  <a:srgbClr val="00B0F0"/>
                </a:solidFill>
              </a:rPr>
              <a:t>Elementos complementarios:</a:t>
            </a:r>
            <a:r>
              <a:rPr lang="es-GT" sz="2400" dirty="0">
                <a:solidFill>
                  <a:srgbClr val="00B0F0"/>
                </a:solidFill>
              </a:rPr>
              <a:t> </a:t>
            </a:r>
            <a:r>
              <a:rPr lang="es-GT" sz="2400" dirty="0">
                <a:solidFill>
                  <a:schemeClr val="bg1"/>
                </a:solidFill>
              </a:rPr>
              <a:t>Parapetos (barreras New Jersey), juntas de expansión, carpeta asfáltica, y aceras.</a:t>
            </a:r>
            <a:endParaRPr lang="es-GT" sz="2400" dirty="0"/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C512ED11-B520-049A-075C-E2305DC890A3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38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DB3C0A8-367E-E18F-58E7-B8ECE48F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BFF41C2D-036F-FD09-ECD0-C8A7FA68BC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C4779CEB-C14A-13DB-50EE-103830D9CCBE}"/>
              </a:ext>
            </a:extLst>
          </p:cNvPr>
          <p:cNvSpPr txBox="1"/>
          <p:nvPr/>
        </p:nvSpPr>
        <p:spPr>
          <a:xfrm>
            <a:off x="752168" y="460977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Partes del </a:t>
            </a:r>
            <a:r>
              <a:rPr lang="en-US" sz="3300" b="1" i="0" u="none" strike="noStrike" cap="none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puente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8A32EA51-869B-1A23-B5F1-0803338183D5}"/>
              </a:ext>
            </a:extLst>
          </p:cNvPr>
          <p:cNvSpPr/>
          <p:nvPr/>
        </p:nvSpPr>
        <p:spPr>
          <a:xfrm flipH="1">
            <a:off x="525781" y="262786"/>
            <a:ext cx="45719" cy="8048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C83977C8-62F3-4DE1-AEBB-62BB509F0F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647" y="1163922"/>
            <a:ext cx="11426544" cy="541889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AB33D93-1EE8-A16C-4C87-D1C3B30F6938}"/>
              </a:ext>
            </a:extLst>
          </p:cNvPr>
          <p:cNvSpPr txBox="1"/>
          <p:nvPr/>
        </p:nvSpPr>
        <p:spPr>
          <a:xfrm>
            <a:off x="673079" y="1163922"/>
            <a:ext cx="111420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400" b="1" dirty="0">
                <a:solidFill>
                  <a:schemeClr val="tx2">
                    <a:lumMod val="50000"/>
                  </a:schemeClr>
                </a:solidFill>
              </a:rPr>
              <a:t>Subestructura</a:t>
            </a:r>
          </a:p>
          <a:p>
            <a:pPr algn="just"/>
            <a:r>
              <a:rPr lang="es-GT" sz="2400" dirty="0">
                <a:solidFill>
                  <a:schemeClr val="bg1"/>
                </a:solidFill>
              </a:rPr>
              <a:t>Es el sistema encargado de recibir las cargas de la superestructura y transmitirlas de forma segura al suelo de cimentación.</a:t>
            </a:r>
          </a:p>
          <a:p>
            <a:pPr algn="just"/>
            <a:endParaRPr lang="es-GT" sz="2400" dirty="0">
              <a:solidFill>
                <a:schemeClr val="bg1"/>
              </a:solidFill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GT" sz="2300" b="1" dirty="0">
                <a:solidFill>
                  <a:srgbClr val="00B0F0"/>
                </a:solidFill>
              </a:rPr>
              <a:t>Pilas (Bastiones centrales):</a:t>
            </a:r>
            <a:r>
              <a:rPr lang="es-GT" sz="2300" dirty="0">
                <a:solidFill>
                  <a:srgbClr val="00B0F0"/>
                </a:solidFill>
              </a:rPr>
              <a:t> </a:t>
            </a:r>
            <a:r>
              <a:rPr lang="es-GT" sz="2300" dirty="0">
                <a:solidFill>
                  <a:schemeClr val="bg1"/>
                </a:solidFill>
              </a:rPr>
              <a:t>Soportes intermedios. Compuestos generalmente por columnas y una viga cabezal (capitel) donde descansan las vigas longitudinales. En diseño sismorresistente, aquí es donde se concentran las rótulas plásticas para disipar energía.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GT" sz="2300" b="1" dirty="0">
                <a:solidFill>
                  <a:srgbClr val="00B0F0"/>
                </a:solidFill>
              </a:rPr>
              <a:t>Estribos (Bastiones extremos):</a:t>
            </a:r>
            <a:r>
              <a:rPr lang="es-GT" sz="2300" dirty="0">
                <a:solidFill>
                  <a:srgbClr val="00B0F0"/>
                </a:solidFill>
              </a:rPr>
              <a:t> </a:t>
            </a:r>
            <a:r>
              <a:rPr lang="es-GT" sz="2300" dirty="0">
                <a:solidFill>
                  <a:schemeClr val="bg1"/>
                </a:solidFill>
              </a:rPr>
              <a:t>Estructuras de retención en los extremos del puente. Cumplen una doble función: soportar el extremo de la superestructura y contener el empuje de tierras del terraplén de acceso. Incluyen los </a:t>
            </a:r>
            <a:r>
              <a:rPr lang="es-GT" sz="2300" dirty="0" err="1">
                <a:solidFill>
                  <a:schemeClr val="bg1"/>
                </a:solidFill>
              </a:rPr>
              <a:t>aletones</a:t>
            </a:r>
            <a:r>
              <a:rPr lang="es-GT" sz="2300" dirty="0">
                <a:solidFill>
                  <a:schemeClr val="bg1"/>
                </a:solidFill>
              </a:rPr>
              <a:t> (muros laterales).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GT" sz="2300" b="1" dirty="0">
                <a:solidFill>
                  <a:srgbClr val="00B0F0"/>
                </a:solidFill>
              </a:rPr>
              <a:t>Cimentación:</a:t>
            </a:r>
            <a:r>
              <a:rPr lang="es-GT" sz="2300" dirty="0">
                <a:solidFill>
                  <a:srgbClr val="00B0F0"/>
                </a:solidFill>
              </a:rPr>
              <a:t> </a:t>
            </a:r>
            <a:r>
              <a:rPr lang="es-GT" sz="2300" dirty="0">
                <a:solidFill>
                  <a:schemeClr val="bg1"/>
                </a:solidFill>
              </a:rPr>
              <a:t>Puede ser superficial (zapatas aisladas o losas de cimentación) o profunda (pilotes, cilindros, </a:t>
            </a:r>
            <a:r>
              <a:rPr lang="es-GT" sz="2300" dirty="0" err="1">
                <a:solidFill>
                  <a:schemeClr val="bg1"/>
                </a:solidFill>
              </a:rPr>
              <a:t>caissons</a:t>
            </a:r>
            <a:r>
              <a:rPr lang="es-GT" sz="2300" dirty="0">
                <a:solidFill>
                  <a:schemeClr val="bg1"/>
                </a:solidFill>
              </a:rPr>
              <a:t>), dependiendo de los resultados del estudio geotécnico y del riesgo de socavación.</a:t>
            </a: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1E160477-3BEF-B039-1793-27B83014B0F4}"/>
              </a:ext>
            </a:extLst>
          </p:cNvPr>
          <p:cNvSpPr/>
          <p:nvPr/>
        </p:nvSpPr>
        <p:spPr>
          <a:xfrm>
            <a:off x="643121" y="1280937"/>
            <a:ext cx="45719" cy="93132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797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F7392A7F-7043-47B3-5907-DC5A11FC4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926A5E4C-4FCA-C451-9F9F-1E062ED0E3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052D1DB4-A297-BB99-19F2-E9D59D916FA9}"/>
              </a:ext>
            </a:extLst>
          </p:cNvPr>
          <p:cNvSpPr txBox="1"/>
          <p:nvPr/>
        </p:nvSpPr>
        <p:spPr>
          <a:xfrm>
            <a:off x="752168" y="460977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Partes del </a:t>
            </a:r>
            <a:r>
              <a:rPr lang="en-US" sz="3300" b="1" i="0" u="none" strike="noStrike" cap="none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puente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9378DAFB-8D91-890C-C5C8-390D8D1E6814}"/>
              </a:ext>
            </a:extLst>
          </p:cNvPr>
          <p:cNvSpPr/>
          <p:nvPr/>
        </p:nvSpPr>
        <p:spPr>
          <a:xfrm flipH="1">
            <a:off x="525781" y="262786"/>
            <a:ext cx="45719" cy="8048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56783F1A-B5BA-9EDA-D235-3E1B83D0DD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647" y="1163922"/>
            <a:ext cx="11426544" cy="541889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A86587E-AA9F-BB7B-F69E-F5CF8D4C4C72}"/>
              </a:ext>
            </a:extLst>
          </p:cNvPr>
          <p:cNvSpPr txBox="1"/>
          <p:nvPr/>
        </p:nvSpPr>
        <p:spPr>
          <a:xfrm>
            <a:off x="688840" y="1280937"/>
            <a:ext cx="11142023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700" b="1" dirty="0">
                <a:solidFill>
                  <a:schemeClr val="tx2">
                    <a:lumMod val="50000"/>
                  </a:schemeClr>
                </a:solidFill>
              </a:rPr>
              <a:t>Sistema de Conexión y Disipación</a:t>
            </a:r>
          </a:p>
          <a:p>
            <a:pPr algn="just"/>
            <a:r>
              <a:rPr lang="es-GT" sz="2700" dirty="0">
                <a:solidFill>
                  <a:schemeClr val="bg1"/>
                </a:solidFill>
              </a:rPr>
              <a:t>Elementos intermedios críticos para aislar o transferir esfuerzos de manera controlada.</a:t>
            </a:r>
          </a:p>
          <a:p>
            <a:pPr algn="just"/>
            <a:endParaRPr lang="es-GT" sz="2700" dirty="0">
              <a:solidFill>
                <a:schemeClr val="bg1"/>
              </a:solidFill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GT" sz="2700" b="1" dirty="0">
                <a:solidFill>
                  <a:srgbClr val="00B0F0"/>
                </a:solidFill>
              </a:rPr>
              <a:t>Aparatos de Apoyo (Neoprenos / Elastómeros):</a:t>
            </a:r>
            <a:r>
              <a:rPr lang="es-GT" sz="2700" dirty="0">
                <a:solidFill>
                  <a:srgbClr val="00B0F0"/>
                </a:solidFill>
              </a:rPr>
              <a:t> </a:t>
            </a:r>
            <a:r>
              <a:rPr lang="es-GT" sz="2700" dirty="0">
                <a:solidFill>
                  <a:schemeClr val="bg1"/>
                </a:solidFill>
              </a:rPr>
              <a:t>Almohadillas que absorben movimientos de traslación (expansión térmica) y rotación de las vigas.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GT" sz="2700" b="1" dirty="0">
                <a:solidFill>
                  <a:srgbClr val="00B0F0"/>
                </a:solidFill>
              </a:rPr>
              <a:t>Dispositivos Sismorresistentes:</a:t>
            </a:r>
            <a:r>
              <a:rPr lang="es-GT" sz="2700" dirty="0">
                <a:solidFill>
                  <a:srgbClr val="00B0F0"/>
                </a:solidFill>
              </a:rPr>
              <a:t> </a:t>
            </a:r>
            <a:r>
              <a:rPr lang="es-GT" sz="2700" dirty="0">
                <a:solidFill>
                  <a:schemeClr val="bg1"/>
                </a:solidFill>
              </a:rPr>
              <a:t>Aisladores </a:t>
            </a:r>
            <a:r>
              <a:rPr lang="es-GT" sz="2700" dirty="0" err="1">
                <a:solidFill>
                  <a:schemeClr val="bg1"/>
                </a:solidFill>
              </a:rPr>
              <a:t>elastoméricos</a:t>
            </a:r>
            <a:r>
              <a:rPr lang="es-GT" sz="2700" dirty="0">
                <a:solidFill>
                  <a:schemeClr val="bg1"/>
                </a:solidFill>
              </a:rPr>
              <a:t> con núcleo de plomo (LRB), disipadores viscosos o topes sísmicos (</a:t>
            </a:r>
            <a:r>
              <a:rPr lang="es-GT" sz="2700" dirty="0" err="1">
                <a:solidFill>
                  <a:schemeClr val="bg1"/>
                </a:solidFill>
              </a:rPr>
              <a:t>shear</a:t>
            </a:r>
            <a:r>
              <a:rPr lang="es-GT" sz="2700" dirty="0">
                <a:solidFill>
                  <a:schemeClr val="bg1"/>
                </a:solidFill>
              </a:rPr>
              <a:t> blocks) diseñados para limitar desplazamientos y proteger la infraestructura durante un evento sísmico.</a:t>
            </a: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A98EFD1D-9870-918F-748B-E5457BF45968}"/>
              </a:ext>
            </a:extLst>
          </p:cNvPr>
          <p:cNvSpPr/>
          <p:nvPr/>
        </p:nvSpPr>
        <p:spPr>
          <a:xfrm>
            <a:off x="643121" y="1280937"/>
            <a:ext cx="45719" cy="93132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246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96181B34-C655-EFD5-26D4-2DA4AA38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989AD7DA-7714-F09C-A53A-AF84A56A6A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1C929B82-CE5B-3879-AF64-DD04921564F4}"/>
              </a:ext>
            </a:extLst>
          </p:cNvPr>
          <p:cNvSpPr txBox="1"/>
          <p:nvPr/>
        </p:nvSpPr>
        <p:spPr>
          <a:xfrm>
            <a:off x="752168" y="460977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396792D-9A44-CBB6-245D-429BCE992CEE}"/>
              </a:ext>
            </a:extLst>
          </p:cNvPr>
          <p:cNvSpPr/>
          <p:nvPr/>
        </p:nvSpPr>
        <p:spPr>
          <a:xfrm>
            <a:off x="571500" y="262786"/>
            <a:ext cx="57150" cy="10057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DC2D5976-794B-08FC-BE21-6949854D9248}"/>
              </a:ext>
            </a:extLst>
          </p:cNvPr>
          <p:cNvSpPr/>
          <p:nvPr/>
        </p:nvSpPr>
        <p:spPr>
          <a:xfrm>
            <a:off x="628650" y="2261419"/>
            <a:ext cx="59915" cy="1167581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56BAC6-4F05-EC0D-8C24-A4A4EBC21F02}"/>
              </a:ext>
            </a:extLst>
          </p:cNvPr>
          <p:cNvSpPr txBox="1"/>
          <p:nvPr/>
        </p:nvSpPr>
        <p:spPr>
          <a:xfrm>
            <a:off x="762082" y="2185947"/>
            <a:ext cx="385907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000" dirty="0">
                <a:solidFill>
                  <a:schemeClr val="bg1"/>
                </a:solidFill>
              </a:rPr>
              <a:t>Define la aceleración sísmica esperada que la estructura debe resistir, en función de su periodo fundamental de vibración.</a:t>
            </a:r>
          </a:p>
          <a:p>
            <a:pPr algn="just"/>
            <a:endParaRPr lang="es-GT" sz="2000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GT" dirty="0">
                <a:solidFill>
                  <a:schemeClr val="bg1"/>
                </a:solidFill>
              </a:rPr>
              <a:t>AASHTO LRFD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GT" sz="2000" dirty="0">
                <a:solidFill>
                  <a:schemeClr val="bg1"/>
                </a:solidFill>
              </a:rPr>
              <a:t>Parámetros de zonificación sísmica </a:t>
            </a:r>
            <a:r>
              <a:rPr lang="es-GT" dirty="0">
                <a:solidFill>
                  <a:schemeClr val="bg1"/>
                </a:solidFill>
              </a:rPr>
              <a:t>AGIES NSE-2.</a:t>
            </a:r>
            <a:endParaRPr lang="es-GT" sz="20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FF340D-434F-F840-CC2D-A1BBFCFF1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690" y="1176505"/>
            <a:ext cx="6996301" cy="511376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347A17-2991-6FA6-6F94-EB0EB392ED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083" r="90479" b="26704"/>
          <a:stretch>
            <a:fillRect/>
          </a:stretch>
        </p:blipFill>
        <p:spPr>
          <a:xfrm>
            <a:off x="4870690" y="1531352"/>
            <a:ext cx="670307" cy="273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0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317" y="1317697"/>
            <a:ext cx="11299108" cy="513056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Google Shape;111;p15"/>
              <p:cNvSpPr txBox="1"/>
              <p:nvPr/>
            </p:nvSpPr>
            <p:spPr>
              <a:xfrm>
                <a:off x="648315" y="1504303"/>
                <a:ext cx="10973414" cy="5506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s-GT" sz="2300" b="1" dirty="0">
                    <a:solidFill>
                      <a:srgbClr val="00B0F0"/>
                    </a:solidFill>
                  </a:rPr>
                  <a:t>La aceleración sísmica esperada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GT" sz="2300" b="1" dirty="0">
                    <a:solidFill>
                      <a:srgbClr val="00B0F0"/>
                    </a:solidFill>
                  </a:rPr>
                  <a:t>):</a:t>
                </a:r>
                <a:r>
                  <a:rPr lang="es-GT" sz="2300" dirty="0">
                    <a:solidFill>
                      <a:srgbClr val="00B0F0"/>
                    </a:solidFill>
                  </a:rPr>
                  <a:t> </a:t>
                </a:r>
                <a:r>
                  <a:rPr lang="es-GT" sz="2300" dirty="0">
                    <a:solidFill>
                      <a:schemeClr val="bg1"/>
                    </a:solidFill>
                  </a:rPr>
                  <a:t>Es la demanda sísmica (aceleración espectral) que experimentará la masa de la estructura. </a:t>
                </a:r>
              </a:p>
              <a:p>
                <a:pPr lvl="0" algn="just"/>
                <a:endParaRPr lang="es-GT" sz="2300" dirty="0">
                  <a:solidFill>
                    <a:schemeClr val="bg1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GT" sz="2300" b="1" dirty="0">
                    <a:solidFill>
                      <a:srgbClr val="00B0F0"/>
                    </a:solidFill>
                  </a:rPr>
                  <a:t>Periodo fundamental de vibración (</a:t>
                </a:r>
                <a14:m>
                  <m:oMath xmlns:m="http://schemas.openxmlformats.org/officeDocument/2006/math">
                    <m:r>
                      <a:rPr lang="es-GT" sz="23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GT" sz="2300" b="1" dirty="0">
                    <a:solidFill>
                      <a:srgbClr val="00B0F0"/>
                    </a:solidFill>
                  </a:rPr>
                  <a:t>):</a:t>
                </a:r>
                <a:r>
                  <a:rPr lang="es-GT" sz="2300" dirty="0">
                    <a:solidFill>
                      <a:srgbClr val="00B0F0"/>
                    </a:solidFill>
                  </a:rPr>
                  <a:t> </a:t>
                </a:r>
                <a:r>
                  <a:rPr lang="es-GT" sz="2300" dirty="0">
                    <a:solidFill>
                      <a:schemeClr val="bg1"/>
                    </a:solidFill>
                  </a:rPr>
                  <a:t>Es el tiempo, en segundos, que tarda en completar un ciclo de oscilación libre. Depende de la relación entre su masa (</a:t>
                </a:r>
                <a14:m>
                  <m:oMath xmlns:m="http://schemas.openxmlformats.org/officeDocument/2006/math"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 y su rigidez (</a:t>
                </a:r>
                <a14:m>
                  <m:oMath xmlns:m="http://schemas.openxmlformats.org/officeDocument/2006/math"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GT" sz="2300" i="1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es-GT" sz="2300" i="1" dirty="0">
                    <a:solidFill>
                      <a:schemeClr val="bg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. </a:t>
                </a:r>
              </a:p>
              <a:p>
                <a:pPr algn="just"/>
                <a:endParaRPr lang="es-GT" sz="23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es-GT" sz="2300" dirty="0">
                    <a:solidFill>
                      <a:schemeClr val="bg1"/>
                    </a:solidFill>
                  </a:rPr>
                  <a:t>Estructuras muy rígidas (periodos cortos) absorben mucha aceleración y sufren poco desplazamiento, mientras que estructuras flexibles o aisladas (periodos largos) reducen drásticamente la aceleración que deben resistir a costa de sufrir mayores desplazamientos.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endParaRPr lang="es-GT" sz="1800" dirty="0">
                  <a:solidFill>
                    <a:schemeClr val="bg1"/>
                  </a:solidFill>
                </a:endParaRPr>
              </a:p>
              <a:p>
                <a:pPr lvl="0" algn="just"/>
                <a:endParaRPr lang="es-GT" sz="1800" dirty="0">
                  <a:solidFill>
                    <a:schemeClr val="bg1"/>
                  </a:solidFill>
                </a:endParaRP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endParaRPr lang="es-GT" sz="1800" dirty="0"/>
              </a:p>
            </p:txBody>
          </p:sp>
        </mc:Choice>
        <mc:Fallback xmlns="">
          <p:sp>
            <p:nvSpPr>
              <p:cNvPr id="111" name="Google Shape;111;p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15" y="1504303"/>
                <a:ext cx="10973414" cy="5506957"/>
              </a:xfrm>
              <a:prstGeom prst="rect">
                <a:avLst/>
              </a:prstGeom>
              <a:blipFill>
                <a:blip r:embed="rId5"/>
                <a:stretch>
                  <a:fillRect l="-1611" t="-1661" r="-1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Google Shape;118;p15"/>
          <p:cNvSpPr/>
          <p:nvPr/>
        </p:nvSpPr>
        <p:spPr>
          <a:xfrm>
            <a:off x="591165" y="434086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4;p14">
            <a:extLst>
              <a:ext uri="{FF2B5EF4-FFF2-40B4-BE49-F238E27FC236}">
                <a16:creationId xmlns:a16="http://schemas.microsoft.com/office/drawing/2014/main" id="{3EADB148-48F5-6AD2-82A5-87EEB93CFF62}"/>
              </a:ext>
            </a:extLst>
          </p:cNvPr>
          <p:cNvSpPr txBox="1"/>
          <p:nvPr/>
        </p:nvSpPr>
        <p:spPr>
          <a:xfrm>
            <a:off x="762000" y="401778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326" y="1427550"/>
            <a:ext cx="11401500" cy="510106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80570" y="1044665"/>
            <a:ext cx="10860824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2300" b="1" dirty="0">
                <a:solidFill>
                  <a:schemeClr val="tx2">
                    <a:lumMod val="50000"/>
                  </a:schemeClr>
                </a:solidFill>
              </a:rPr>
              <a:t>Parámetros Sísmicos Base                                                             Peligro sísmico</a:t>
            </a:r>
            <a:endParaRPr sz="23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38593" y="484075"/>
            <a:ext cx="573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4;p14">
            <a:extLst>
              <a:ext uri="{FF2B5EF4-FFF2-40B4-BE49-F238E27FC236}">
                <a16:creationId xmlns:a16="http://schemas.microsoft.com/office/drawing/2014/main" id="{F98DC85A-E1AA-98E3-FC23-C873819875CC}"/>
              </a:ext>
            </a:extLst>
          </p:cNvPr>
          <p:cNvSpPr txBox="1"/>
          <p:nvPr/>
        </p:nvSpPr>
        <p:spPr>
          <a:xfrm>
            <a:off x="767680" y="409076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EA3C2A2-5520-8410-7934-118D6F8EFC32}"/>
                  </a:ext>
                </a:extLst>
              </p:cNvPr>
              <p:cNvSpPr txBox="1"/>
              <p:nvPr/>
            </p:nvSpPr>
            <p:spPr>
              <a:xfrm>
                <a:off x="567243" y="1675761"/>
                <a:ext cx="1088733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GT" sz="1800" dirty="0">
                    <a:solidFill>
                      <a:schemeClr val="bg1"/>
                    </a:solidFill>
                    <a:effectLst/>
                  </a:rPr>
                  <a:t>Define la demanda tectónica teórica (</a:t>
                </a:r>
                <a14:m>
                  <m:oMath xmlns:m="http://schemas.openxmlformats.org/officeDocument/2006/math">
                    <m:r>
                      <a:rPr lang="es-GT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</m:oMath>
                </a14:m>
                <a:r>
                  <a:rPr lang="es-GT" sz="1800" dirty="0">
                    <a:solidFill>
                      <a:schemeClr val="bg1"/>
                    </a:solidFill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GT" sz="1800" dirty="0">
                    <a:solidFill>
                      <a:schemeClr val="bg1"/>
                    </a:solidFill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1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GT" sz="1800" dirty="0">
                    <a:solidFill>
                      <a:schemeClr val="bg1"/>
                    </a:solidFill>
                    <a:effectLst/>
                  </a:rPr>
                  <a:t>) extrayéndola de los mapas de amenaza, asumiendo un afloramiento rocoso ideal.</a:t>
                </a:r>
              </a:p>
              <a:p>
                <a:pPr lvl="0" algn="just"/>
                <a:r>
                  <a:rPr lang="es-GT" sz="1800" dirty="0">
                    <a:solidFill>
                      <a:schemeClr val="bg1"/>
                    </a:solidFill>
                    <a:effectLst/>
                  </a:rPr>
                  <a:t>Establece el punto de partida inalterable del peligro regional antes de considerar cualquier efecto local de cimentación.</a:t>
                </a:r>
                <a:endParaRPr lang="es-GT" sz="1800" dirty="0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EA3C2A2-5520-8410-7934-118D6F8E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43" y="1675761"/>
                <a:ext cx="10887338" cy="1200329"/>
              </a:xfrm>
              <a:prstGeom prst="rect">
                <a:avLst/>
              </a:prstGeom>
              <a:blipFill>
                <a:blip r:embed="rId5"/>
                <a:stretch>
                  <a:fillRect l="-448" t="-3046" r="-504" b="-6599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3B78420-AB97-80D4-2C39-6ABD183C9F0A}"/>
                  </a:ext>
                </a:extLst>
              </p:cNvPr>
              <p:cNvSpPr txBox="1"/>
              <p:nvPr/>
            </p:nvSpPr>
            <p:spPr>
              <a:xfrm>
                <a:off x="581568" y="2951013"/>
                <a:ext cx="10858688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GT" sz="1800" b="1" dirty="0">
                    <a:solidFill>
                      <a:srgbClr val="00B0F0"/>
                    </a:solidFill>
                    <a:effectLst/>
                    <a:latin typeface="Arial"/>
                    <a:ea typeface="Aptos" panose="020B0004020202020204" pitchFamily="34" charset="0"/>
                    <a:cs typeface="Times New Roman" panose="02020603050405020304" pitchFamily="18" charset="0"/>
                  </a:rPr>
                  <a:t>Aceleración Máxima del Terreno (PGA):</a:t>
                </a:r>
                <a:r>
                  <a:rPr lang="es-GT" sz="1800" dirty="0">
                    <a:solidFill>
                      <a:srgbClr val="00B0F0"/>
                    </a:solidFill>
                    <a:effectLst/>
                    <a:latin typeface="Arial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GT" sz="1800" dirty="0">
                    <a:solidFill>
                      <a:schemeClr val="bg1"/>
                    </a:solidFill>
                    <a:effectLst/>
                    <a:latin typeface="Arial"/>
                    <a:ea typeface="Aptos" panose="020B0004020202020204" pitchFamily="34" charset="0"/>
                    <a:cs typeface="Times New Roman" panose="02020603050405020304" pitchFamily="18" charset="0"/>
                  </a:rPr>
                  <a:t>Representa la aceleración pico para un periodo de cero segundos (suelo infinitamente rígido).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GT" sz="1800" dirty="0">
                  <a:solidFill>
                    <a:schemeClr val="bg1"/>
                  </a:solidFill>
                  <a:effectLst/>
                  <a:latin typeface="Arial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GT" sz="1800" b="1" dirty="0">
                    <a:solidFill>
                      <a:srgbClr val="00B0F0"/>
                    </a:solidFill>
                  </a:rPr>
                  <a:t>Aceleración Espectral a Periodo Corto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GT" sz="1800" b="1" dirty="0">
                    <a:solidFill>
                      <a:srgbClr val="00B0F0"/>
                    </a:solidFill>
                  </a:rPr>
                  <a:t>):</a:t>
                </a:r>
                <a:r>
                  <a:rPr lang="es-GT" sz="1800" dirty="0">
                    <a:solidFill>
                      <a:srgbClr val="00B0F0"/>
                    </a:solidFill>
                  </a:rPr>
                  <a:t> </a:t>
                </a:r>
                <a:r>
                  <a:rPr lang="es-GT" sz="1800" dirty="0">
                    <a:solidFill>
                      <a:schemeClr val="bg1"/>
                    </a:solidFill>
                  </a:rPr>
                  <a:t>Evaluada a los 0.2 segundos. Gobierna la respuesta de estructuras muy rígidas. En puentes, esto afecta directamente el diseño de superestructuras muy cortas, pilas cortas de gran sección transversal, y conexiones rígidas.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GT" sz="1800" dirty="0">
                  <a:solidFill>
                    <a:schemeClr val="bg1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GT" sz="1800" b="1" dirty="0">
                    <a:solidFill>
                      <a:srgbClr val="00B0F0"/>
                    </a:solidFill>
                  </a:rPr>
                  <a:t>Aceleración Espectral a 1 Segundo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18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GT" sz="1800" b="1" dirty="0">
                    <a:solidFill>
                      <a:srgbClr val="00B0F0"/>
                    </a:solidFill>
                  </a:rPr>
                  <a:t>):</a:t>
                </a:r>
                <a:r>
                  <a:rPr lang="es-GT" sz="1800" dirty="0">
                    <a:solidFill>
                      <a:srgbClr val="00B0F0"/>
                    </a:solidFill>
                  </a:rPr>
                  <a:t> </a:t>
                </a:r>
                <a:r>
                  <a:rPr lang="es-GT" sz="1800" dirty="0">
                    <a:solidFill>
                      <a:schemeClr val="bg1"/>
                    </a:solidFill>
                  </a:rPr>
                  <a:t>Domina el diseño de estructuras más flexibles. Para puentes de luces largas, viaductos elevados o aquellos que incorporan aislamiento sísmico en los apoyos </a:t>
                </a:r>
                <a:r>
                  <a:rPr lang="es-GT" sz="1800" dirty="0" err="1">
                    <a:solidFill>
                      <a:schemeClr val="bg1"/>
                    </a:solidFill>
                  </a:rPr>
                  <a:t>elastoméricos</a:t>
                </a:r>
                <a:r>
                  <a:rPr lang="es-GT" sz="1800" dirty="0">
                    <a:solidFill>
                      <a:schemeClr val="bg1"/>
                    </a:solidFill>
                  </a:rPr>
                  <a:t>, este es el parámetro crítico que dictamina los desplazamientos máximos.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3B78420-AB97-80D4-2C39-6ABD183C9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68" y="2951013"/>
                <a:ext cx="10858688" cy="2862322"/>
              </a:xfrm>
              <a:prstGeom prst="rect">
                <a:avLst/>
              </a:prstGeom>
              <a:blipFill>
                <a:blip r:embed="rId6"/>
                <a:stretch>
                  <a:fillRect l="-337" t="-1064" r="-449" b="-2340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A4865BB-03D6-8A0D-4459-80D3BF3E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>
            <a:extLst>
              <a:ext uri="{FF2B5EF4-FFF2-40B4-BE49-F238E27FC236}">
                <a16:creationId xmlns:a16="http://schemas.microsoft.com/office/drawing/2014/main" id="{F0D96019-C10B-0372-0316-4DA784B6C0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>
            <a:extLst>
              <a:ext uri="{FF2B5EF4-FFF2-40B4-BE49-F238E27FC236}">
                <a16:creationId xmlns:a16="http://schemas.microsoft.com/office/drawing/2014/main" id="{EB15E5EE-CB04-9955-3509-0D21B30405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326" y="1338716"/>
            <a:ext cx="11401500" cy="5189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EDC46340-BE4C-F463-4994-04519F634775}"/>
              </a:ext>
            </a:extLst>
          </p:cNvPr>
          <p:cNvSpPr txBox="1"/>
          <p:nvPr/>
        </p:nvSpPr>
        <p:spPr>
          <a:xfrm>
            <a:off x="767679" y="913984"/>
            <a:ext cx="10885727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Tipo de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suelo</a:t>
            </a:r>
            <a:r>
              <a:rPr lang="en-US" sz="2300" b="1" dirty="0">
                <a:solidFill>
                  <a:srgbClr val="F8FAFC"/>
                </a:solidFill>
                <a:latin typeface="Montserrat"/>
                <a:sym typeface="Montserrat"/>
              </a:rPr>
              <a:t>							</a:t>
            </a:r>
            <a:endParaRPr sz="2300" dirty="0"/>
          </a:p>
        </p:txBody>
      </p:sp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F2922631-45F9-C98F-E050-7A9258AE5AEC}"/>
              </a:ext>
            </a:extLst>
          </p:cNvPr>
          <p:cNvSpPr/>
          <p:nvPr/>
        </p:nvSpPr>
        <p:spPr>
          <a:xfrm>
            <a:off x="538593" y="484075"/>
            <a:ext cx="573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13CEF9-C4BA-2E3F-7549-7251418DBB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99" t="35252" r="5305"/>
          <a:stretch>
            <a:fillRect/>
          </a:stretch>
        </p:blipFill>
        <p:spPr>
          <a:xfrm>
            <a:off x="1592825" y="2289633"/>
            <a:ext cx="9262723" cy="3956767"/>
          </a:xfrm>
          <a:prstGeom prst="rect">
            <a:avLst/>
          </a:prstGeom>
        </p:spPr>
      </p:pic>
      <p:sp>
        <p:nvSpPr>
          <p:cNvPr id="5" name="Google Shape;94;p14">
            <a:extLst>
              <a:ext uri="{FF2B5EF4-FFF2-40B4-BE49-F238E27FC236}">
                <a16:creationId xmlns:a16="http://schemas.microsoft.com/office/drawing/2014/main" id="{12C3405C-D572-BDEF-9CA4-40E533788F1F}"/>
              </a:ext>
            </a:extLst>
          </p:cNvPr>
          <p:cNvSpPr txBox="1"/>
          <p:nvPr/>
        </p:nvSpPr>
        <p:spPr>
          <a:xfrm>
            <a:off x="767680" y="409076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131;p16">
            <a:extLst>
              <a:ext uri="{FF2B5EF4-FFF2-40B4-BE49-F238E27FC236}">
                <a16:creationId xmlns:a16="http://schemas.microsoft.com/office/drawing/2014/main" id="{EE7ED3C0-C87F-6D61-BA49-C6831E1EDCC8}"/>
              </a:ext>
            </a:extLst>
          </p:cNvPr>
          <p:cNvSpPr txBox="1"/>
          <p:nvPr/>
        </p:nvSpPr>
        <p:spPr>
          <a:xfrm>
            <a:off x="767680" y="1443206"/>
            <a:ext cx="1129847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8FAFC"/>
                </a:solidFill>
                <a:latin typeface="Montserrat"/>
                <a:sym typeface="Montserrat"/>
              </a:rPr>
              <a:t>Clasificación</a:t>
            </a:r>
            <a:r>
              <a:rPr lang="en-US" sz="2000" b="1" dirty="0">
                <a:solidFill>
                  <a:srgbClr val="F8FAFC"/>
                </a:solidFill>
                <a:latin typeface="Montserrat"/>
                <a:sym typeface="Montserrat"/>
              </a:rPr>
              <a:t> del </a:t>
            </a:r>
            <a:r>
              <a:rPr lang="en-US" sz="2000" b="1" dirty="0" err="1">
                <a:solidFill>
                  <a:srgbClr val="F8FAFC"/>
                </a:solidFill>
                <a:latin typeface="Montserrat"/>
                <a:sym typeface="Montserrat"/>
              </a:rPr>
              <a:t>perfil</a:t>
            </a:r>
            <a:r>
              <a:rPr lang="en-US" sz="2000" b="1" dirty="0">
                <a:solidFill>
                  <a:srgbClr val="F8FAFC"/>
                </a:solidFill>
                <a:latin typeface="Montserrat"/>
                <a:sym typeface="Montserrat"/>
              </a:rPr>
              <a:t> del </a:t>
            </a:r>
            <a:r>
              <a:rPr lang="en-US" sz="2000" b="1" dirty="0" err="1">
                <a:solidFill>
                  <a:srgbClr val="F8FAFC"/>
                </a:solidFill>
                <a:latin typeface="Montserrat"/>
                <a:sym typeface="Montserrat"/>
              </a:rPr>
              <a:t>suelo</a:t>
            </a:r>
            <a:r>
              <a:rPr lang="en-US" sz="2000" b="1" dirty="0">
                <a:solidFill>
                  <a:srgbClr val="F8FAFC"/>
                </a:solidFill>
                <a:latin typeface="Montserrat"/>
                <a:sym typeface="Montserrat"/>
              </a:rPr>
              <a:t> </a:t>
            </a:r>
            <a:r>
              <a:rPr lang="en-US" sz="2000" b="1" dirty="0" err="1">
                <a:solidFill>
                  <a:srgbClr val="F8FAFC"/>
                </a:solidFill>
                <a:latin typeface="Montserrat"/>
                <a:sym typeface="Montserrat"/>
              </a:rPr>
              <a:t>según</a:t>
            </a:r>
            <a:r>
              <a:rPr lang="en-US" sz="2000" b="1" dirty="0">
                <a:solidFill>
                  <a:srgbClr val="F8FAFC"/>
                </a:solidFill>
                <a:latin typeface="Montserrat"/>
                <a:sym typeface="Montserrat"/>
              </a:rPr>
              <a:t> AASHTO LRFD Guide Specifications for Seismic Bridge Design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43986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9616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511463" y="208044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4;p14">
            <a:extLst>
              <a:ext uri="{FF2B5EF4-FFF2-40B4-BE49-F238E27FC236}">
                <a16:creationId xmlns:a16="http://schemas.microsoft.com/office/drawing/2014/main" id="{04946049-A044-A0E9-84A6-FCA4BC0A645F}"/>
              </a:ext>
            </a:extLst>
          </p:cNvPr>
          <p:cNvSpPr txBox="1"/>
          <p:nvPr/>
        </p:nvSpPr>
        <p:spPr>
          <a:xfrm>
            <a:off x="690600" y="141791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131;p16">
            <a:extLst>
              <a:ext uri="{FF2B5EF4-FFF2-40B4-BE49-F238E27FC236}">
                <a16:creationId xmlns:a16="http://schemas.microsoft.com/office/drawing/2014/main" id="{1C6A7A1D-2973-E38C-B12A-7912449D3130}"/>
              </a:ext>
            </a:extLst>
          </p:cNvPr>
          <p:cNvSpPr txBox="1"/>
          <p:nvPr/>
        </p:nvSpPr>
        <p:spPr>
          <a:xfrm>
            <a:off x="690600" y="751189"/>
            <a:ext cx="1122767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Parámetros</a:t>
            </a: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 de Sitio 					   	Peligro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sísmico</a:t>
            </a:r>
            <a:endParaRPr sz="23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7" name="Google Shape;126;p16" descr="image.png">
            <a:extLst>
              <a:ext uri="{FF2B5EF4-FFF2-40B4-BE49-F238E27FC236}">
                <a16:creationId xmlns:a16="http://schemas.microsoft.com/office/drawing/2014/main" id="{49838BF0-CDE9-5A0C-84AA-5B4EED91F8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463" y="1211875"/>
            <a:ext cx="11308130" cy="48949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31;p16">
                <a:extLst>
                  <a:ext uri="{FF2B5EF4-FFF2-40B4-BE49-F238E27FC236}">
                    <a16:creationId xmlns:a16="http://schemas.microsoft.com/office/drawing/2014/main" id="{D2A9FB62-E6E9-DF36-8CAC-B3B48336410D}"/>
                  </a:ext>
                </a:extLst>
              </p:cNvPr>
              <p:cNvSpPr txBox="1"/>
              <p:nvPr/>
            </p:nvSpPr>
            <p:spPr>
              <a:xfrm>
                <a:off x="690600" y="1432384"/>
                <a:ext cx="10922280" cy="46108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/>
                <a:r>
                  <a:rPr lang="es-GT" sz="2000" dirty="0">
                    <a:solidFill>
                      <a:schemeClr val="bg1"/>
                    </a:solidFill>
                  </a:rPr>
                  <a:t>Presenta los coeficientes de amplificación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GT" sz="20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s-GT" sz="20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𝑝𝑔𝑎</m:t>
                        </m:r>
                      </m:sub>
                    </m:sSub>
                  </m:oMath>
                </a14:m>
                <a:r>
                  <a:rPr lang="es-GT" sz="2000" dirty="0">
                    <a:solidFill>
                      <a:schemeClr val="bg1"/>
                    </a:solidFill>
                  </a:rPr>
                  <a:t>).</a:t>
                </a:r>
              </a:p>
              <a:p>
                <a:pPr lvl="0" algn="just"/>
                <a:endParaRPr lang="es-GT" sz="2000" dirty="0">
                  <a:solidFill>
                    <a:schemeClr val="bg1"/>
                  </a:solidFill>
                </a:endParaRP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s-GT" sz="2000" b="1" dirty="0">
                    <a:solidFill>
                      <a:srgbClr val="00B0F0"/>
                    </a:solidFill>
                  </a:rPr>
                  <a:t>Comportamiento no lineal del suelo: </a:t>
                </a:r>
                <a:r>
                  <a:rPr lang="es-GT" sz="2000" dirty="0">
                    <a:solidFill>
                      <a:schemeClr val="bg1"/>
                    </a:solidFill>
                  </a:rPr>
                  <a:t>La amplificación del terreno no es una constante. Ante sismos moderados (valores bajos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GT" sz="2000" dirty="0">
                    <a:solidFill>
                      <a:schemeClr val="bg1"/>
                    </a:solidFill>
                  </a:rPr>
                  <a:t>), un suelo blando (Tipo D o E) amplifica drásticamente las ondas     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s-G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s-GT" sz="2000" dirty="0">
                    <a:solidFill>
                      <a:schemeClr val="bg1"/>
                    </a:solidFill>
                  </a:rPr>
                  <a:t>). Sin embargo, ante un evento extremo, ese mismo suelo blando falla internamente, sufre deformaciones plásticas masivas e incrementa su amortiguamiento </a:t>
                </a:r>
                <a:r>
                  <a:rPr lang="es-GT" sz="2000" dirty="0" err="1">
                    <a:solidFill>
                      <a:schemeClr val="bg1"/>
                    </a:solidFill>
                  </a:rPr>
                  <a:t>histerético</a:t>
                </a:r>
                <a:r>
                  <a:rPr lang="es-GT" sz="2000" dirty="0">
                    <a:solidFill>
                      <a:schemeClr val="bg1"/>
                    </a:solidFill>
                  </a:rPr>
                  <a:t>. </a:t>
                </a:r>
              </a:p>
              <a:p>
                <a:pPr lvl="0" algn="just"/>
                <a:endParaRPr lang="es-GT" sz="2000" dirty="0">
                  <a:solidFill>
                    <a:schemeClr val="bg1"/>
                  </a:solidFill>
                </a:endParaRP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s-GT" sz="2000" b="1" dirty="0">
                    <a:solidFill>
                      <a:srgbClr val="00B0F0"/>
                    </a:solidFill>
                  </a:rPr>
                  <a:t>Efecto de resonancia doble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s-GT" sz="2000" b="1" dirty="0">
                    <a:solidFill>
                      <a:srgbClr val="00B0F0"/>
                    </a:solidFill>
                  </a:rPr>
                  <a:t>:</a:t>
                </a:r>
                <a:r>
                  <a:rPr lang="es-GT" sz="2000" dirty="0">
                    <a:solidFill>
                      <a:srgbClr val="00B0F0"/>
                    </a:solidFill>
                  </a:rPr>
                  <a:t> </a:t>
                </a:r>
                <a:r>
                  <a:rPr lang="es-GT" sz="2000" dirty="0">
                    <a:solidFill>
                      <a:schemeClr val="bg1"/>
                    </a:solidFill>
                  </a:rPr>
                  <a:t>Las ondas de periodo largo no pierden tanta energía al viajar por suelos blandos. Por ello, los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s-GT" sz="2000" dirty="0">
                    <a:solidFill>
                      <a:schemeClr val="bg1"/>
                    </a:solidFill>
                  </a:rPr>
                  <a:t> suelen ser significativamente mayores que los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GT" sz="2000" dirty="0">
                    <a:solidFill>
                      <a:schemeClr val="bg1"/>
                    </a:solidFill>
                  </a:rPr>
                  <a:t>. Si se construye un puente con un periodo fundamental largo sobre un suelo deformable, el terreno y la estructura vibrarán en sintonía, multiplicando severamente la demanda de desplazamiento sobre las columnas y obligando a un detallado sísmico más riguroso.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endParaRPr lang="es-GT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Google Shape;131;p16">
                <a:extLst>
                  <a:ext uri="{FF2B5EF4-FFF2-40B4-BE49-F238E27FC236}">
                    <a16:creationId xmlns:a16="http://schemas.microsoft.com/office/drawing/2014/main" id="{D2A9FB62-E6E9-DF36-8CAC-B3B483364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00" y="1432384"/>
                <a:ext cx="10922280" cy="4610814"/>
              </a:xfrm>
              <a:prstGeom prst="rect">
                <a:avLst/>
              </a:prstGeom>
              <a:blipFill>
                <a:blip r:embed="rId5"/>
                <a:stretch>
                  <a:fillRect l="-1395" t="-1720" r="-14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581025" y="34803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338512" y="348034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7750373" y="348034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81025" y="4328070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338512" y="4328070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750373" y="432807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81025" y="517579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338512" y="517579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750373" y="517579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98930" y="414542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4;p14">
            <a:extLst>
              <a:ext uri="{FF2B5EF4-FFF2-40B4-BE49-F238E27FC236}">
                <a16:creationId xmlns:a16="http://schemas.microsoft.com/office/drawing/2014/main" id="{BD1470BC-88D1-4B1B-3C51-AF582642CB83}"/>
              </a:ext>
            </a:extLst>
          </p:cNvPr>
          <p:cNvSpPr txBox="1"/>
          <p:nvPr/>
        </p:nvSpPr>
        <p:spPr>
          <a:xfrm>
            <a:off x="836557" y="361288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31;p16">
            <a:extLst>
              <a:ext uri="{FF2B5EF4-FFF2-40B4-BE49-F238E27FC236}">
                <a16:creationId xmlns:a16="http://schemas.microsoft.com/office/drawing/2014/main" id="{62D2F814-7CBA-AB85-6964-66F8E9DC359C}"/>
              </a:ext>
            </a:extLst>
          </p:cNvPr>
          <p:cNvSpPr txBox="1"/>
          <p:nvPr/>
        </p:nvSpPr>
        <p:spPr>
          <a:xfrm>
            <a:off x="836557" y="907242"/>
            <a:ext cx="6628503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Cálculo</a:t>
            </a: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 del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Espectro</a:t>
            </a: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 de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Diseño</a:t>
            </a:r>
            <a:endParaRPr sz="23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209EB1C-156C-DD8C-4A58-87EB9CBD73F2}"/>
              </a:ext>
            </a:extLst>
          </p:cNvPr>
          <p:cNvSpPr/>
          <p:nvPr/>
        </p:nvSpPr>
        <p:spPr>
          <a:xfrm>
            <a:off x="598930" y="1601766"/>
            <a:ext cx="11012044" cy="48949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GT" sz="2300" dirty="0">
                <a:solidFill>
                  <a:schemeClr val="tx1"/>
                </a:solidFill>
              </a:rPr>
              <a:t>Se caracteriza utilizando un espectro de respuesta en aceleración.</a:t>
            </a:r>
          </a:p>
          <a:p>
            <a:pPr algn="just"/>
            <a:endParaRPr lang="es-GT" sz="2300" dirty="0">
              <a:solidFill>
                <a:schemeClr val="tx1"/>
              </a:solidFill>
            </a:endParaRPr>
          </a:p>
          <a:p>
            <a:pPr algn="just"/>
            <a:r>
              <a:rPr lang="es-GT" sz="2300" dirty="0">
                <a:solidFill>
                  <a:schemeClr val="tx1"/>
                </a:solidFill>
              </a:rPr>
              <a:t>Se puede utilizar un espectro de respuesta general o uno específico para el sitio del proyecto.</a:t>
            </a:r>
          </a:p>
          <a:p>
            <a:pPr algn="just"/>
            <a:r>
              <a:rPr lang="es-GT" sz="2300" dirty="0">
                <a:solidFill>
                  <a:schemeClr val="tx1"/>
                </a:solidFill>
              </a:rPr>
              <a:t>El espectro de diseño se construye a partir de los parámetros de respuesta espectral tomados de los mapas de peligro sísmico disponibles y de los factores de sitio (A3.4.2)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300" dirty="0">
                <a:solidFill>
                  <a:schemeClr val="tx1"/>
                </a:solidFill>
              </a:rPr>
              <a:t>Espectro de respuesta general: Procedimiento en la sección 3.10.4.1 de AASHTO LRFD </a:t>
            </a:r>
          </a:p>
          <a:p>
            <a:pPr algn="just"/>
            <a:endParaRPr lang="es-GT" sz="23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300" dirty="0">
                <a:solidFill>
                  <a:schemeClr val="tx1"/>
                </a:solidFill>
              </a:rPr>
              <a:t>Espectro de respuesta específico: Para suelos clasificados como tipo F o para puentes críticos o esenciales. </a:t>
            </a:r>
          </a:p>
          <a:p>
            <a:pPr algn="ctr"/>
            <a:endParaRPr lang="es-GT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31E7B8D-EC6C-4DBF-326B-6288DF51B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>
            <a:extLst>
              <a:ext uri="{FF2B5EF4-FFF2-40B4-BE49-F238E27FC236}">
                <a16:creationId xmlns:a16="http://schemas.microsoft.com/office/drawing/2014/main" id="{01F530B7-10E8-CADE-1528-0927C4D48E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FC2742E8-DD6A-4FFA-D16B-B2C6B15B22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621" y="1331974"/>
            <a:ext cx="11784758" cy="53782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ADE0A12D-5B14-B8C9-8B10-095E0BAC976B}"/>
              </a:ext>
            </a:extLst>
          </p:cNvPr>
          <p:cNvSpPr/>
          <p:nvPr/>
        </p:nvSpPr>
        <p:spPr>
          <a:xfrm>
            <a:off x="581025" y="34803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7F5027A3-5D11-ED75-19E9-BD110F554FF7}"/>
              </a:ext>
            </a:extLst>
          </p:cNvPr>
          <p:cNvSpPr/>
          <p:nvPr/>
        </p:nvSpPr>
        <p:spPr>
          <a:xfrm>
            <a:off x="3338512" y="348034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773C8233-0274-7298-7955-0E5726162ABD}"/>
              </a:ext>
            </a:extLst>
          </p:cNvPr>
          <p:cNvSpPr/>
          <p:nvPr/>
        </p:nvSpPr>
        <p:spPr>
          <a:xfrm>
            <a:off x="7750373" y="348034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21E86DBD-37CC-272A-1A23-D8D080C3C685}"/>
              </a:ext>
            </a:extLst>
          </p:cNvPr>
          <p:cNvSpPr/>
          <p:nvPr/>
        </p:nvSpPr>
        <p:spPr>
          <a:xfrm>
            <a:off x="581025" y="4328070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F5206649-1825-DD25-1672-9ABA9115E2B8}"/>
              </a:ext>
            </a:extLst>
          </p:cNvPr>
          <p:cNvSpPr/>
          <p:nvPr/>
        </p:nvSpPr>
        <p:spPr>
          <a:xfrm>
            <a:off x="3338512" y="4328070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4618F551-43E9-F81B-EB2B-E7BB1EB26FF3}"/>
              </a:ext>
            </a:extLst>
          </p:cNvPr>
          <p:cNvSpPr/>
          <p:nvPr/>
        </p:nvSpPr>
        <p:spPr>
          <a:xfrm>
            <a:off x="7750373" y="432807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47675550-E9D0-C8A3-09A2-213BDC37D5EF}"/>
              </a:ext>
            </a:extLst>
          </p:cNvPr>
          <p:cNvSpPr/>
          <p:nvPr/>
        </p:nvSpPr>
        <p:spPr>
          <a:xfrm>
            <a:off x="581025" y="517579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136631DE-C428-196B-624F-E2EADC95C653}"/>
              </a:ext>
            </a:extLst>
          </p:cNvPr>
          <p:cNvSpPr/>
          <p:nvPr/>
        </p:nvSpPr>
        <p:spPr>
          <a:xfrm>
            <a:off x="3338512" y="517579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CD16F181-5DBD-4017-2161-DDE8AB2C05B2}"/>
              </a:ext>
            </a:extLst>
          </p:cNvPr>
          <p:cNvSpPr/>
          <p:nvPr/>
        </p:nvSpPr>
        <p:spPr>
          <a:xfrm>
            <a:off x="7750373" y="517579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A14B194D-6FE2-3479-D1D5-A045E2CC5EB0}"/>
              </a:ext>
            </a:extLst>
          </p:cNvPr>
          <p:cNvSpPr/>
          <p:nvPr/>
        </p:nvSpPr>
        <p:spPr>
          <a:xfrm>
            <a:off x="557459" y="414064"/>
            <a:ext cx="71191" cy="66032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9;p18">
                <a:extLst>
                  <a:ext uri="{FF2B5EF4-FFF2-40B4-BE49-F238E27FC236}">
                    <a16:creationId xmlns:a16="http://schemas.microsoft.com/office/drawing/2014/main" id="{47DF4B82-8CA2-E1B7-A03E-15CFE1417CBA}"/>
                  </a:ext>
                </a:extLst>
              </p:cNvPr>
              <p:cNvSpPr txBox="1"/>
              <p:nvPr/>
            </p:nvSpPr>
            <p:spPr>
              <a:xfrm>
                <a:off x="836557" y="1432944"/>
                <a:ext cx="8456589" cy="849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19969"/>
                  </a:lnSpc>
                </a:pPr>
                <a:r>
                  <a:rPr lang="en-US" sz="2300" b="1" dirty="0" err="1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Coeficiente</a:t>
                </a:r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 de </a:t>
                </a:r>
                <a:r>
                  <a:rPr lang="en-US" sz="2300" b="1" dirty="0" err="1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respuesta</a:t>
                </a:r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elástica</a:t>
                </a:r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)</a:t>
                </a:r>
              </a:p>
              <a:p>
                <a:pPr marL="342900" lvl="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Para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períodos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menores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que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:</a:t>
                </a:r>
              </a:p>
            </p:txBody>
          </p:sp>
        </mc:Choice>
        <mc:Fallback xmlns="">
          <p:sp>
            <p:nvSpPr>
              <p:cNvPr id="5" name="Google Shape;169;p18">
                <a:extLst>
                  <a:ext uri="{FF2B5EF4-FFF2-40B4-BE49-F238E27FC236}">
                    <a16:creationId xmlns:a16="http://schemas.microsoft.com/office/drawing/2014/main" id="{47DF4B82-8CA2-E1B7-A03E-15CFE1417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57" y="1432944"/>
                <a:ext cx="8456589" cy="849463"/>
              </a:xfrm>
              <a:prstGeom prst="rect">
                <a:avLst/>
              </a:prstGeom>
              <a:blipFill>
                <a:blip r:embed="rId5"/>
                <a:stretch>
                  <a:fillRect l="-2091" t="-5036" b="-187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94;p14">
            <a:extLst>
              <a:ext uri="{FF2B5EF4-FFF2-40B4-BE49-F238E27FC236}">
                <a16:creationId xmlns:a16="http://schemas.microsoft.com/office/drawing/2014/main" id="{A7E5152D-B70E-C477-00DD-BED206858A54}"/>
              </a:ext>
            </a:extLst>
          </p:cNvPr>
          <p:cNvSpPr txBox="1"/>
          <p:nvPr/>
        </p:nvSpPr>
        <p:spPr>
          <a:xfrm>
            <a:off x="836557" y="361288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131;p16">
            <a:extLst>
              <a:ext uri="{FF2B5EF4-FFF2-40B4-BE49-F238E27FC236}">
                <a16:creationId xmlns:a16="http://schemas.microsoft.com/office/drawing/2014/main" id="{CCE0724C-9636-BAD0-BF7B-432D29746F18}"/>
              </a:ext>
            </a:extLst>
          </p:cNvPr>
          <p:cNvSpPr txBox="1"/>
          <p:nvPr/>
        </p:nvSpPr>
        <p:spPr>
          <a:xfrm>
            <a:off x="836557" y="907242"/>
            <a:ext cx="7230483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Cálculo</a:t>
            </a: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 del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espectro</a:t>
            </a: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 de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diseño</a:t>
            </a:r>
            <a:endParaRPr sz="23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DD665C6-8871-14DA-B2B6-534E4D2316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821" t="26187" r="25702" b="64602"/>
          <a:stretch>
            <a:fillRect/>
          </a:stretch>
        </p:blipFill>
        <p:spPr>
          <a:xfrm>
            <a:off x="7362845" y="1732938"/>
            <a:ext cx="3860601" cy="463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4390CBA-B36E-983E-E6F0-1B0F44EC995D}"/>
                  </a:ext>
                </a:extLst>
              </p:cNvPr>
              <p:cNvSpPr txBox="1"/>
              <p:nvPr/>
            </p:nvSpPr>
            <p:spPr>
              <a:xfrm>
                <a:off x="764981" y="2558222"/>
                <a:ext cx="11040939" cy="350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GT" sz="23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𝑝𝑔𝑎</m:t>
                        </m:r>
                      </m:sub>
                    </m:sSub>
                    <m:r>
                      <a:rPr lang="es-GT" sz="23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</m:oMath>
                </a14:m>
                <a:endParaRPr lang="es-GT" sz="2300" dirty="0">
                  <a:solidFill>
                    <a:schemeClr val="bg1"/>
                  </a:solidFill>
                  <a:effectLst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s-GT" sz="23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s-GT" sz="23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s-GT" sz="2300" dirty="0">
                  <a:solidFill>
                    <a:schemeClr val="bg1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 = Aceleración máxima en roca (Suelo tipo B).</a:t>
                </a:r>
                <a:endParaRPr lang="es-GT" sz="2300" dirty="0">
                  <a:solidFill>
                    <a:schemeClr val="bg1"/>
                  </a:solidFill>
                  <a:effectLst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  <a:effectLst/>
                  </a:rPr>
                  <a:t> = Coeficiente de aceleración espectral de respuesta horizontal para período en roca de 0.2 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  <a:effectLst/>
                  </a:rPr>
                  <a:t> = Período de vibración para m-modo (s)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=0.20</m:t>
                    </m:r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  <a:effectLst/>
                  </a:rPr>
                  <a:t> Periodo de referencia usado para definir la forma espectral.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GT" sz="23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GT" sz="2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GT" sz="2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s-GT" sz="23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GT" sz="2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GT" sz="2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s-GT" sz="2300" dirty="0">
                    <a:solidFill>
                      <a:schemeClr val="bg1"/>
                    </a:solidFill>
                    <a:effectLst/>
                  </a:rPr>
                  <a:t> Período para el cual el espectro cambia de ser independiente del periodo a ser inversamente proporcional al período.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4390CBA-B36E-983E-E6F0-1B0F44EC9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81" y="2558222"/>
                <a:ext cx="11040939" cy="3501471"/>
              </a:xfrm>
              <a:prstGeom prst="rect">
                <a:avLst/>
              </a:prstGeom>
              <a:blipFill>
                <a:blip r:embed="rId7"/>
                <a:stretch>
                  <a:fillRect l="-662" t="-697" b="-2962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11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0CD3F824-2551-FB28-3F43-CC3592AE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>
            <a:extLst>
              <a:ext uri="{FF2B5EF4-FFF2-40B4-BE49-F238E27FC236}">
                <a16:creationId xmlns:a16="http://schemas.microsoft.com/office/drawing/2014/main" id="{D8F0CC91-C359-5A11-C4D5-69CEC64C72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E27DBB13-FFB7-2B6A-7FFE-60130B5DDC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621" y="1331974"/>
            <a:ext cx="11784758" cy="53782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05434761-A645-BD40-1036-AA486F205D6D}"/>
              </a:ext>
            </a:extLst>
          </p:cNvPr>
          <p:cNvSpPr/>
          <p:nvPr/>
        </p:nvSpPr>
        <p:spPr>
          <a:xfrm>
            <a:off x="581025" y="34803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4AAEC9D0-E176-E14D-C386-4BA19D3CAAC8}"/>
              </a:ext>
            </a:extLst>
          </p:cNvPr>
          <p:cNvSpPr/>
          <p:nvPr/>
        </p:nvSpPr>
        <p:spPr>
          <a:xfrm>
            <a:off x="3338512" y="348034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0C94D73F-A23E-C4C8-9577-86AF252B04BC}"/>
              </a:ext>
            </a:extLst>
          </p:cNvPr>
          <p:cNvSpPr/>
          <p:nvPr/>
        </p:nvSpPr>
        <p:spPr>
          <a:xfrm>
            <a:off x="7750373" y="348034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14AED3C3-0A7E-2636-23CB-BB6A0396168E}"/>
              </a:ext>
            </a:extLst>
          </p:cNvPr>
          <p:cNvSpPr/>
          <p:nvPr/>
        </p:nvSpPr>
        <p:spPr>
          <a:xfrm>
            <a:off x="581025" y="4328070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E452F79B-9438-9488-8AE2-53E0A29C57D7}"/>
              </a:ext>
            </a:extLst>
          </p:cNvPr>
          <p:cNvSpPr/>
          <p:nvPr/>
        </p:nvSpPr>
        <p:spPr>
          <a:xfrm>
            <a:off x="3338512" y="4328070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2F7E63D5-C7FD-842C-8AA8-9EC688EFD523}"/>
              </a:ext>
            </a:extLst>
          </p:cNvPr>
          <p:cNvSpPr/>
          <p:nvPr/>
        </p:nvSpPr>
        <p:spPr>
          <a:xfrm>
            <a:off x="7750373" y="432807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4EBD512F-F814-CC3A-6EEE-6C71BB7162E0}"/>
              </a:ext>
            </a:extLst>
          </p:cNvPr>
          <p:cNvSpPr/>
          <p:nvPr/>
        </p:nvSpPr>
        <p:spPr>
          <a:xfrm>
            <a:off x="581025" y="517579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6464F382-2BE9-2F38-00B4-93A85B31A178}"/>
              </a:ext>
            </a:extLst>
          </p:cNvPr>
          <p:cNvSpPr/>
          <p:nvPr/>
        </p:nvSpPr>
        <p:spPr>
          <a:xfrm>
            <a:off x="3338512" y="517579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1B404EDB-435F-8AD9-7170-387677F2C472}"/>
              </a:ext>
            </a:extLst>
          </p:cNvPr>
          <p:cNvSpPr/>
          <p:nvPr/>
        </p:nvSpPr>
        <p:spPr>
          <a:xfrm>
            <a:off x="7750373" y="517579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026F4B6B-B286-BE9C-35B8-AA8DBC3B2401}"/>
              </a:ext>
            </a:extLst>
          </p:cNvPr>
          <p:cNvSpPr/>
          <p:nvPr/>
        </p:nvSpPr>
        <p:spPr>
          <a:xfrm>
            <a:off x="557459" y="414064"/>
            <a:ext cx="71191" cy="66032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9;p18">
                <a:extLst>
                  <a:ext uri="{FF2B5EF4-FFF2-40B4-BE49-F238E27FC236}">
                    <a16:creationId xmlns:a16="http://schemas.microsoft.com/office/drawing/2014/main" id="{8B78E40C-65CD-90AA-00FA-F240F1F77477}"/>
                  </a:ext>
                </a:extLst>
              </p:cNvPr>
              <p:cNvSpPr txBox="1"/>
              <p:nvPr/>
            </p:nvSpPr>
            <p:spPr>
              <a:xfrm>
                <a:off x="836557" y="1432944"/>
                <a:ext cx="11151822" cy="53091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19969"/>
                  </a:lnSpc>
                </a:pPr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Coeficiente de </a:t>
                </a:r>
                <a:r>
                  <a:rPr lang="en-US" sz="2300" b="1" dirty="0" err="1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respuesta</a:t>
                </a:r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elástica</a:t>
                </a:r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rgbClr val="00B0F0"/>
                    </a:solidFill>
                    <a:latin typeface="Aptos" panose="020B0004020202020204" pitchFamily="34" charset="0"/>
                    <a:sym typeface="Montserrat"/>
                  </a:rPr>
                  <a:t>)</a:t>
                </a:r>
              </a:p>
              <a:p>
                <a:pPr marL="342900" lvl="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Para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períodos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mayores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o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iguales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que</a:t>
                </a:r>
                <a:r>
                  <a:rPr lang="es-GT" sz="23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300" b="1" baseline="-25000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 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y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menores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o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iguales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que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:</a:t>
                </a:r>
              </a:p>
              <a:p>
                <a:pPr marL="342900" lvl="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  <a:p>
                <a:pPr marL="342900" lvl="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  <a:p>
                <a:pPr marL="342900" lvl="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  <a:p>
                <a:pPr marL="34290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Para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períodos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mayores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que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:</a:t>
                </a:r>
              </a:p>
              <a:p>
                <a:pPr marL="34290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  <a:p>
                <a:pPr marL="342900" lvl="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  <a:p>
                <a:pPr marL="342900" lvl="0" indent="-342900" algn="just">
                  <a:lnSpc>
                    <a:spcPct val="119969"/>
                  </a:lnSpc>
                  <a:buFont typeface="Arial" panose="020B0604020202020204" pitchFamily="34" charset="0"/>
                  <a:buChar char="•"/>
                </a:pPr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=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Coeficiente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de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aceleración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spectral de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respuesta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horizontal para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período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de 1.0 s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en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 </a:t>
                </a:r>
                <a:r>
                  <a:rPr lang="en-US" sz="2300" b="1" dirty="0" err="1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roca</a:t>
                </a:r>
                <a:r>
                  <a:rPr lang="en-US" sz="2300" b="1" dirty="0">
                    <a:solidFill>
                      <a:schemeClr val="bg1"/>
                    </a:solidFill>
                    <a:latin typeface="Aptos" panose="020B0004020202020204" pitchFamily="34" charset="0"/>
                    <a:sym typeface="Montserrat"/>
                  </a:rPr>
                  <a:t>. </a:t>
                </a:r>
              </a:p>
              <a:p>
                <a:pPr lvl="0" algn="just">
                  <a:lnSpc>
                    <a:spcPct val="119969"/>
                  </a:lnSpc>
                </a:pPr>
                <a:endParaRPr lang="en-US" sz="2300" b="1" dirty="0">
                  <a:solidFill>
                    <a:schemeClr val="bg1"/>
                  </a:solidFill>
                  <a:latin typeface="Aptos" panose="020B0004020202020204" pitchFamily="34" charset="0"/>
                  <a:sym typeface="Montserrat"/>
                </a:endParaRPr>
              </a:p>
            </p:txBody>
          </p:sp>
        </mc:Choice>
        <mc:Fallback xmlns="">
          <p:sp>
            <p:nvSpPr>
              <p:cNvPr id="5" name="Google Shape;169;p18">
                <a:extLst>
                  <a:ext uri="{FF2B5EF4-FFF2-40B4-BE49-F238E27FC236}">
                    <a16:creationId xmlns:a16="http://schemas.microsoft.com/office/drawing/2014/main" id="{8B78E40C-65CD-90AA-00FA-F240F1F77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57" y="1432944"/>
                <a:ext cx="11151822" cy="5309146"/>
              </a:xfrm>
              <a:prstGeom prst="rect">
                <a:avLst/>
              </a:prstGeom>
              <a:blipFill>
                <a:blip r:embed="rId5"/>
                <a:stretch>
                  <a:fillRect l="-1585" t="-689" r="-15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94;p14">
            <a:extLst>
              <a:ext uri="{FF2B5EF4-FFF2-40B4-BE49-F238E27FC236}">
                <a16:creationId xmlns:a16="http://schemas.microsoft.com/office/drawing/2014/main" id="{A233A073-DB17-2D09-4223-882F9466A498}"/>
              </a:ext>
            </a:extLst>
          </p:cNvPr>
          <p:cNvSpPr txBox="1"/>
          <p:nvPr/>
        </p:nvSpPr>
        <p:spPr>
          <a:xfrm>
            <a:off x="836557" y="361288"/>
            <a:ext cx="88441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Espectro</a:t>
            </a:r>
            <a:r>
              <a:rPr lang="en-US" sz="3300" b="1" dirty="0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 de Respuesta de </a:t>
            </a:r>
            <a:r>
              <a:rPr lang="en-US" sz="3300" b="1" dirty="0" err="1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 sz="3300" b="1" i="0" u="none" strike="noStrike" cap="none" dirty="0">
              <a:solidFill>
                <a:srgbClr val="00B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131;p16">
            <a:extLst>
              <a:ext uri="{FF2B5EF4-FFF2-40B4-BE49-F238E27FC236}">
                <a16:creationId xmlns:a16="http://schemas.microsoft.com/office/drawing/2014/main" id="{27EAAD32-C4B7-5BB1-C88E-AA237140AB3B}"/>
              </a:ext>
            </a:extLst>
          </p:cNvPr>
          <p:cNvSpPr txBox="1"/>
          <p:nvPr/>
        </p:nvSpPr>
        <p:spPr>
          <a:xfrm>
            <a:off x="836557" y="907242"/>
            <a:ext cx="7230483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Cálculo</a:t>
            </a: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 del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espectro</a:t>
            </a:r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 de </a:t>
            </a:r>
            <a:r>
              <a:rPr lang="en-US" sz="2300" b="1" dirty="0" err="1">
                <a:solidFill>
                  <a:schemeClr val="tx2">
                    <a:lumMod val="50000"/>
                  </a:schemeClr>
                </a:solidFill>
                <a:latin typeface="Montserrat"/>
                <a:sym typeface="Montserrat"/>
              </a:rPr>
              <a:t>diseño</a:t>
            </a:r>
            <a:endParaRPr sz="2300" dirty="0">
              <a:solidFill>
                <a:schemeClr val="tx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A4F727AC-E4A7-5AA2-D355-3A8FE853DD10}"/>
                  </a:ext>
                </a:extLst>
              </p:cNvPr>
              <p:cNvSpPr/>
              <p:nvPr/>
            </p:nvSpPr>
            <p:spPr>
              <a:xfrm>
                <a:off x="4602480" y="2444752"/>
                <a:ext cx="2062480" cy="56996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GT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GT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GT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𝑠𝑚</m:t>
                          </m:r>
                        </m:sub>
                      </m:sSub>
                      <m:r>
                        <a:rPr lang="es-GT" sz="25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GT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GT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GT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 lang="es-GT" sz="2500" dirty="0"/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A4F727AC-E4A7-5AA2-D355-3A8FE853DD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444752"/>
                <a:ext cx="2062480" cy="569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55E35963-524D-DD80-CB5B-20CD79677E1F}"/>
                  </a:ext>
                </a:extLst>
              </p:cNvPr>
              <p:cNvSpPr/>
              <p:nvPr/>
            </p:nvSpPr>
            <p:spPr>
              <a:xfrm>
                <a:off x="4602480" y="4077616"/>
                <a:ext cx="2560320" cy="95039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GT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GT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  <m:r>
                      <a:rPr lang="es-GT" sz="2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GT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s-GT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</m:oMath>
                </a14:m>
                <a:r>
                  <a:rPr lang="es-GT" sz="2500" dirty="0"/>
                  <a:t>/</a:t>
                </a:r>
                <a:r>
                  <a:rPr lang="es-GT" sz="28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GT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GT" sz="2500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55E35963-524D-DD80-CB5B-20CD79677E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4077616"/>
                <a:ext cx="2560320" cy="95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73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8FD7D4D-02C1-6BA6-595C-CE64974A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>
            <a:extLst>
              <a:ext uri="{FF2B5EF4-FFF2-40B4-BE49-F238E27FC236}">
                <a16:creationId xmlns:a16="http://schemas.microsoft.com/office/drawing/2014/main" id="{3819A356-31A8-23B3-1BE9-25395A9257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E2D0B5AC-6C24-A44B-33DC-728892AAF5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621" y="1217706"/>
            <a:ext cx="11784758" cy="53782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9E76F90D-DA00-AEE6-4ECE-62C2CA1464FB}"/>
              </a:ext>
            </a:extLst>
          </p:cNvPr>
          <p:cNvSpPr/>
          <p:nvPr/>
        </p:nvSpPr>
        <p:spPr>
          <a:xfrm>
            <a:off x="581025" y="34803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A6CCE974-CBA2-D023-6CD8-1ECA8FADED98}"/>
              </a:ext>
            </a:extLst>
          </p:cNvPr>
          <p:cNvSpPr/>
          <p:nvPr/>
        </p:nvSpPr>
        <p:spPr>
          <a:xfrm>
            <a:off x="3338512" y="348034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760ECDDD-9D0D-302B-978A-9F9B5C1A9807}"/>
              </a:ext>
            </a:extLst>
          </p:cNvPr>
          <p:cNvSpPr/>
          <p:nvPr/>
        </p:nvSpPr>
        <p:spPr>
          <a:xfrm>
            <a:off x="7750373" y="348034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96FC0190-8620-112F-CCE1-F4FA34F06E20}"/>
              </a:ext>
            </a:extLst>
          </p:cNvPr>
          <p:cNvSpPr/>
          <p:nvPr/>
        </p:nvSpPr>
        <p:spPr>
          <a:xfrm>
            <a:off x="581025" y="4328070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BFE73636-8E87-0733-82B6-A23F3B1B5418}"/>
              </a:ext>
            </a:extLst>
          </p:cNvPr>
          <p:cNvSpPr/>
          <p:nvPr/>
        </p:nvSpPr>
        <p:spPr>
          <a:xfrm>
            <a:off x="3338512" y="4328070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974F1886-6FB5-6167-D1C7-CDA8A7EE60D8}"/>
              </a:ext>
            </a:extLst>
          </p:cNvPr>
          <p:cNvSpPr/>
          <p:nvPr/>
        </p:nvSpPr>
        <p:spPr>
          <a:xfrm>
            <a:off x="7750373" y="432807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B35FE136-FF00-9859-FAAA-4BCC152C2128}"/>
              </a:ext>
            </a:extLst>
          </p:cNvPr>
          <p:cNvSpPr/>
          <p:nvPr/>
        </p:nvSpPr>
        <p:spPr>
          <a:xfrm>
            <a:off x="581025" y="517579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E0B5F547-4AD2-CBDE-962C-BB262C215FA6}"/>
              </a:ext>
            </a:extLst>
          </p:cNvPr>
          <p:cNvSpPr/>
          <p:nvPr/>
        </p:nvSpPr>
        <p:spPr>
          <a:xfrm>
            <a:off x="3338512" y="517579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BF6778AA-6BC6-1532-2BD7-00C9C5A713F5}"/>
              </a:ext>
            </a:extLst>
          </p:cNvPr>
          <p:cNvSpPr/>
          <p:nvPr/>
        </p:nvSpPr>
        <p:spPr>
          <a:xfrm>
            <a:off x="7750373" y="517579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2BDBE451-5A1D-24F9-EDC3-51945C6E1E37}"/>
              </a:ext>
            </a:extLst>
          </p:cNvPr>
          <p:cNvSpPr txBox="1"/>
          <p:nvPr/>
        </p:nvSpPr>
        <p:spPr>
          <a:xfrm>
            <a:off x="741244" y="447828"/>
            <a:ext cx="1128445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GT" sz="3300" b="1" dirty="0">
                <a:solidFill>
                  <a:srgbClr val="00B0F0"/>
                </a:solidFill>
              </a:rPr>
              <a:t>Tablas normativas 3.4.2.3-1 y 3.4.2.3-2</a:t>
            </a:r>
            <a:endParaRPr sz="3300" b="1" dirty="0">
              <a:solidFill>
                <a:srgbClr val="00B0F0"/>
              </a:solidFill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CE1CB789-4CE1-458F-BA87-DECF5BC8F1CD}"/>
              </a:ext>
            </a:extLst>
          </p:cNvPr>
          <p:cNvSpPr/>
          <p:nvPr/>
        </p:nvSpPr>
        <p:spPr>
          <a:xfrm>
            <a:off x="557459" y="414064"/>
            <a:ext cx="71191" cy="66032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69;p18">
            <a:extLst>
              <a:ext uri="{FF2B5EF4-FFF2-40B4-BE49-F238E27FC236}">
                <a16:creationId xmlns:a16="http://schemas.microsoft.com/office/drawing/2014/main" id="{BA0E7C88-7479-5442-DBCE-A37642246213}"/>
              </a:ext>
            </a:extLst>
          </p:cNvPr>
          <p:cNvSpPr txBox="1"/>
          <p:nvPr/>
        </p:nvSpPr>
        <p:spPr>
          <a:xfrm>
            <a:off x="480934" y="1511128"/>
            <a:ext cx="45693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Aptos" panose="020B00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1E7B03-8245-DE2B-5C12-FC9AC26AAD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710"/>
          <a:stretch>
            <a:fillRect/>
          </a:stretch>
        </p:blipFill>
        <p:spPr>
          <a:xfrm>
            <a:off x="1455803" y="2529930"/>
            <a:ext cx="9536978" cy="38756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7D48C0F-98E7-E488-5173-6D5A9BCCA217}"/>
                  </a:ext>
                </a:extLst>
              </p:cNvPr>
              <p:cNvSpPr txBox="1"/>
              <p:nvPr/>
            </p:nvSpPr>
            <p:spPr>
              <a:xfrm>
                <a:off x="741244" y="1260923"/>
                <a:ext cx="11089358" cy="829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GT" sz="2300" dirty="0">
                    <a:solidFill>
                      <a:schemeClr val="bg1"/>
                    </a:solidFill>
                  </a:rPr>
                  <a:t>Factores de sitio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𝑝𝑔𝑎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                                     Suelo Tipo D </a:t>
                </a:r>
              </a:p>
              <a:p>
                <a:r>
                  <a:rPr lang="es-GT" sz="2300" dirty="0">
                    <a:solidFill>
                      <a:schemeClr val="bg1"/>
                    </a:solidFill>
                  </a:rPr>
                  <a:t>Aceleraciones base de Quetzaltenango (</a:t>
                </a:r>
                <a14:m>
                  <m:oMath xmlns:m="http://schemas.openxmlformats.org/officeDocument/2006/math"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=1.25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7D48C0F-98E7-E488-5173-6D5A9BCCA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44" y="1260923"/>
                <a:ext cx="11089358" cy="829010"/>
              </a:xfrm>
              <a:prstGeom prst="rect">
                <a:avLst/>
              </a:prstGeom>
              <a:blipFill>
                <a:blip r:embed="rId6"/>
                <a:stretch>
                  <a:fillRect l="-825" t="-6618" b="-15441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33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5C325DB2-6EAC-8589-DC27-D320879E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>
            <a:extLst>
              <a:ext uri="{FF2B5EF4-FFF2-40B4-BE49-F238E27FC236}">
                <a16:creationId xmlns:a16="http://schemas.microsoft.com/office/drawing/2014/main" id="{9396E001-3EF9-7100-8097-261E2579BB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FF68F10F-44E9-2DEE-E851-BD1DE2464B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046" y="1347018"/>
            <a:ext cx="11784758" cy="53782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E2A17C3B-F112-8BC0-3F15-DB7CF1338DF8}"/>
              </a:ext>
            </a:extLst>
          </p:cNvPr>
          <p:cNvSpPr/>
          <p:nvPr/>
        </p:nvSpPr>
        <p:spPr>
          <a:xfrm>
            <a:off x="581025" y="34803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0CC1048B-2CE0-B25C-2F52-62820F959608}"/>
              </a:ext>
            </a:extLst>
          </p:cNvPr>
          <p:cNvSpPr/>
          <p:nvPr/>
        </p:nvSpPr>
        <p:spPr>
          <a:xfrm>
            <a:off x="3338512" y="348034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6B6F4DBA-0B19-24CA-9E59-12A72F539568}"/>
              </a:ext>
            </a:extLst>
          </p:cNvPr>
          <p:cNvSpPr/>
          <p:nvPr/>
        </p:nvSpPr>
        <p:spPr>
          <a:xfrm>
            <a:off x="7750373" y="348034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F3CC2D9E-FA69-8A77-0A99-31D3E33FF3ED}"/>
              </a:ext>
            </a:extLst>
          </p:cNvPr>
          <p:cNvSpPr/>
          <p:nvPr/>
        </p:nvSpPr>
        <p:spPr>
          <a:xfrm>
            <a:off x="581025" y="4328070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628CC4CB-07AC-A7B4-323E-2F8CD2F9DEC9}"/>
              </a:ext>
            </a:extLst>
          </p:cNvPr>
          <p:cNvSpPr/>
          <p:nvPr/>
        </p:nvSpPr>
        <p:spPr>
          <a:xfrm>
            <a:off x="3338512" y="4328070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A37D8B6E-870D-813A-5F39-7DA2753FAD28}"/>
              </a:ext>
            </a:extLst>
          </p:cNvPr>
          <p:cNvSpPr/>
          <p:nvPr/>
        </p:nvSpPr>
        <p:spPr>
          <a:xfrm>
            <a:off x="7750373" y="432807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7A60BC77-07DE-56C6-9D8B-EEA321311A41}"/>
              </a:ext>
            </a:extLst>
          </p:cNvPr>
          <p:cNvSpPr/>
          <p:nvPr/>
        </p:nvSpPr>
        <p:spPr>
          <a:xfrm>
            <a:off x="581025" y="517579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005305EF-0CA9-8ED1-FD12-7726B26181DB}"/>
              </a:ext>
            </a:extLst>
          </p:cNvPr>
          <p:cNvSpPr/>
          <p:nvPr/>
        </p:nvSpPr>
        <p:spPr>
          <a:xfrm>
            <a:off x="3338512" y="517579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14DDAEB0-99FC-0AB7-1E82-156019E8B326}"/>
              </a:ext>
            </a:extLst>
          </p:cNvPr>
          <p:cNvSpPr/>
          <p:nvPr/>
        </p:nvSpPr>
        <p:spPr>
          <a:xfrm>
            <a:off x="7750373" y="517579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A607F7CA-791F-9872-D788-080E78565C4C}"/>
              </a:ext>
            </a:extLst>
          </p:cNvPr>
          <p:cNvSpPr txBox="1"/>
          <p:nvPr/>
        </p:nvSpPr>
        <p:spPr>
          <a:xfrm>
            <a:off x="732504" y="440779"/>
            <a:ext cx="8146026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GT" sz="3200" b="1" dirty="0">
                <a:solidFill>
                  <a:srgbClr val="00B0F0"/>
                </a:solidFill>
              </a:rPr>
              <a:t>Tablas normativas 3.4.2.3-1 y 3.4.2.3-2</a:t>
            </a:r>
          </a:p>
          <a:p>
            <a:pPr>
              <a:lnSpc>
                <a:spcPct val="119969"/>
              </a:lnSpc>
            </a:pPr>
            <a:endParaRPr lang="es-GT" sz="3000" dirty="0"/>
          </a:p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B37F84A4-8715-8A94-5FD8-8E9549C600D9}"/>
              </a:ext>
            </a:extLst>
          </p:cNvPr>
          <p:cNvSpPr/>
          <p:nvPr/>
        </p:nvSpPr>
        <p:spPr>
          <a:xfrm>
            <a:off x="557459" y="414064"/>
            <a:ext cx="71191" cy="66032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69;p18">
            <a:extLst>
              <a:ext uri="{FF2B5EF4-FFF2-40B4-BE49-F238E27FC236}">
                <a16:creationId xmlns:a16="http://schemas.microsoft.com/office/drawing/2014/main" id="{277A726E-783F-F85E-4C92-E009EE76853F}"/>
              </a:ext>
            </a:extLst>
          </p:cNvPr>
          <p:cNvSpPr txBox="1"/>
          <p:nvPr/>
        </p:nvSpPr>
        <p:spPr>
          <a:xfrm>
            <a:off x="480934" y="1511128"/>
            <a:ext cx="45693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Aptos" panose="020B00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B97D29-A50C-3201-B551-A5A7475C56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998"/>
          <a:stretch>
            <a:fillRect/>
          </a:stretch>
        </p:blipFill>
        <p:spPr>
          <a:xfrm>
            <a:off x="1057275" y="2437704"/>
            <a:ext cx="10312808" cy="3840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821C770-E7AC-8E08-C252-2DE5DD9540BD}"/>
                  </a:ext>
                </a:extLst>
              </p:cNvPr>
              <p:cNvSpPr txBox="1"/>
              <p:nvPr/>
            </p:nvSpPr>
            <p:spPr>
              <a:xfrm>
                <a:off x="628649" y="1336066"/>
                <a:ext cx="11170061" cy="829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GT" sz="2300" dirty="0">
                    <a:solidFill>
                      <a:schemeClr val="bg1"/>
                    </a:solidFill>
                  </a:rPr>
                  <a:t>Factores de sitio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𝑝𝑔𝑎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                                    Suelo Tipo D </a:t>
                </a:r>
              </a:p>
              <a:p>
                <a:r>
                  <a:rPr lang="es-GT" sz="2300" dirty="0">
                    <a:solidFill>
                      <a:schemeClr val="bg1"/>
                    </a:solidFill>
                  </a:rPr>
                  <a:t>Aceleraciones base de Quetzaltenango (</a:t>
                </a:r>
                <a14:m>
                  <m:oMath xmlns:m="http://schemas.openxmlformats.org/officeDocument/2006/math"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=1.25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821C770-E7AC-8E08-C252-2DE5DD954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336066"/>
                <a:ext cx="11170061" cy="829010"/>
              </a:xfrm>
              <a:prstGeom prst="rect">
                <a:avLst/>
              </a:prstGeom>
              <a:blipFill>
                <a:blip r:embed="rId6"/>
                <a:stretch>
                  <a:fillRect l="-764" t="-5882" b="-15441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75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D206E725-7108-C907-18AC-F3667F92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>
            <a:extLst>
              <a:ext uri="{FF2B5EF4-FFF2-40B4-BE49-F238E27FC236}">
                <a16:creationId xmlns:a16="http://schemas.microsoft.com/office/drawing/2014/main" id="{E6C1869D-C953-DF70-1FB1-151F6CE1A4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A8A125C6-C37A-90C3-2F03-908054ABFD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046" y="1347018"/>
            <a:ext cx="11784758" cy="53782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82CB6726-CFF3-7E5A-6D5A-923FB1743E93}"/>
              </a:ext>
            </a:extLst>
          </p:cNvPr>
          <p:cNvSpPr/>
          <p:nvPr/>
        </p:nvSpPr>
        <p:spPr>
          <a:xfrm>
            <a:off x="581025" y="34803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8AEB3298-6F37-EC72-58F3-F2F23B23F7D9}"/>
              </a:ext>
            </a:extLst>
          </p:cNvPr>
          <p:cNvSpPr/>
          <p:nvPr/>
        </p:nvSpPr>
        <p:spPr>
          <a:xfrm>
            <a:off x="3338512" y="348034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1DD3FD4E-542E-D141-084B-37AA77A7532F}"/>
              </a:ext>
            </a:extLst>
          </p:cNvPr>
          <p:cNvSpPr/>
          <p:nvPr/>
        </p:nvSpPr>
        <p:spPr>
          <a:xfrm>
            <a:off x="7750373" y="348034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D7E73E9D-FDD7-28AB-D13E-F645EEA0B9E2}"/>
              </a:ext>
            </a:extLst>
          </p:cNvPr>
          <p:cNvSpPr/>
          <p:nvPr/>
        </p:nvSpPr>
        <p:spPr>
          <a:xfrm>
            <a:off x="581025" y="4328070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156FCB9F-0DC8-E9AA-B6EA-DA4BD519FC11}"/>
              </a:ext>
            </a:extLst>
          </p:cNvPr>
          <p:cNvSpPr/>
          <p:nvPr/>
        </p:nvSpPr>
        <p:spPr>
          <a:xfrm>
            <a:off x="3338512" y="4328070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A15BA71B-635B-8E62-2B46-66D83420E2E7}"/>
              </a:ext>
            </a:extLst>
          </p:cNvPr>
          <p:cNvSpPr/>
          <p:nvPr/>
        </p:nvSpPr>
        <p:spPr>
          <a:xfrm>
            <a:off x="7750373" y="432807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4CE42D8E-B1EC-2278-1DC5-94B06036ADB5}"/>
              </a:ext>
            </a:extLst>
          </p:cNvPr>
          <p:cNvSpPr/>
          <p:nvPr/>
        </p:nvSpPr>
        <p:spPr>
          <a:xfrm>
            <a:off x="581025" y="517579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9C69EF98-E8DE-33FC-EA87-E42430D3A7F4}"/>
              </a:ext>
            </a:extLst>
          </p:cNvPr>
          <p:cNvSpPr/>
          <p:nvPr/>
        </p:nvSpPr>
        <p:spPr>
          <a:xfrm>
            <a:off x="3338512" y="5175795"/>
            <a:ext cx="44118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96021FD1-313D-EA53-7E9D-ED84CD7E3F78}"/>
              </a:ext>
            </a:extLst>
          </p:cNvPr>
          <p:cNvSpPr/>
          <p:nvPr/>
        </p:nvSpPr>
        <p:spPr>
          <a:xfrm>
            <a:off x="7750373" y="517579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6DDB327B-0827-46CC-28F4-7D14A716FD7C}"/>
              </a:ext>
            </a:extLst>
          </p:cNvPr>
          <p:cNvSpPr txBox="1"/>
          <p:nvPr/>
        </p:nvSpPr>
        <p:spPr>
          <a:xfrm>
            <a:off x="732504" y="440779"/>
            <a:ext cx="8146026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GT" sz="3200" b="1" dirty="0">
                <a:solidFill>
                  <a:srgbClr val="00B0F0"/>
                </a:solidFill>
              </a:rPr>
              <a:t>Tablas normativas 3.4.2.3-1 y 3.4.2.3-2</a:t>
            </a:r>
          </a:p>
          <a:p>
            <a:pPr>
              <a:lnSpc>
                <a:spcPct val="119969"/>
              </a:lnSpc>
            </a:pPr>
            <a:endParaRPr lang="es-GT" sz="3000" dirty="0"/>
          </a:p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5EC6035C-DD91-B593-4163-C539ACB22D54}"/>
              </a:ext>
            </a:extLst>
          </p:cNvPr>
          <p:cNvSpPr/>
          <p:nvPr/>
        </p:nvSpPr>
        <p:spPr>
          <a:xfrm>
            <a:off x="557459" y="414064"/>
            <a:ext cx="71191" cy="66032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69;p18">
            <a:extLst>
              <a:ext uri="{FF2B5EF4-FFF2-40B4-BE49-F238E27FC236}">
                <a16:creationId xmlns:a16="http://schemas.microsoft.com/office/drawing/2014/main" id="{E512259D-2D18-4542-4276-2480DA9F6001}"/>
              </a:ext>
            </a:extLst>
          </p:cNvPr>
          <p:cNvSpPr txBox="1"/>
          <p:nvPr/>
        </p:nvSpPr>
        <p:spPr>
          <a:xfrm>
            <a:off x="480934" y="1511128"/>
            <a:ext cx="45693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2707F95-97F3-A8BB-0A88-1A06F6964028}"/>
                  </a:ext>
                </a:extLst>
              </p:cNvPr>
              <p:cNvSpPr txBox="1"/>
              <p:nvPr/>
            </p:nvSpPr>
            <p:spPr>
              <a:xfrm>
                <a:off x="628649" y="1336066"/>
                <a:ext cx="11170061" cy="829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GT" sz="2300" dirty="0">
                    <a:solidFill>
                      <a:schemeClr val="bg1"/>
                    </a:solidFill>
                  </a:rPr>
                  <a:t>Factores de sitio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𝑝𝑔𝑎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                                    Suelo Tipo D </a:t>
                </a:r>
              </a:p>
              <a:p>
                <a:r>
                  <a:rPr lang="es-GT" sz="2300" dirty="0">
                    <a:solidFill>
                      <a:schemeClr val="bg1"/>
                    </a:solidFill>
                  </a:rPr>
                  <a:t>Aceleraciones base de Quetzaltenango (</a:t>
                </a:r>
                <a14:m>
                  <m:oMath xmlns:m="http://schemas.openxmlformats.org/officeDocument/2006/math">
                    <m:r>
                      <a:rPr lang="es-GT" sz="2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𝑃𝐺𝐴</m:t>
                    </m:r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=1.25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GT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GT" sz="23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=0.50</m:t>
                    </m:r>
                    <m:r>
                      <m:rPr>
                        <m:nor/>
                      </m:rPr>
                      <a:rPr lang="es-GT" sz="2300" i="0">
                        <a:solidFill>
                          <a:schemeClr val="bg1"/>
                        </a:solidFill>
                      </a:rPr>
                      <m:t> g</m:t>
                    </m:r>
                  </m:oMath>
                </a14:m>
                <a:r>
                  <a:rPr lang="es-GT" sz="2300" dirty="0">
                    <a:solidFill>
                      <a:schemeClr val="bg1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2707F95-97F3-A8BB-0A88-1A06F6964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336066"/>
                <a:ext cx="11170061" cy="829010"/>
              </a:xfrm>
              <a:prstGeom prst="rect">
                <a:avLst/>
              </a:prstGeom>
              <a:blipFill>
                <a:blip r:embed="rId5"/>
                <a:stretch>
                  <a:fillRect l="-764" t="-5882" b="-15441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0CC29140-24A3-4A1F-7553-446DF2365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729" y="2640457"/>
            <a:ext cx="9862542" cy="383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97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571500" y="269855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34833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34737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958646" y="3556835"/>
            <a:ext cx="689732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Gracias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por</a:t>
            </a: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su</a:t>
            </a: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atención</a:t>
            </a:r>
            <a:endParaRPr dirty="0"/>
          </a:p>
        </p:txBody>
      </p:sp>
      <p:sp>
        <p:nvSpPr>
          <p:cNvPr id="264" name="Google Shape;264;p23"/>
          <p:cNvSpPr/>
          <p:nvPr/>
        </p:nvSpPr>
        <p:spPr>
          <a:xfrm>
            <a:off x="699320" y="3571008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1337</Words>
  <Application>Microsoft Office PowerPoint</Application>
  <PresentationFormat>Panorámica</PresentationFormat>
  <Paragraphs>108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Montserrat ExtraBold</vt:lpstr>
      <vt:lpstr>Calibri</vt:lpstr>
      <vt:lpstr>Cambria Math</vt:lpstr>
      <vt:lpstr>Aptos</vt:lpstr>
      <vt:lpstr>Google Sans Text</vt:lpstr>
      <vt:lpstr>Inter Medium</vt:lpstr>
      <vt:lpstr>Montserrat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</cp:lastModifiedBy>
  <cp:revision>46</cp:revision>
  <dcterms:modified xsi:type="dcterms:W3CDTF">2026-09-19T16:04:08Z</dcterms:modified>
</cp:coreProperties>
</file>