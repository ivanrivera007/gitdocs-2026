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5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70" r:id="rId12"/>
    <p:sldId id="267" r:id="rId13"/>
    <p:sldId id="274" r:id="rId14"/>
    <p:sldId id="268" r:id="rId15"/>
    <p:sldId id="269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BEA2D-72C4-43D1-8846-E94193EF0531}" type="datetimeFigureOut">
              <a:rPr lang="es-GT" smtClean="0"/>
              <a:t>18/08/2026</a:t>
            </a:fld>
            <a:endParaRPr lang="es-G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639D6-8894-407C-B67E-006BEF291F7B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9968886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BEA2D-72C4-43D1-8846-E94193EF0531}" type="datetimeFigureOut">
              <a:rPr lang="es-GT" smtClean="0"/>
              <a:t>18/08/2026</a:t>
            </a:fld>
            <a:endParaRPr lang="es-G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639D6-8894-407C-B67E-006BEF291F7B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52201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BEA2D-72C4-43D1-8846-E94193EF0531}" type="datetimeFigureOut">
              <a:rPr lang="es-GT" smtClean="0"/>
              <a:t>18/08/2026</a:t>
            </a:fld>
            <a:endParaRPr lang="es-G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639D6-8894-407C-B67E-006BEF291F7B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4226098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BEA2D-72C4-43D1-8846-E94193EF0531}" type="datetimeFigureOut">
              <a:rPr lang="es-GT" smtClean="0"/>
              <a:t>18/08/2026</a:t>
            </a:fld>
            <a:endParaRPr lang="es-G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639D6-8894-407C-B67E-006BEF291F7B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420996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BEA2D-72C4-43D1-8846-E94193EF0531}" type="datetimeFigureOut">
              <a:rPr lang="es-GT" smtClean="0"/>
              <a:t>18/08/2026</a:t>
            </a:fld>
            <a:endParaRPr lang="es-G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639D6-8894-407C-B67E-006BEF291F7B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269406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BEA2D-72C4-43D1-8846-E94193EF0531}" type="datetimeFigureOut">
              <a:rPr lang="es-GT" smtClean="0"/>
              <a:t>18/08/2026</a:t>
            </a:fld>
            <a:endParaRPr lang="es-GT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639D6-8894-407C-B67E-006BEF291F7B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2410848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BEA2D-72C4-43D1-8846-E94193EF0531}" type="datetimeFigureOut">
              <a:rPr lang="es-GT" smtClean="0"/>
              <a:t>18/08/2026</a:t>
            </a:fld>
            <a:endParaRPr lang="es-GT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639D6-8894-407C-B67E-006BEF291F7B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2181235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BEA2D-72C4-43D1-8846-E94193EF0531}" type="datetimeFigureOut">
              <a:rPr lang="es-GT" smtClean="0"/>
              <a:t>18/08/2026</a:t>
            </a:fld>
            <a:endParaRPr lang="es-GT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639D6-8894-407C-B67E-006BEF291F7B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0089802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BEA2D-72C4-43D1-8846-E94193EF0531}" type="datetimeFigureOut">
              <a:rPr lang="es-GT" smtClean="0"/>
              <a:t>18/08/2026</a:t>
            </a:fld>
            <a:endParaRPr lang="es-G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639D6-8894-407C-B67E-006BEF291F7B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937529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BEA2D-72C4-43D1-8846-E94193EF0531}" type="datetimeFigureOut">
              <a:rPr lang="es-GT" smtClean="0"/>
              <a:t>18/08/2026</a:t>
            </a:fld>
            <a:endParaRPr lang="es-G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639D6-8894-407C-B67E-006BEF291F7B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7364501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BEA2D-72C4-43D1-8846-E94193EF0531}" type="datetimeFigureOut">
              <a:rPr lang="es-GT" smtClean="0"/>
              <a:t>18/08/2026</a:t>
            </a:fld>
            <a:endParaRPr lang="es-G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639D6-8894-407C-B67E-006BEF291F7B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7766024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BEA2D-72C4-43D1-8846-E94193EF0531}" type="datetimeFigureOut">
              <a:rPr lang="es-GT" smtClean="0"/>
              <a:t>18/08/2026</a:t>
            </a:fld>
            <a:endParaRPr lang="es-G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639D6-8894-407C-B67E-006BEF291F7B}" type="slidenum">
              <a:rPr lang="es-GT" smtClean="0"/>
              <a:t>‹Nº›</a:t>
            </a:fld>
            <a:endParaRPr lang="es-GT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601766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BEA2D-72C4-43D1-8846-E94193EF0531}" type="datetimeFigureOut">
              <a:rPr lang="es-GT" smtClean="0"/>
              <a:t>18/08/2026</a:t>
            </a:fld>
            <a:endParaRPr lang="es-G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639D6-8894-407C-B67E-006BEF291F7B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749251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BEA2D-72C4-43D1-8846-E94193EF0531}" type="datetimeFigureOut">
              <a:rPr lang="es-GT" smtClean="0"/>
              <a:t>18/08/2026</a:t>
            </a:fld>
            <a:endParaRPr lang="es-GT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639D6-8894-407C-B67E-006BEF291F7B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6726470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BEA2D-72C4-43D1-8846-E94193EF0531}" type="datetimeFigureOut">
              <a:rPr lang="es-GT" smtClean="0"/>
              <a:t>18/08/2026</a:t>
            </a:fld>
            <a:endParaRPr lang="es-GT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639D6-8894-407C-B67E-006BEF291F7B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5971329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BEA2D-72C4-43D1-8846-E94193EF0531}" type="datetimeFigureOut">
              <a:rPr lang="es-GT" smtClean="0"/>
              <a:t>18/08/2026</a:t>
            </a:fld>
            <a:endParaRPr lang="es-G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639D6-8894-407C-B67E-006BEF291F7B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4042369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BEA2D-72C4-43D1-8846-E94193EF0531}" type="datetimeFigureOut">
              <a:rPr lang="es-GT" smtClean="0"/>
              <a:t>18/08/2026</a:t>
            </a:fld>
            <a:endParaRPr lang="es-G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639D6-8894-407C-B67E-006BEF291F7B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8506695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GT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GT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00BBEA2D-72C4-43D1-8846-E94193EF0531}" type="datetimeFigureOut">
              <a:rPr lang="es-GT" smtClean="0"/>
              <a:t>18/08/2026</a:t>
            </a:fld>
            <a:endParaRPr lang="es-G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s-G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0639D6-8894-407C-B67E-006BEF291F7B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29803743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60" r:id="rId1"/>
    <p:sldLayoutId id="2147483961" r:id="rId2"/>
    <p:sldLayoutId id="2147483962" r:id="rId3"/>
    <p:sldLayoutId id="2147483963" r:id="rId4"/>
    <p:sldLayoutId id="2147483964" r:id="rId5"/>
    <p:sldLayoutId id="2147483965" r:id="rId6"/>
    <p:sldLayoutId id="2147483966" r:id="rId7"/>
    <p:sldLayoutId id="2147483967" r:id="rId8"/>
    <p:sldLayoutId id="2147483968" r:id="rId9"/>
    <p:sldLayoutId id="2147483969" r:id="rId10"/>
    <p:sldLayoutId id="2147483970" r:id="rId11"/>
    <p:sldLayoutId id="2147483971" r:id="rId12"/>
    <p:sldLayoutId id="2147483972" r:id="rId13"/>
    <p:sldLayoutId id="2147483973" r:id="rId14"/>
    <p:sldLayoutId id="2147483974" r:id="rId15"/>
    <p:sldLayoutId id="2147483975" r:id="rId16"/>
    <p:sldLayoutId id="2147483976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video" Target="NULL" TargetMode="External"/><Relationship Id="rId7" Type="http://schemas.openxmlformats.org/officeDocument/2006/relationships/image" Target="../media/image25.png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image" Target="../media/image24.png"/><Relationship Id="rId5" Type="http://schemas.openxmlformats.org/officeDocument/2006/relationships/slideLayout" Target="../slideLayouts/slideLayout2.xml"/><Relationship Id="rId4" Type="http://schemas.microsoft.com/office/2007/relationships/media" Target="../media/media3.mp4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2E4F6F-5FF5-ED08-FCD7-BC42FE760C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9670" y="75988"/>
            <a:ext cx="9144000" cy="2387600"/>
          </a:xfrm>
        </p:spPr>
        <p:txBody>
          <a:bodyPr>
            <a:normAutofit/>
          </a:bodyPr>
          <a:lstStyle/>
          <a:p>
            <a:r>
              <a:rPr lang="es-MX" sz="2000" dirty="0"/>
              <a:t>UNIVERSIDAD DE SAN CARLOS DE GUATEMALA.</a:t>
            </a:r>
            <a:br>
              <a:rPr lang="es-MX" sz="2000" dirty="0"/>
            </a:br>
            <a:r>
              <a:rPr lang="es-MX" sz="2000" dirty="0"/>
              <a:t>CENTRO UNIVERSITARIO DE OCCIDENTE.</a:t>
            </a:r>
            <a:br>
              <a:rPr lang="es-MX" sz="2000" dirty="0"/>
            </a:br>
            <a:r>
              <a:rPr lang="es-MX" sz="2000" dirty="0"/>
              <a:t>DEPARTAMENTO DE ESTUDIOS DE POSTGRADOS.</a:t>
            </a:r>
            <a:br>
              <a:rPr lang="es-MX" sz="2000" dirty="0"/>
            </a:br>
            <a:r>
              <a:rPr lang="es-MX" sz="2000" dirty="0"/>
              <a:t> “MAESTRIA EN INGENIERIA ESTRUCTURAL Y SISMORRESISTENTE ”.</a:t>
            </a:r>
            <a:br>
              <a:rPr lang="es-MX" sz="2000" dirty="0"/>
            </a:br>
            <a:r>
              <a:rPr lang="es-MX" sz="2000" dirty="0"/>
              <a:t>CURSO: DINAMICA ESTRUCTURAL APLICADA AL DISEÑO SÍSMICO</a:t>
            </a:r>
            <a:br>
              <a:rPr lang="es-MX" sz="2000" dirty="0"/>
            </a:br>
            <a:r>
              <a:rPr lang="es-MX" sz="2000" dirty="0"/>
              <a:t>MSC. ING. CARLOS JULIÁN HERNÁNDEZ GARCÍA</a:t>
            </a:r>
            <a:endParaRPr lang="es-GT" sz="20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83248A2-6B5E-C0DA-AD9C-0C211284BF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55234" y="4394413"/>
            <a:ext cx="5773747" cy="1661125"/>
          </a:xfrm>
        </p:spPr>
        <p:txBody>
          <a:bodyPr>
            <a:noAutofit/>
          </a:bodyPr>
          <a:lstStyle/>
          <a:p>
            <a:r>
              <a:rPr lang="es-GT" sz="1800" b="1" dirty="0">
                <a:solidFill>
                  <a:srgbClr val="FFFF00"/>
                </a:solidFill>
                <a:latin typeface="Arial Black" panose="020B0A04020102020204" pitchFamily="34" charset="0"/>
              </a:rPr>
              <a:t>ALUMNOS:</a:t>
            </a:r>
          </a:p>
          <a:p>
            <a:r>
              <a:rPr lang="es-GT" sz="1800" b="1" dirty="0">
                <a:solidFill>
                  <a:srgbClr val="FFC000"/>
                </a:solidFill>
              </a:rPr>
              <a:t>MARLON IVAN CARRETO RIVERA 201230088</a:t>
            </a:r>
          </a:p>
          <a:p>
            <a:r>
              <a:rPr lang="es-GT" sz="1800" b="1" dirty="0">
                <a:solidFill>
                  <a:srgbClr val="FFC000"/>
                </a:solidFill>
              </a:rPr>
              <a:t>EDVIN ESTUARDO AGUILÓN RALDA 201532048</a:t>
            </a:r>
          </a:p>
          <a:p>
            <a:r>
              <a:rPr lang="es-GT" sz="1800" b="1" dirty="0">
                <a:solidFill>
                  <a:srgbClr val="FFC000"/>
                </a:solidFill>
              </a:rPr>
              <a:t>MARIO ALEJANDRO AGUILON RALDA 201532174</a:t>
            </a: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CC37FA84-8605-5116-43CA-E500DAE35B9E}"/>
              </a:ext>
            </a:extLst>
          </p:cNvPr>
          <p:cNvCxnSpPr>
            <a:cxnSpLocks/>
          </p:cNvCxnSpPr>
          <p:nvPr/>
        </p:nvCxnSpPr>
        <p:spPr>
          <a:xfrm>
            <a:off x="1288330" y="276458"/>
            <a:ext cx="103632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88233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EADD97-F153-C589-76C1-61535AC9E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3153" y="433865"/>
            <a:ext cx="4800716" cy="989583"/>
          </a:xfrm>
        </p:spPr>
        <p:txBody>
          <a:bodyPr/>
          <a:lstStyle/>
          <a:p>
            <a:pPr algn="ctr"/>
            <a:r>
              <a:rPr lang="es-GT" b="1" dirty="0">
                <a:solidFill>
                  <a:schemeClr val="accent3"/>
                </a:solidFill>
              </a:rPr>
              <a:t>INTRODUCCIÓN</a:t>
            </a:r>
            <a:r>
              <a:rPr lang="es-GT" dirty="0"/>
              <a:t> </a:t>
            </a:r>
            <a:br>
              <a:rPr lang="es-GT" dirty="0"/>
            </a:br>
            <a:endParaRPr lang="es-GT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AF688EB-32DE-F337-527C-11BC378326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779" y="1331259"/>
            <a:ext cx="11387580" cy="5295784"/>
          </a:xfrm>
        </p:spPr>
        <p:txBody>
          <a:bodyPr>
            <a:normAutofit/>
          </a:bodyPr>
          <a:lstStyle/>
          <a:p>
            <a:pPr algn="ctr"/>
            <a:r>
              <a:rPr lang="es-MX" b="1" dirty="0"/>
              <a:t> Las vibraciones mecánicas son el campo de estudio necesario que todo profesional que trabaje con sistemas en movimiento debe de conocer, se conoce como vibración mecánica a aquellos movimientos ondulatorios que se transmiten entre cuerpos y que estos son capaces de absorber, esto dependerá de la intensidad y de la zona de incidencia. Por ello es necesario evaluar el nivel de vibración mecánica presente en el entorno, ya que este fenómeno se encuentra en máquinas simples llegando a estar hasta en estructuras mucho más complejas. </a:t>
            </a:r>
          </a:p>
          <a:p>
            <a:r>
              <a:rPr lang="es-MX" b="1" dirty="0"/>
              <a:t>     Generalmente las variables que se mide en los diferentes procesos de análisis de vibración son: la amplitud, frecuencia y dirección, al determinar estas variables podemos determinar la causa raíz de los problemas y toma las medidas necesarias para poder resolverlo. El concepto de vibraciones en el campo ingenieril se empezó a popularizar en la era de la revolución industrial cuando el desarrollo de las estructuras y las maquinarias empezaron a tomar un trasfondo mucho mayor; antiguamente el concepto de las vibraciones había sido investigado por los antiguos exponentes de la ciencia atraves de sistemas mecánicos simples como el péndulo y desde entonces este fenómeno ha ido cambiando. </a:t>
            </a:r>
          </a:p>
        </p:txBody>
      </p:sp>
    </p:spTree>
    <p:extLst>
      <p:ext uri="{BB962C8B-B14F-4D97-AF65-F5344CB8AC3E}">
        <p14:creationId xmlns:p14="http://schemas.microsoft.com/office/powerpoint/2010/main" val="2111050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10C48E-6B35-50E5-3733-1B34B1E65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8853" y="301889"/>
            <a:ext cx="9404723" cy="1400530"/>
          </a:xfrm>
        </p:spPr>
        <p:txBody>
          <a:bodyPr/>
          <a:lstStyle/>
          <a:p>
            <a:pPr algn="ctr"/>
            <a:r>
              <a:rPr lang="es-GT" dirty="0">
                <a:solidFill>
                  <a:schemeClr val="accent3"/>
                </a:solidFill>
              </a:rPr>
              <a:t>Sistemas de control de vibraciones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0088819-D0AB-459D-12AB-FADE6FE243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926" y="1301566"/>
            <a:ext cx="2881163" cy="5155795"/>
          </a:xfrm>
        </p:spPr>
        <p:txBody>
          <a:bodyPr>
            <a:noAutofit/>
          </a:bodyPr>
          <a:lstStyle/>
          <a:p>
            <a:r>
              <a:rPr lang="es-MX" sz="2400" dirty="0">
                <a:solidFill>
                  <a:srgbClr val="FF0000"/>
                </a:solidFill>
              </a:rPr>
              <a:t>Aislamiento de vibraciones: </a:t>
            </a:r>
            <a:r>
              <a:rPr lang="es-MX" sz="2400" dirty="0"/>
              <a:t>colocar elementos aislantes entre la estructura y la fuente de vibración para disminuir la transmisión de energía.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6E05509-D4FF-A7AC-E80B-8FC30C01A877}"/>
              </a:ext>
            </a:extLst>
          </p:cNvPr>
          <p:cNvSpPr txBox="1"/>
          <p:nvPr/>
        </p:nvSpPr>
        <p:spPr>
          <a:xfrm>
            <a:off x="3424980" y="1320419"/>
            <a:ext cx="242268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dirty="0">
                <a:solidFill>
                  <a:schemeClr val="accent3"/>
                </a:solidFill>
              </a:rPr>
              <a:t>Modificar la rigidez: </a:t>
            </a:r>
            <a:r>
              <a:rPr lang="es-MX" sz="2400" dirty="0"/>
              <a:t>cambiar la rigidez del sistema para alejar su frecuencia natural de la frecuencia de excitación y evitar la resonancia.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EE5FE9D-4419-038A-41F1-21107C11E78E}"/>
              </a:ext>
            </a:extLst>
          </p:cNvPr>
          <p:cNvSpPr txBox="1"/>
          <p:nvPr/>
        </p:nvSpPr>
        <p:spPr>
          <a:xfrm>
            <a:off x="6222083" y="1351508"/>
            <a:ext cx="2632829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dirty="0">
                <a:solidFill>
                  <a:srgbClr val="FF0000"/>
                </a:solidFill>
              </a:rPr>
              <a:t>Modificar la masa:</a:t>
            </a:r>
            <a:r>
              <a:rPr lang="es-MX" sz="2400" dirty="0"/>
              <a:t> aumentar o disminuir la masa puede cambiar el período natural y, por lo tanto, la respuesta ante la vibración.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00A84FC-AFB5-C5F8-4145-03A8D3CDBF5F}"/>
              </a:ext>
            </a:extLst>
          </p:cNvPr>
          <p:cNvSpPr txBox="1"/>
          <p:nvPr/>
        </p:nvSpPr>
        <p:spPr>
          <a:xfrm>
            <a:off x="9229327" y="1301566"/>
            <a:ext cx="223717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dirty="0">
                <a:solidFill>
                  <a:schemeClr val="accent3"/>
                </a:solidFill>
              </a:rPr>
              <a:t>Separación de la fuente: </a:t>
            </a:r>
            <a:r>
              <a:rPr lang="es-MX" sz="2400" dirty="0"/>
              <a:t>cuando sea posible, aislar físicamente la maquinaria o fuente que produce la vibración.</a:t>
            </a:r>
          </a:p>
        </p:txBody>
      </p:sp>
    </p:spTree>
    <p:extLst>
      <p:ext uri="{BB962C8B-B14F-4D97-AF65-F5344CB8AC3E}">
        <p14:creationId xmlns:p14="http://schemas.microsoft.com/office/powerpoint/2010/main" val="27885671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A991F1-7E3C-180E-E94B-C1EDBF89E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453" y="167582"/>
            <a:ext cx="6908096" cy="6901811"/>
          </a:xfrm>
        </p:spPr>
        <p:txBody>
          <a:bodyPr/>
          <a:lstStyle/>
          <a:p>
            <a:r>
              <a:rPr lang="es-GT" sz="5400" b="1" dirty="0">
                <a:solidFill>
                  <a:srgbClr val="FF0000"/>
                </a:solidFill>
              </a:rPr>
              <a:t>Caso sismógrafo:</a:t>
            </a:r>
            <a:br>
              <a:rPr lang="es-GT" sz="3600" dirty="0"/>
            </a:br>
            <a:r>
              <a:rPr lang="es-MX" sz="3600" dirty="0"/>
              <a:t>Sismógrafos de masa suspendida (eje vertical):La masa inercial se sostiene de un punto superior para responder a temblores verticales, mientras dos resortes en la parte inferior la mantienen centrada y alineada con los sensores de medición.</a:t>
            </a:r>
            <a:endParaRPr lang="es-GT" sz="3600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27E64459-4510-1BAF-677A-3B4A460EF1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74065" y="359663"/>
            <a:ext cx="4494549" cy="4831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1900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2D88B9-874B-C411-FCA5-EF387E9B7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7"/>
            <a:ext cx="10887127" cy="2088921"/>
          </a:xfrm>
        </p:spPr>
        <p:txBody>
          <a:bodyPr/>
          <a:lstStyle/>
          <a:p>
            <a:pPr algn="ctr"/>
            <a:r>
              <a:rPr lang="es-GT" dirty="0">
                <a:solidFill>
                  <a:srgbClr val="FF0000"/>
                </a:solidFill>
              </a:rPr>
              <a:t>Caso de estudio:</a:t>
            </a:r>
            <a:br>
              <a:rPr lang="es-GT" dirty="0"/>
            </a:br>
            <a:r>
              <a:rPr lang="es-GT" dirty="0"/>
              <a:t>Sistema no amortiguado de un bloque sostenido por sistema de resortes.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984884C5-15EA-50A7-6CD8-695E35CBD7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55193" y="2762864"/>
            <a:ext cx="2908499" cy="3642419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0112C269-CF19-F3C8-5C08-0EC7771BFE21}"/>
              </a:ext>
            </a:extLst>
          </p:cNvPr>
          <p:cNvSpPr txBox="1"/>
          <p:nvPr/>
        </p:nvSpPr>
        <p:spPr>
          <a:xfrm>
            <a:off x="4542503" y="2541638"/>
            <a:ext cx="6046839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800" dirty="0"/>
              <a:t>Desarrollar un modelo a escala de un problema de vibración no amortiguada descrita en el libro Mecánica vectorial para ingenieros: Dinámica con el fin de observar y comprender los efectos que este presenta de manera real </a:t>
            </a:r>
            <a:endParaRPr lang="es-GT" sz="2800" dirty="0"/>
          </a:p>
        </p:txBody>
      </p:sp>
    </p:spTree>
    <p:extLst>
      <p:ext uri="{BB962C8B-B14F-4D97-AF65-F5344CB8AC3E}">
        <p14:creationId xmlns:p14="http://schemas.microsoft.com/office/powerpoint/2010/main" val="11133291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7746D3-6021-9278-46D2-89E96D1A5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Descripción del sistema no amortiguado de un bloque</a:t>
            </a:r>
            <a:br>
              <a:rPr lang="es-GT" dirty="0"/>
            </a:br>
            <a:endParaRPr lang="es-GT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7B8B818-97E5-E3FF-9612-D6D4177ACE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30528" y="2052918"/>
            <a:ext cx="4975123" cy="3787443"/>
          </a:xfrm>
        </p:spPr>
        <p:txBody>
          <a:bodyPr/>
          <a:lstStyle/>
          <a:p>
            <a:r>
              <a:rPr lang="es-MX" dirty="0"/>
              <a:t>Un bloque de 0.216  kg está sostenido por el arreglo de resortes que se muestra. El bloque se desplaza verticalmente hacia abajo desde su posición de equilibrio y se suelta. Sabiendo que la amplitud del movimiento resultante es 0.01 m</a:t>
            </a:r>
            <a:endParaRPr lang="es-GT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B836F36F-C8A0-D972-35A1-910C5C367C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4367" y="2169041"/>
            <a:ext cx="3025402" cy="3368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2402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A926B8-C006-9BCC-2660-0EED04A8A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4642" y="244836"/>
            <a:ext cx="6226029" cy="753913"/>
          </a:xfrm>
        </p:spPr>
        <p:txBody>
          <a:bodyPr/>
          <a:lstStyle/>
          <a:p>
            <a:r>
              <a:rPr lang="es-GT" dirty="0"/>
              <a:t>Desarrollo del ejercicio</a:t>
            </a:r>
            <a:br>
              <a:rPr lang="es-GT" dirty="0"/>
            </a:br>
            <a:endParaRPr lang="es-GT" sz="1200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FE25306D-CEEC-133F-763C-E5A8913676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6109" y="1197204"/>
            <a:ext cx="5136755" cy="544705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2D80E41F-7510-38C1-9B0F-0CBB90AFB7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4368" y="1586832"/>
            <a:ext cx="4867541" cy="5026332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AAC752AF-1414-2AC1-0F07-597140D803D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4920"/>
          <a:stretch>
            <a:fillRect/>
          </a:stretch>
        </p:blipFill>
        <p:spPr>
          <a:xfrm>
            <a:off x="6284368" y="1291473"/>
            <a:ext cx="4867541" cy="295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2892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57327F4C-DCE8-EA7C-6161-1EE800254E0C}"/>
              </a:ext>
            </a:extLst>
          </p:cNvPr>
          <p:cNvSpPr txBox="1"/>
          <p:nvPr/>
        </p:nvSpPr>
        <p:spPr>
          <a:xfrm>
            <a:off x="3970059" y="154699"/>
            <a:ext cx="42518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GT" sz="2800" dirty="0"/>
              <a:t>Análisis Modelo Físico 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72626FAD-543C-3A12-FB5A-E2281F99FA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71" y="758840"/>
            <a:ext cx="3064292" cy="3916045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EFC728AF-1B9E-B8C8-8017-FE63853BA1B7}"/>
              </a:ext>
            </a:extLst>
          </p:cNvPr>
          <p:cNvSpPr txBox="1"/>
          <p:nvPr/>
        </p:nvSpPr>
        <p:spPr>
          <a:xfrm>
            <a:off x="3536426" y="677919"/>
            <a:ext cx="609442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La masa del modelo como tal se mide en un dinamómetro y nos da el valor del problema  Con un cronometro tomamos el tiempo 3 veces para determinar el periodo y llegar a una aproximación  𝑇1 = 0.51 𝑆𝑒𝑔𝑢𝑛𝑑𝑜𝑠  𝑇2: 0.54   𝑇3:0.48 𝑇𝑝𝑟𝑜𝑚 = (51+54+48)/3 =  0.51𝑆𝑒𝑔</a:t>
            </a:r>
            <a:endParaRPr lang="es-GT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28B3AC1A-3522-4F98-E1AF-6E4BE5C772F7}"/>
              </a:ext>
            </a:extLst>
          </p:cNvPr>
          <p:cNvSpPr txBox="1"/>
          <p:nvPr/>
        </p:nvSpPr>
        <p:spPr>
          <a:xfrm>
            <a:off x="3536426" y="2501253"/>
            <a:ext cx="609442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Con este periodo hallamos la frecuencia  𝐹𝑝𝑟𝑜𝑚 = 1 0.51 =  1.96  Para la amplitud realizamos un movimiento del cuerpo hacia abajo para hallar la amplitud total  Como se muestra en la figura </a:t>
            </a:r>
            <a:endParaRPr lang="es-GT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2AAA8B43-310F-C55F-E8DF-B61A13960C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6214" y="3899546"/>
            <a:ext cx="1939572" cy="2586096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13492F9A-F766-D9DC-AC0F-8BA70760EAE4}"/>
              </a:ext>
            </a:extLst>
          </p:cNvPr>
          <p:cNvSpPr txBox="1"/>
          <p:nvPr/>
        </p:nvSpPr>
        <p:spPr>
          <a:xfrm>
            <a:off x="4016208" y="5007928"/>
            <a:ext cx="11100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GT" dirty="0"/>
              <a:t> X= 1. 3 </a:t>
            </a:r>
          </a:p>
        </p:txBody>
      </p:sp>
    </p:spTree>
    <p:extLst>
      <p:ext uri="{BB962C8B-B14F-4D97-AF65-F5344CB8AC3E}">
        <p14:creationId xmlns:p14="http://schemas.microsoft.com/office/powerpoint/2010/main" val="28906323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C5E55FEF-7D29-E08A-CFD1-D2D316840E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2177" y="483901"/>
            <a:ext cx="7853687" cy="5791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8464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86DB10-7F2A-5EE1-76AC-2C0BEB0F9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9659" y="358450"/>
            <a:ext cx="9404723" cy="716206"/>
          </a:xfrm>
        </p:spPr>
        <p:txBody>
          <a:bodyPr/>
          <a:lstStyle/>
          <a:p>
            <a:r>
              <a:rPr lang="es-GT" b="1" dirty="0">
                <a:solidFill>
                  <a:srgbClr val="FF0000"/>
                </a:solidFill>
              </a:rPr>
              <a:t>Comparación de ambos resultados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A67B9B3-2D3B-CF2C-8FB4-0532701B7AB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68" t="24743" r="29730" b="-163"/>
          <a:stretch>
            <a:fillRect/>
          </a:stretch>
        </p:blipFill>
        <p:spPr>
          <a:xfrm>
            <a:off x="5370479" y="1074656"/>
            <a:ext cx="4786244" cy="5096009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81ECD8B0-0860-B450-7701-DC8A2473C12A}"/>
              </a:ext>
            </a:extLst>
          </p:cNvPr>
          <p:cNvSpPr txBox="1"/>
          <p:nvPr/>
        </p:nvSpPr>
        <p:spPr>
          <a:xfrm>
            <a:off x="973394" y="1674674"/>
            <a:ext cx="3264309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dirty="0"/>
              <a:t>Al observar que ambos modelos quedan con valores cercanos nos damos cuenta de que existe cierto margen de error, el cual se calcularon: </a:t>
            </a:r>
            <a:endParaRPr lang="es-GT" sz="2400" dirty="0"/>
          </a:p>
        </p:txBody>
      </p:sp>
    </p:spTree>
    <p:extLst>
      <p:ext uri="{BB962C8B-B14F-4D97-AF65-F5344CB8AC3E}">
        <p14:creationId xmlns:p14="http://schemas.microsoft.com/office/powerpoint/2010/main" val="41213328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7CBCE0-8BE7-2BBA-84BF-1C8D881DC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Grafica obtenida mediante la aplicación de Android 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064BA0D-08BD-5CC7-742D-FD58C787B9C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6650"/>
          <a:stretch>
            <a:fillRect/>
          </a:stretch>
        </p:blipFill>
        <p:spPr>
          <a:xfrm>
            <a:off x="509048" y="1761741"/>
            <a:ext cx="5882325" cy="5018608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0F7781AB-F5B9-C0AB-4549-A6E14A6DE3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5166" y="1333474"/>
            <a:ext cx="3200677" cy="5322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0380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295618-E24E-3C5F-16F5-64F0F5D87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b="1" dirty="0">
                <a:solidFill>
                  <a:srgbClr val="FF0000"/>
                </a:solidFill>
              </a:rPr>
              <a:t>Simulamos el bloque en GeoGebra</a:t>
            </a:r>
            <a:br>
              <a:rPr lang="es-GT" dirty="0"/>
            </a:br>
            <a:endParaRPr lang="es-GT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32601B5D-93FF-11C3-5D8B-62C3AC00D2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903" y="1237191"/>
            <a:ext cx="11001795" cy="4635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6153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imulacion geogebra.html - Google Chrome 2026-08-19 06-55-05">
            <a:hlinkClick r:id="" action="ppaction://media"/>
            <a:extLst>
              <a:ext uri="{FF2B5EF4-FFF2-40B4-BE49-F238E27FC236}">
                <a16:creationId xmlns:a16="http://schemas.microsoft.com/office/drawing/2014/main" id="{EA46D16E-B146-D2BC-4975-8ACAA25E4DCE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t="8769" r="45125" b="37860"/>
          <a:stretch>
            <a:fillRect/>
          </a:stretch>
        </p:blipFill>
        <p:spPr>
          <a:xfrm>
            <a:off x="2055524" y="877077"/>
            <a:ext cx="8080952" cy="4224703"/>
          </a:xfrm>
        </p:spPr>
      </p:pic>
      <p:sp>
        <p:nvSpPr>
          <p:cNvPr id="6" name="Título 5">
            <a:extLst>
              <a:ext uri="{FF2B5EF4-FFF2-40B4-BE49-F238E27FC236}">
                <a16:creationId xmlns:a16="http://schemas.microsoft.com/office/drawing/2014/main" id="{CC8419EA-9F3D-EF01-0326-BE4A3E8BF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104920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94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0C4511D1-DDE8-BB62-CE11-109065CC9D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453" y="1733229"/>
            <a:ext cx="8588484" cy="3787468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57896439-EA50-AF35-C15F-C830BD7D38BE}"/>
              </a:ext>
            </a:extLst>
          </p:cNvPr>
          <p:cNvSpPr txBox="1"/>
          <p:nvPr/>
        </p:nvSpPr>
        <p:spPr>
          <a:xfrm>
            <a:off x="2678783" y="260961"/>
            <a:ext cx="68344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GT" sz="3600" b="1" dirty="0"/>
              <a:t>Grafica de vibración obtenida en la simulación </a:t>
            </a:r>
          </a:p>
        </p:txBody>
      </p:sp>
    </p:spTree>
    <p:extLst>
      <p:ext uri="{BB962C8B-B14F-4D97-AF65-F5344CB8AC3E}">
        <p14:creationId xmlns:p14="http://schemas.microsoft.com/office/powerpoint/2010/main" val="13574667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998A44-52FB-64E5-B7DA-096B30D38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097" y="163580"/>
            <a:ext cx="11425287" cy="753913"/>
          </a:xfrm>
        </p:spPr>
        <p:txBody>
          <a:bodyPr/>
          <a:lstStyle/>
          <a:p>
            <a:r>
              <a:rPr lang="es-GT" sz="3600" b="1" dirty="0"/>
              <a:t>REGISTRO DE VIBRACIÓNES DE LOS DOS METODOS 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F588521-1447-4D57-54DB-D490C186389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1215"/>
          <a:stretch>
            <a:fillRect/>
          </a:stretch>
        </p:blipFill>
        <p:spPr>
          <a:xfrm>
            <a:off x="142379" y="2419099"/>
            <a:ext cx="6795749" cy="3792041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1A569CA-9029-A125-C160-36B26A6A12F0}"/>
              </a:ext>
            </a:extLst>
          </p:cNvPr>
          <p:cNvSpPr txBox="1"/>
          <p:nvPr/>
        </p:nvSpPr>
        <p:spPr>
          <a:xfrm>
            <a:off x="1229010" y="1206631"/>
            <a:ext cx="21269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GT" dirty="0"/>
              <a:t>REGISTRO SIMULACION GEOGEBRA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26742400-D880-D930-C4E9-801D58A3F682}"/>
              </a:ext>
            </a:extLst>
          </p:cNvPr>
          <p:cNvSpPr txBox="1"/>
          <p:nvPr/>
        </p:nvSpPr>
        <p:spPr>
          <a:xfrm>
            <a:off x="6341097" y="1021964"/>
            <a:ext cx="58509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GT" b="1" dirty="0"/>
              <a:t>REGISTRO EN CAMPO APLICACIÓN ANDROID PHYPHOX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6A74F242-D509-D5F9-D9F6-7A3D55DE15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5203" y="1538255"/>
            <a:ext cx="3042501" cy="5049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0638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C8D96D-2671-7940-1044-74674005B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6239" y="349023"/>
            <a:ext cx="4359522" cy="819901"/>
          </a:xfrm>
        </p:spPr>
        <p:txBody>
          <a:bodyPr/>
          <a:lstStyle/>
          <a:p>
            <a:r>
              <a:rPr lang="es-GT" dirty="0">
                <a:solidFill>
                  <a:srgbClr val="FF0000"/>
                </a:solidFill>
              </a:rPr>
              <a:t>CONCLUSIONES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ED10308-BE00-227F-2E42-A7E6AF6E5B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2680" y="1168924"/>
            <a:ext cx="10407191" cy="5222449"/>
          </a:xfrm>
        </p:spPr>
        <p:txBody>
          <a:bodyPr>
            <a:noAutofit/>
          </a:bodyPr>
          <a:lstStyle/>
          <a:p>
            <a:r>
              <a:rPr lang="es-MX" sz="2400" dirty="0"/>
              <a:t>•	Al realizar las pruebas en el modelo a escala se observó que el sistema genera el movimiento deseado, sin embargo, al tomar los datos necesarios en la aplicación </a:t>
            </a:r>
            <a:r>
              <a:rPr lang="es-MX" sz="2400" b="1" dirty="0"/>
              <a:t>PHYPHOX de ANDROID</a:t>
            </a:r>
            <a:r>
              <a:rPr lang="es-MX" sz="2400" dirty="0"/>
              <a:t>, para la realización de los cálculos hubieron ciertos errores de precisión </a:t>
            </a:r>
          </a:p>
          <a:p>
            <a:r>
              <a:rPr lang="es-MX" sz="2400" dirty="0"/>
              <a:t>•	Se llega a un resultado bastante aceptable durante la comparación de la resolución analítica y la práctica, pero el margen de error se halla presente ya que el problema analítico en su mayor parte es un elemento idealizado, el error porcentual obtenido al final es acertado. </a:t>
            </a:r>
          </a:p>
          <a:p>
            <a:r>
              <a:rPr lang="es-MX" sz="2400" dirty="0"/>
              <a:t>•	Para tener un mejor enfoque se desarrolla con éxito un sistema de simulación digital creado en </a:t>
            </a:r>
            <a:r>
              <a:rPr lang="es-MX" sz="2400" b="1" dirty="0"/>
              <a:t>GeoGebra</a:t>
            </a:r>
            <a:r>
              <a:rPr lang="es-MX" sz="2400" dirty="0"/>
              <a:t>, con este se observa más a detalle el comportamiento del sistema construido y nos arroja los resultados deseados. </a:t>
            </a:r>
            <a:endParaRPr lang="es-GT" sz="2400" dirty="0"/>
          </a:p>
        </p:txBody>
      </p:sp>
    </p:spTree>
    <p:extLst>
      <p:ext uri="{BB962C8B-B14F-4D97-AF65-F5344CB8AC3E}">
        <p14:creationId xmlns:p14="http://schemas.microsoft.com/office/powerpoint/2010/main" val="39937427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FB297A-1D67-D611-E9AF-687089E1E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GT" b="1" dirty="0"/>
              <a:t>ANEXOS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081506C-7329-8574-77A6-3FCE2EC7C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1166" y="1242537"/>
            <a:ext cx="6985262" cy="5238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994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ED41CD-DE52-31FB-9841-E83FA70C4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10524652" cy="1400530"/>
          </a:xfrm>
        </p:spPr>
        <p:txBody>
          <a:bodyPr/>
          <a:lstStyle/>
          <a:p>
            <a:r>
              <a:rPr lang="es-GT" dirty="0"/>
              <a:t>VIDEO DE LA SIMULACION EN LA APLICACIÓN PHYPHOX de ANDROID</a:t>
            </a:r>
          </a:p>
        </p:txBody>
      </p:sp>
      <p:pic>
        <p:nvPicPr>
          <p:cNvPr id="4" name="WhatsApp Video 2026-08-18 at 5.55.57 PM">
            <a:hlinkClick r:id="" action="ppaction://media"/>
            <a:extLst>
              <a:ext uri="{FF2B5EF4-FFF2-40B4-BE49-F238E27FC236}">
                <a16:creationId xmlns:a16="http://schemas.microsoft.com/office/drawing/2014/main" id="{8E296956-5B46-F97C-C4F9-500D8914DC1F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787882" y="1965215"/>
            <a:ext cx="2359025" cy="4195762"/>
          </a:xfrm>
        </p:spPr>
      </p:pic>
      <p:pic>
        <p:nvPicPr>
          <p:cNvPr id="3" name="fuerte">
            <a:hlinkClick r:id="" action="ppaction://media"/>
            <a:extLst>
              <a:ext uri="{FF2B5EF4-FFF2-40B4-BE49-F238E27FC236}">
                <a16:creationId xmlns:a16="http://schemas.microsoft.com/office/drawing/2014/main" id="{E0E9D2E7-3B62-50BA-0F9F-F702EF1B03A8}"/>
              </a:ext>
            </a:extLst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>
                  <p14:trim st="13786"/>
                </p14:media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6096000" y="1913375"/>
            <a:ext cx="2003244" cy="4299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15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519"/>
    </mc:Choice>
    <mc:Fallback xmlns="">
      <p:transition spd="slow" advTm="1451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519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25309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698</TotalTime>
  <Words>834</Words>
  <Application>Microsoft Office PowerPoint</Application>
  <PresentationFormat>Panorámica</PresentationFormat>
  <Paragraphs>37</Paragraphs>
  <Slides>18</Slides>
  <Notes>0</Notes>
  <HiddenSlides>0</HiddenSlides>
  <MMClips>3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2" baseType="lpstr">
      <vt:lpstr>Arial Black</vt:lpstr>
      <vt:lpstr>Century Gothic</vt:lpstr>
      <vt:lpstr>Wingdings 3</vt:lpstr>
      <vt:lpstr>Ion</vt:lpstr>
      <vt:lpstr>UNIVERSIDAD DE SAN CARLOS DE GUATEMALA. CENTRO UNIVERSITARIO DE OCCIDENTE. DEPARTAMENTO DE ESTUDIOS DE POSTGRADOS.  “MAESTRIA EN INGENIERIA ESTRUCTURAL Y SISMORRESISTENTE ”. CURSO: DINAMICA ESTRUCTURAL APLICADA AL DISEÑO SÍSMICO MSC. ING. CARLOS JULIÁN HERNÁNDEZ GARCÍA</vt:lpstr>
      <vt:lpstr>INTRODUCCIÓN  </vt:lpstr>
      <vt:lpstr>Sistemas de control de vibraciones </vt:lpstr>
      <vt:lpstr>Caso sismógrafo: Sismógrafos de masa suspendida (eje vertical):La masa inercial se sostiene de un punto superior para responder a temblores verticales, mientras dos resortes en la parte inferior la mantienen centrada y alineada con los sensores de medición.</vt:lpstr>
      <vt:lpstr>Caso de estudio: Sistema no amortiguado de un bloque sostenido por sistema de resortes.</vt:lpstr>
      <vt:lpstr>Descripción del sistema no amortiguado de un bloque </vt:lpstr>
      <vt:lpstr>Desarrollo del ejercicio </vt:lpstr>
      <vt:lpstr>Presentación de PowerPoint</vt:lpstr>
      <vt:lpstr>Presentación de PowerPoint</vt:lpstr>
      <vt:lpstr>Comparación de ambos resultados</vt:lpstr>
      <vt:lpstr>Grafica obtenida mediante la aplicación de Android </vt:lpstr>
      <vt:lpstr>Simulamos el bloque en GeoGebra </vt:lpstr>
      <vt:lpstr>Presentación de PowerPoint</vt:lpstr>
      <vt:lpstr>Presentación de PowerPoint</vt:lpstr>
      <vt:lpstr>REGISTRO DE VIBRACIÓNES DE LOS DOS METODOS </vt:lpstr>
      <vt:lpstr>CONCLUSIONES</vt:lpstr>
      <vt:lpstr>ANEXOS</vt:lpstr>
      <vt:lpstr>VIDEO DE LA SIMULACION EN LA APLICACIÓN PHYPHOX de ANDROID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mario alejandro  aguilon ralda</dc:creator>
  <cp:lastModifiedBy>Ivan Rivera</cp:lastModifiedBy>
  <cp:revision>2</cp:revision>
  <dcterms:created xsi:type="dcterms:W3CDTF">2026-08-18T20:40:18Z</dcterms:created>
  <dcterms:modified xsi:type="dcterms:W3CDTF">2026-08-19T13:04:29Z</dcterms:modified>
</cp:coreProperties>
</file>